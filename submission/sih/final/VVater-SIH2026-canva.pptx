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"/>
              </a:rPr>
              <a:t>Problem Statement ID - SIH26067</a:t>
            </a:r>
            <a:endParaRPr lang="en-US" dirty="0"/>
          </a:p>
          <a:p>
            <a:pPr marL="274320" indent="-274320"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"/>
              </a:rPr>
              <a:t>Problem Statement Title - Develop a web-based interactive 3D visualization platform that integrates numerical ocean model outputs and in-situ observations.</a:t>
            </a:r>
          </a:p>
          <a:p>
            <a:pPr marL="274320" indent="-274320"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"/>
              </a:rPr>
              <a:t>Theme - Disaster Management</a:t>
            </a:r>
          </a:p>
          <a:p>
            <a:pPr marL="274320" indent="-274320"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"/>
              </a:rPr>
              <a:t>PS Category - Software</a:t>
            </a:r>
          </a:p>
          <a:p>
            <a:pPr marL="274320" indent="-274320"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"/>
              </a:rPr>
              <a:t>Team ID - K26125</a:t>
            </a:r>
          </a:p>
          <a:p>
            <a:pPr marL="274320" indent="-274320"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"/>
              </a:rPr>
              <a:t>Team Name - Team Null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VVater: Ocean in 3D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34" y="252246"/>
            <a:ext cx="807334" cy="807334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335280" y="1246327"/>
            <a:ext cx="11867083" cy="409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35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Forecasters get the ocean model and the measurements in separate tools, as flat maps. </a:t>
            </a:r>
            <a:r>
              <a:rPr sz="13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VVater puts both in one 3D scene in the browser, and you can ask it questions or fly over it.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35280" y="1745025"/>
            <a:ext cx="3704539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335280" y="1975389"/>
            <a:ext cx="359664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335280" y="2022024"/>
            <a:ext cx="3704539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The ocean is 3D; the tools are flat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35280" y="2180034"/>
            <a:ext cx="3704539" cy="27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 cyclone feeds on a warm layer tens of metres thick. A surface map cannot show how thick.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335280" y="2500836"/>
            <a:ext cx="359664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335280" y="2547470"/>
            <a:ext cx="3704539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Model and measurements live apart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35280" y="2705481"/>
            <a:ext cx="3704539" cy="27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model in one program, float and glider files in another; comparing them is done by eye.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35280" y="3121197"/>
            <a:ext cx="3704539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335280" y="3351561"/>
            <a:ext cx="359664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335280" y="3398196"/>
            <a:ext cx="3704539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One link, no install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335280" y="3556206"/>
            <a:ext cx="3704539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any browser; deployable on INCOIS servers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335280" y="3738324"/>
            <a:ext cx="359664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335280" y="3784958"/>
            <a:ext cx="3704539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Model and measurements in one 3D scene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335280" y="3942969"/>
            <a:ext cx="3704539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INCOIS model with 35 Argo float profiles and 112 glider casts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335280" y="4125087"/>
            <a:ext cx="359664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335280" y="4171721"/>
            <a:ext cx="3704539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Click a float, see the gap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335280" y="4329731"/>
            <a:ext cx="3704539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its profile against the model, in °C and in cyclone heat potential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335280" y="4511849"/>
            <a:ext cx="359664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335280" y="4558484"/>
            <a:ext cx="3704539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Bad readings stay visible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335280" y="4716494"/>
            <a:ext cx="3704539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failed quality checks drawn red, never dropped</a:t>
            </a:r>
          </a:p>
        </p:txBody>
      </p:sp>
      <p:pic>
        <p:nvPicPr>
          <p:cNvPr id="15385" name="Picture 15384" descr="shot-simple.png"/>
          <p:cNvPicPr>
            <a:picLocks noChangeAspect="1"/>
          </p:cNvPicPr>
          <p:nvPr/>
        </p:nvPicPr>
        <p:blipFill>
          <a:blip r:embed="rId5"/>
          <a:srcRect l="5280" r="5280" t="0"/>
          <a:stretch>
            <a:fillRect/>
          </a:stretch>
        </p:blipFill>
        <p:spPr>
          <a:xfrm>
            <a:off x="335280" y="4971764"/>
            <a:ext cx="1170432" cy="736092"/>
          </a:xfrm>
          <a:prstGeom prst="rect">
            <a:avLst/>
          </a:prstGeom>
        </p:spPr>
      </p:pic>
      <p:sp>
        <p:nvSpPr>
          <p:cNvPr id="15386" name="Rectangle 15385"/>
          <p:cNvSpPr/>
          <p:nvPr/>
        </p:nvSpPr>
        <p:spPr>
          <a:xfrm>
            <a:off x="335280" y="4971764"/>
            <a:ext cx="117043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ectangle 15386"/>
          <p:cNvSpPr/>
          <p:nvPr/>
        </p:nvSpPr>
        <p:spPr>
          <a:xfrm>
            <a:off x="1499616" y="4971764"/>
            <a:ext cx="6096" cy="7360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ectangle 15387"/>
          <p:cNvSpPr/>
          <p:nvPr/>
        </p:nvSpPr>
        <p:spPr>
          <a:xfrm>
            <a:off x="335280" y="5701760"/>
            <a:ext cx="117043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ectangle 15388"/>
          <p:cNvSpPr/>
          <p:nvPr/>
        </p:nvSpPr>
        <p:spPr>
          <a:xfrm>
            <a:off x="335280" y="4971764"/>
            <a:ext cx="6096" cy="7360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TextBox 15389"/>
          <p:cNvSpPr txBox="1"/>
          <p:nvPr/>
        </p:nvSpPr>
        <p:spPr>
          <a:xfrm>
            <a:off x="335280" y="5882478"/>
            <a:ext cx="1192987" cy="1347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0"/>
              </a:lnSpc>
            </a:pPr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whole ocean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335280" y="5730106"/>
            <a:ext cx="1192987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Simple</a:t>
            </a:r>
          </a:p>
        </p:txBody>
      </p:sp>
      <p:pic>
        <p:nvPicPr>
          <p:cNvPr id="15392" name="Picture 15391" descr="shot-region.png"/>
          <p:cNvPicPr>
            <a:picLocks noChangeAspect="1"/>
          </p:cNvPicPr>
          <p:nvPr/>
        </p:nvPicPr>
        <p:blipFill>
          <a:blip r:embed="rId6"/>
          <a:srcRect l="6803" r="6803" t="0"/>
          <a:stretch>
            <a:fillRect/>
          </a:stretch>
        </p:blipFill>
        <p:spPr>
          <a:xfrm>
            <a:off x="1554480" y="4971764"/>
            <a:ext cx="1170432" cy="736092"/>
          </a:xfrm>
          <a:prstGeom prst="rect">
            <a:avLst/>
          </a:prstGeom>
        </p:spPr>
      </p:pic>
      <p:sp>
        <p:nvSpPr>
          <p:cNvPr id="15393" name="Rectangle 15392"/>
          <p:cNvSpPr/>
          <p:nvPr/>
        </p:nvSpPr>
        <p:spPr>
          <a:xfrm>
            <a:off x="1554480" y="4971764"/>
            <a:ext cx="117043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Rectangle 15393"/>
          <p:cNvSpPr/>
          <p:nvPr/>
        </p:nvSpPr>
        <p:spPr>
          <a:xfrm>
            <a:off x="2718816" y="4971764"/>
            <a:ext cx="6096" cy="7360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Rectangle 15394"/>
          <p:cNvSpPr/>
          <p:nvPr/>
        </p:nvSpPr>
        <p:spPr>
          <a:xfrm>
            <a:off x="1554480" y="5701760"/>
            <a:ext cx="117043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ectangle 15395"/>
          <p:cNvSpPr/>
          <p:nvPr/>
        </p:nvSpPr>
        <p:spPr>
          <a:xfrm>
            <a:off x="1554480" y="4971764"/>
            <a:ext cx="6096" cy="7360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1554480" y="5882478"/>
            <a:ext cx="1192987" cy="1347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0"/>
              </a:lnSpc>
            </a:pPr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water column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1554480" y="5730106"/>
            <a:ext cx="1192987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Region 3D</a:t>
            </a:r>
          </a:p>
        </p:txBody>
      </p:sp>
      <p:pic>
        <p:nvPicPr>
          <p:cNvPr id="15399" name="Picture 15398" descr="shot-map.png"/>
          <p:cNvPicPr>
            <a:picLocks noChangeAspect="1"/>
          </p:cNvPicPr>
          <p:nvPr/>
        </p:nvPicPr>
        <p:blipFill>
          <a:blip r:embed="rId7"/>
          <a:srcRect l="6803" r="6803" t="0"/>
          <a:stretch>
            <a:fillRect/>
          </a:stretch>
        </p:blipFill>
        <p:spPr>
          <a:xfrm>
            <a:off x="2773680" y="4971764"/>
            <a:ext cx="1170432" cy="736092"/>
          </a:xfrm>
          <a:prstGeom prst="rect">
            <a:avLst/>
          </a:prstGeom>
        </p:spPr>
      </p:pic>
      <p:sp>
        <p:nvSpPr>
          <p:cNvPr id="15400" name="Rectangle 15399"/>
          <p:cNvSpPr/>
          <p:nvPr/>
        </p:nvSpPr>
        <p:spPr>
          <a:xfrm>
            <a:off x="2773680" y="4971764"/>
            <a:ext cx="117043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Rectangle 15400"/>
          <p:cNvSpPr/>
          <p:nvPr/>
        </p:nvSpPr>
        <p:spPr>
          <a:xfrm>
            <a:off x="3938016" y="4971764"/>
            <a:ext cx="6096" cy="7360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Rectangle 15401"/>
          <p:cNvSpPr/>
          <p:nvPr/>
        </p:nvSpPr>
        <p:spPr>
          <a:xfrm>
            <a:off x="2773680" y="5701760"/>
            <a:ext cx="117043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Rectangle 15402"/>
          <p:cNvSpPr/>
          <p:nvPr/>
        </p:nvSpPr>
        <p:spPr>
          <a:xfrm>
            <a:off x="2773680" y="4971764"/>
            <a:ext cx="6096" cy="7360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TextBox 15403"/>
          <p:cNvSpPr txBox="1"/>
          <p:nvPr/>
        </p:nvSpPr>
        <p:spPr>
          <a:xfrm>
            <a:off x="2773680" y="5882478"/>
            <a:ext cx="1192987" cy="1347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0"/>
              </a:lnSpc>
            </a:pPr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any depth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2773680" y="5730106"/>
            <a:ext cx="1192987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Map 2D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4206240" y="1745025"/>
            <a:ext cx="7879994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WHAT IS NEW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4206240" y="1973134"/>
            <a:ext cx="2825496" cy="193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23"/>
              </a:lnSpc>
            </a:pPr>
            <a:r>
              <a:rPr sz="11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 · Ask the ocean in plain words</a:t>
            </a:r>
          </a:p>
        </p:txBody>
      </p:sp>
      <p:pic>
        <p:nvPicPr>
          <p:cNvPr id="15408" name="Picture 15407" descr="shot-assista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2211514"/>
            <a:ext cx="2755392" cy="2907411"/>
          </a:xfrm>
          <a:prstGeom prst="rect">
            <a:avLst/>
          </a:prstGeom>
        </p:spPr>
      </p:pic>
      <p:sp>
        <p:nvSpPr>
          <p:cNvPr id="15409" name="Rectangle 15408"/>
          <p:cNvSpPr/>
          <p:nvPr/>
        </p:nvSpPr>
        <p:spPr>
          <a:xfrm>
            <a:off x="4206240" y="2211514"/>
            <a:ext cx="275539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0" name="Rectangle 15409"/>
          <p:cNvSpPr/>
          <p:nvPr/>
        </p:nvSpPr>
        <p:spPr>
          <a:xfrm>
            <a:off x="6955536" y="2211514"/>
            <a:ext cx="6096" cy="2907411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Rectangle 15410"/>
          <p:cNvSpPr/>
          <p:nvPr/>
        </p:nvSpPr>
        <p:spPr>
          <a:xfrm>
            <a:off x="4206240" y="5112829"/>
            <a:ext cx="275539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2" name="Rectangle 15411"/>
          <p:cNvSpPr/>
          <p:nvPr/>
        </p:nvSpPr>
        <p:spPr>
          <a:xfrm>
            <a:off x="4206240" y="2211514"/>
            <a:ext cx="6096" cy="2907411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3" name="TextBox 15412"/>
          <p:cNvSpPr txBox="1"/>
          <p:nvPr/>
        </p:nvSpPr>
        <p:spPr>
          <a:xfrm>
            <a:off x="4206240" y="5146967"/>
            <a:ext cx="2825496" cy="5924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66"/>
              </a:lnSpc>
            </a:pPr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Answers from the data and drives the viewer.</a:t>
            </a: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 Here it opened the float, drew its profile and compared it with the model. Any number it cannot trace to the data is flagged.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7132320" y="1973134"/>
            <a:ext cx="4866132" cy="193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23"/>
              </a:lnSpc>
            </a:pPr>
            <a:r>
              <a:rPr sz="11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2 · Fly over the Bay like a plane</a:t>
            </a:r>
          </a:p>
        </p:txBody>
      </p:sp>
      <p:pic>
        <p:nvPicPr>
          <p:cNvPr id="15415" name="Picture 15414" descr="shot-fly.png"/>
          <p:cNvPicPr>
            <a:picLocks noChangeAspect="1"/>
          </p:cNvPicPr>
          <p:nvPr/>
        </p:nvPicPr>
        <p:blipFill>
          <a:blip r:embed="rId9"/>
          <a:srcRect l="1800" r="1800"/>
          <a:stretch>
            <a:fillRect/>
          </a:stretch>
        </p:blipFill>
        <p:spPr>
          <a:xfrm>
            <a:off x="7132320" y="2211514"/>
            <a:ext cx="4736592" cy="2669667"/>
          </a:xfrm>
          <a:prstGeom prst="rect">
            <a:avLst/>
          </a:prstGeom>
        </p:spPr>
      </p:pic>
      <p:sp>
        <p:nvSpPr>
          <p:cNvPr id="15416" name="Rectangle 15415"/>
          <p:cNvSpPr/>
          <p:nvPr/>
        </p:nvSpPr>
        <p:spPr>
          <a:xfrm>
            <a:off x="7132320" y="2211514"/>
            <a:ext cx="473659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7" name="Rectangle 15416"/>
          <p:cNvSpPr/>
          <p:nvPr/>
        </p:nvSpPr>
        <p:spPr>
          <a:xfrm>
            <a:off x="11862816" y="2211514"/>
            <a:ext cx="6096" cy="2669667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8" name="Rectangle 15417"/>
          <p:cNvSpPr/>
          <p:nvPr/>
        </p:nvSpPr>
        <p:spPr>
          <a:xfrm>
            <a:off x="7132320" y="4875085"/>
            <a:ext cx="473659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9" name="Rectangle 15418"/>
          <p:cNvSpPr/>
          <p:nvPr/>
        </p:nvSpPr>
        <p:spPr>
          <a:xfrm>
            <a:off x="7132320" y="2211514"/>
            <a:ext cx="6096" cy="2669667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0" name="TextBox 15419"/>
          <p:cNvSpPr txBox="1"/>
          <p:nvPr/>
        </p:nvSpPr>
        <p:spPr>
          <a:xfrm>
            <a:off x="7132320" y="4909223"/>
            <a:ext cx="4866132" cy="2962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66"/>
              </a:lnSpc>
            </a:pPr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A flight view with pilot controls</a:t>
            </a: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: speed, turn, altitude 8–250 km. The 3D water column, the currents and every float pass underneath at 40× depth.</a:t>
            </a:r>
          </a:p>
        </p:txBody>
      </p:sp>
      <p:sp>
        <p:nvSpPr>
          <p:cNvPr id="15421" name="Rectangle 15420"/>
          <p:cNvSpPr/>
          <p:nvPr/>
        </p:nvSpPr>
        <p:spPr>
          <a:xfrm>
            <a:off x="7132320" y="5262753"/>
            <a:ext cx="47244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2" name="TextBox 15421"/>
          <p:cNvSpPr txBox="1"/>
          <p:nvPr/>
        </p:nvSpPr>
        <p:spPr>
          <a:xfrm>
            <a:off x="7132320" y="5309387"/>
            <a:ext cx="4866132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7132320" y="5467397"/>
            <a:ext cx="4866132" cy="27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 2,000 m-deep ocean becomes something a student, a forecaster or a minister can see and move through, not a stack of flat maps</a:t>
            </a:r>
          </a:p>
        </p:txBody>
      </p:sp>
      <p:sp>
        <p:nvSpPr>
          <p:cNvPr id="15424" name="Rectangle 15423"/>
          <p:cNvSpPr/>
          <p:nvPr/>
        </p:nvSpPr>
        <p:spPr>
          <a:xfrm>
            <a:off x="7132320" y="5788199"/>
            <a:ext cx="47244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5" name="TextBox 15424"/>
          <p:cNvSpPr txBox="1"/>
          <p:nvPr/>
        </p:nvSpPr>
        <p:spPr>
          <a:xfrm>
            <a:off x="7132320" y="5834834"/>
            <a:ext cx="4866132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How to fly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7132320" y="5992844"/>
            <a:ext cx="4866132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W/S speed · A/D turn · R/F altitude · drag to steer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34" y="252246"/>
            <a:ext cx="807334" cy="80733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35280" y="1244010"/>
            <a:ext cx="5776569" cy="3701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FROM RAW FILES TO THE SCENE — AND WHAT HAPPENS TO BAD OR MISSING DATA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86613" y="1696021"/>
            <a:ext cx="2475971" cy="501089"/>
          </a:xfrm>
          <a:prstGeom prst="rect">
            <a:avLst/>
          </a:prstGeom>
          <a:solidFill>
            <a:srgbClr val="F1F4F8"/>
          </a:solidFill>
          <a:ln w="8842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486613" y="1696021"/>
            <a:ext cx="29475" cy="50108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75040" y="1736720"/>
            <a:ext cx="534685" cy="131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1  Fetch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75040" y="1887549"/>
            <a:ext cx="2007727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INCOIS analysis · Copernicus GLORYS12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71992" y="2011348"/>
            <a:ext cx="2010142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Argo floats · IOOS gliders · your CSV/TSV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1724599" y="2197110"/>
            <a:ext cx="0" cy="153275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ectangle 17418"/>
          <p:cNvSpPr/>
          <p:nvPr/>
        </p:nvSpPr>
        <p:spPr>
          <a:xfrm>
            <a:off x="486613" y="2350385"/>
            <a:ext cx="2475971" cy="501089"/>
          </a:xfrm>
          <a:prstGeom prst="rect">
            <a:avLst/>
          </a:prstGeom>
          <a:solidFill>
            <a:srgbClr val="F1F4F8"/>
          </a:solidFill>
          <a:ln w="8842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486613" y="2350385"/>
            <a:ext cx="29475" cy="50108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75040" y="2391084"/>
            <a:ext cx="1340643" cy="1310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2  Read and normalise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75040" y="2541913"/>
            <a:ext cx="2070754" cy="112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NetCDF (xarray) and text (by column name)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75040" y="2665712"/>
            <a:ext cx="2054399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odd units and axes fixed, every fix recorded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1724599" y="2851474"/>
            <a:ext cx="0" cy="117904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Diamond 17424"/>
          <p:cNvSpPr/>
          <p:nvPr/>
        </p:nvSpPr>
        <p:spPr>
          <a:xfrm>
            <a:off x="840323" y="2969378"/>
            <a:ext cx="1768551" cy="577726"/>
          </a:xfrm>
          <a:prstGeom prst="diamond">
            <a:avLst/>
          </a:prstGeom>
          <a:solidFill>
            <a:srgbClr val="FFF8E6"/>
          </a:solidFill>
          <a:ln w="8842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1333312" y="3131229"/>
            <a:ext cx="782574" cy="118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Level passes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365935" y="3260923"/>
            <a:ext cx="717327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its QC flag?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2608874" y="3258241"/>
            <a:ext cx="766372" cy="0"/>
          </a:xfrm>
          <a:prstGeom prst="line">
            <a:avLst/>
          </a:prstGeom>
          <a:ln w="10316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2697302" y="3122587"/>
            <a:ext cx="244363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3375247" y="3028329"/>
            <a:ext cx="2063309" cy="459823"/>
          </a:xfrm>
          <a:prstGeom prst="rect">
            <a:avLst/>
          </a:prstGeom>
          <a:solidFill>
            <a:srgbClr val="FDEDEC"/>
          </a:solidFill>
          <a:ln w="8842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3375247" y="3028329"/>
            <a:ext cx="29475" cy="459823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3463674" y="3069029"/>
            <a:ext cx="1347311" cy="131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Drawn red as rejected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463674" y="3219858"/>
            <a:ext cx="1904143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kept on the chart, never silently dropped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1724599" y="3547104"/>
            <a:ext cx="0" cy="153275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TextBox 17434"/>
          <p:cNvSpPr txBox="1"/>
          <p:nvPr/>
        </p:nvSpPr>
        <p:spPr>
          <a:xfrm>
            <a:off x="1768712" y="3567673"/>
            <a:ext cx="292131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486613" y="3700379"/>
            <a:ext cx="2475971" cy="501089"/>
          </a:xfrm>
          <a:prstGeom prst="rect">
            <a:avLst/>
          </a:prstGeom>
          <a:solidFill>
            <a:srgbClr val="F1F4F8"/>
          </a:solidFill>
          <a:ln w="8842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486613" y="3700379"/>
            <a:ext cx="29475" cy="50108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575040" y="3741078"/>
            <a:ext cx="1087840" cy="131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3  Regrid and pair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75040" y="3891907"/>
            <a:ext cx="1663922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depth levels ≤ what the source has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575040" y="4015706"/>
            <a:ext cx="1836420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each cast vs nearest analysis, ±5 days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1724599" y="4201468"/>
            <a:ext cx="0" cy="117904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Diamond 17441"/>
          <p:cNvSpPr/>
          <p:nvPr/>
        </p:nvSpPr>
        <p:spPr>
          <a:xfrm>
            <a:off x="840323" y="4319372"/>
            <a:ext cx="1768551" cy="577726"/>
          </a:xfrm>
          <a:prstGeom prst="diamond">
            <a:avLst/>
          </a:prstGeom>
          <a:solidFill>
            <a:srgbClr val="FFF8E6"/>
          </a:solidFill>
          <a:ln w="8842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1300951" y="4481223"/>
            <a:ext cx="847296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Grid cell has a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286234" y="4610917"/>
            <a:ext cx="876728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measurement?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2608874" y="4608235"/>
            <a:ext cx="766372" cy="0"/>
          </a:xfrm>
          <a:prstGeom prst="line">
            <a:avLst/>
          </a:prstGeom>
          <a:ln w="10316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TextBox 17445"/>
          <p:cNvSpPr txBox="1"/>
          <p:nvPr/>
        </p:nvSpPr>
        <p:spPr>
          <a:xfrm>
            <a:off x="2697302" y="4472582"/>
            <a:ext cx="244363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9770E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3375247" y="4378324"/>
            <a:ext cx="2063309" cy="459823"/>
          </a:xfrm>
          <a:prstGeom prst="rect">
            <a:avLst/>
          </a:prstGeom>
          <a:solidFill>
            <a:srgbClr val="FEF5E7"/>
          </a:solidFill>
          <a:ln w="8842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ectangle 17447"/>
          <p:cNvSpPr/>
          <p:nvPr/>
        </p:nvSpPr>
        <p:spPr>
          <a:xfrm>
            <a:off x="3375247" y="4378324"/>
            <a:ext cx="29475" cy="459823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3463674" y="4419023"/>
            <a:ext cx="1469183" cy="131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Left empty, not guessed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3463674" y="4569852"/>
            <a:ext cx="1670161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95% of the volume, shown as such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1724599" y="4897098"/>
            <a:ext cx="0" cy="129694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TextBox 17451"/>
          <p:cNvSpPr txBox="1"/>
          <p:nvPr/>
        </p:nvSpPr>
        <p:spPr>
          <a:xfrm>
            <a:off x="1768712" y="4899981"/>
            <a:ext cx="292131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486613" y="5026792"/>
            <a:ext cx="2475971" cy="353710"/>
          </a:xfrm>
          <a:prstGeom prst="rect">
            <a:avLst/>
          </a:prstGeom>
          <a:solidFill>
            <a:srgbClr val="F1F4F8"/>
          </a:solidFill>
          <a:ln w="8842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ectangle 17453"/>
          <p:cNvSpPr/>
          <p:nvPr/>
        </p:nvSpPr>
        <p:spPr>
          <a:xfrm>
            <a:off x="486613" y="5026792"/>
            <a:ext cx="29475" cy="35371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575040" y="5067491"/>
            <a:ext cx="1809035" cy="131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4  Compare: observed − model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75040" y="5218320"/>
            <a:ext cx="1881806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residual per cell · cyclone heat potential</a:t>
            </a:r>
          </a:p>
        </p:txBody>
      </p:sp>
      <p:sp>
        <p:nvSpPr>
          <p:cNvPr id="17457" name="Diamond 17456"/>
          <p:cNvSpPr/>
          <p:nvPr/>
        </p:nvSpPr>
        <p:spPr>
          <a:xfrm>
            <a:off x="3375247" y="1849295"/>
            <a:ext cx="1296937" cy="577726"/>
          </a:xfrm>
          <a:prstGeom prst="diamond">
            <a:avLst/>
          </a:prstGeom>
          <a:solidFill>
            <a:srgbClr val="FFF8E6"/>
          </a:solidFill>
          <a:ln w="8842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3594114" y="2011147"/>
            <a:ext cx="859202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Source carries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576588" y="2140841"/>
            <a:ext cx="894254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currents (u, v)?</a:t>
            </a:r>
          </a:p>
        </p:txBody>
      </p:sp>
      <p:cxnSp>
        <p:nvCxnSpPr>
          <p:cNvPr id="17460" name="Connector 17459"/>
          <p:cNvCxnSpPr/>
          <p:nvPr/>
        </p:nvCxnSpPr>
        <p:spPr>
          <a:xfrm>
            <a:off x="2962584" y="1946566"/>
            <a:ext cx="442138" cy="0"/>
          </a:xfrm>
          <a:prstGeom prst="line">
            <a:avLst/>
          </a:prstGeom>
          <a:ln w="10316">
            <a:solidFill>
              <a:srgbClr val="4F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1" name="Connector 17460"/>
          <p:cNvCxnSpPr/>
          <p:nvPr/>
        </p:nvCxnSpPr>
        <p:spPr>
          <a:xfrm>
            <a:off x="3404722" y="1946566"/>
            <a:ext cx="0" cy="191593"/>
          </a:xfrm>
          <a:prstGeom prst="line">
            <a:avLst/>
          </a:prstGeom>
          <a:ln w="10316">
            <a:solidFill>
              <a:srgbClr val="4F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>
            <a:off x="3404722" y="2138159"/>
            <a:ext cx="0" cy="0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3" name="Connector 17462"/>
          <p:cNvCxnSpPr/>
          <p:nvPr/>
        </p:nvCxnSpPr>
        <p:spPr>
          <a:xfrm>
            <a:off x="4672184" y="2138159"/>
            <a:ext cx="117903" cy="0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TextBox 17463"/>
          <p:cNvSpPr txBox="1"/>
          <p:nvPr/>
        </p:nvSpPr>
        <p:spPr>
          <a:xfrm>
            <a:off x="4633765" y="1934711"/>
            <a:ext cx="292131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4790087" y="1872876"/>
            <a:ext cx="1031654" cy="530565"/>
          </a:xfrm>
          <a:prstGeom prst="rect">
            <a:avLst/>
          </a:prstGeom>
          <a:solidFill>
            <a:srgbClr val="EAF2FB"/>
          </a:solidFill>
          <a:ln w="8842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Rectangle 17465"/>
          <p:cNvSpPr/>
          <p:nvPr/>
        </p:nvSpPr>
        <p:spPr>
          <a:xfrm>
            <a:off x="4790087" y="1872876"/>
            <a:ext cx="29475" cy="53056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4878515" y="1913575"/>
            <a:ext cx="790336" cy="131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Streamlines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4878515" y="2064404"/>
            <a:ext cx="951737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RK2 on the server,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4878515" y="2188203"/>
            <a:ext cx="879395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at the slice depth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4023715" y="2427022"/>
            <a:ext cx="0" cy="153275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TextBox 17470"/>
          <p:cNvSpPr txBox="1"/>
          <p:nvPr/>
        </p:nvSpPr>
        <p:spPr>
          <a:xfrm>
            <a:off x="4070876" y="2444643"/>
            <a:ext cx="244363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3375247" y="2580297"/>
            <a:ext cx="1532744" cy="365500"/>
          </a:xfrm>
          <a:prstGeom prst="rect">
            <a:avLst/>
          </a:prstGeom>
          <a:solidFill>
            <a:srgbClr val="F1F4F8"/>
          </a:solidFill>
          <a:ln w="8842">
            <a:solidFill>
              <a:srgbClr val="A9B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Rectangle 17472"/>
          <p:cNvSpPr/>
          <p:nvPr/>
        </p:nvSpPr>
        <p:spPr>
          <a:xfrm>
            <a:off x="3375247" y="2580297"/>
            <a:ext cx="29475" cy="365500"/>
          </a:xfrm>
          <a:prstGeom prst="rect">
            <a:avLst/>
          </a:prstGeom>
          <a:solidFill>
            <a:srgbClr val="A9B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3463674" y="2620996"/>
            <a:ext cx="1099566" cy="1310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Control says why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3463674" y="2771825"/>
            <a:ext cx="986733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INCOIS has no u, v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427661" y="5498406"/>
            <a:ext cx="5423556" cy="383185"/>
          </a:xfrm>
          <a:prstGeom prst="rect">
            <a:avLst/>
          </a:prstGeom>
          <a:solidFill>
            <a:srgbClr val="1F4E79"/>
          </a:solidFill>
          <a:ln w="8842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Rectangle 17476"/>
          <p:cNvSpPr/>
          <p:nvPr/>
        </p:nvSpPr>
        <p:spPr>
          <a:xfrm>
            <a:off x="427661" y="5498406"/>
            <a:ext cx="29475" cy="38318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TextBox 17477"/>
          <p:cNvSpPr txBox="1"/>
          <p:nvPr/>
        </p:nvSpPr>
        <p:spPr>
          <a:xfrm>
            <a:off x="516089" y="5539105"/>
            <a:ext cx="1982628" cy="131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FastAPI  →  browser (CesiumJS)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516089" y="5701724"/>
            <a:ext cx="4771215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FE3F5"/>
                </a:solidFill>
                <a:latin typeface="Arial"/>
                <a:ea typeface="Arial"/>
                <a:cs typeface="Arial"/>
              </a:rPr>
              <a:t>volumes as float32 · WMS · CSV upload · assistant  →  Simple globe · Region 3D · Map 2D · Fly · profiles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1724599" y="5380502"/>
            <a:ext cx="0" cy="117904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1" name="Connector 17480"/>
          <p:cNvCxnSpPr/>
          <p:nvPr/>
        </p:nvCxnSpPr>
        <p:spPr>
          <a:xfrm>
            <a:off x="5674363" y="2403441"/>
            <a:ext cx="0" cy="3094965"/>
          </a:xfrm>
          <a:prstGeom prst="line">
            <a:avLst/>
          </a:prstGeom>
          <a:ln w="10316">
            <a:solidFill>
              <a:srgbClr val="4F5B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2" name="TextBox 17481"/>
          <p:cNvSpPr txBox="1"/>
          <p:nvPr/>
        </p:nvSpPr>
        <p:spPr>
          <a:xfrm>
            <a:off x="335280" y="5959803"/>
            <a:ext cx="5776569" cy="302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Diamonds are decisions the code makes. The red and amber branches are where most tools quietly drop a bad reading or paint over a gap; here both stay on screen, labelled.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217920" y="1244010"/>
            <a:ext cx="5807964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WHAT WE USED, AND WHY</a:t>
            </a:r>
          </a:p>
        </p:txBody>
      </p:sp>
      <p:sp>
        <p:nvSpPr>
          <p:cNvPr id="17484" name="Rectangle 17483"/>
          <p:cNvSpPr/>
          <p:nvPr/>
        </p:nvSpPr>
        <p:spPr>
          <a:xfrm>
            <a:off x="6217920" y="1498758"/>
            <a:ext cx="56388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6217920" y="1569472"/>
            <a:ext cx="5807964" cy="166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10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CesiumJS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6217920" y="1742274"/>
            <a:ext cx="5807964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 real 3D globe with a built-in volume renderer</a:t>
            </a:r>
          </a:p>
        </p:txBody>
      </p:sp>
      <p:sp>
        <p:nvSpPr>
          <p:cNvPr id="17487" name="Rectangle 17486"/>
          <p:cNvSpPr/>
          <p:nvPr/>
        </p:nvSpPr>
        <p:spPr>
          <a:xfrm>
            <a:off x="6217920" y="1962007"/>
            <a:ext cx="56388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8" name="TextBox 17487"/>
          <p:cNvSpPr txBox="1"/>
          <p:nvPr/>
        </p:nvSpPr>
        <p:spPr>
          <a:xfrm>
            <a:off x="6217920" y="2032720"/>
            <a:ext cx="5807964" cy="166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10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TypeScript + Vite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6217920" y="2205523"/>
            <a:ext cx="5807964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viewer; no heavy UI framework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6217920" y="2425255"/>
            <a:ext cx="56388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6217920" y="2495969"/>
            <a:ext cx="5807964" cy="166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10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Python: FastAPI + xarray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6217920" y="2668771"/>
            <a:ext cx="5807964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reads the NetCDF and text files the brief names</a:t>
            </a:r>
          </a:p>
        </p:txBody>
      </p:sp>
      <p:sp>
        <p:nvSpPr>
          <p:cNvPr id="17493" name="Rectangle 17492"/>
          <p:cNvSpPr/>
          <p:nvPr/>
        </p:nvSpPr>
        <p:spPr>
          <a:xfrm>
            <a:off x="6217920" y="2888503"/>
            <a:ext cx="56388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4" name="TextBox 17493"/>
          <p:cNvSpPr txBox="1"/>
          <p:nvPr/>
        </p:nvSpPr>
        <p:spPr>
          <a:xfrm>
            <a:off x="6217920" y="2959217"/>
            <a:ext cx="5807964" cy="166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10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Raw float32 volumes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6217920" y="3132020"/>
            <a:ext cx="5807964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one full 3D timestep is 0.55 MB, straight to the GPU</a:t>
            </a:r>
          </a:p>
        </p:txBody>
      </p:sp>
      <p:sp>
        <p:nvSpPr>
          <p:cNvPr id="17496" name="Rectangle 17495"/>
          <p:cNvSpPr/>
          <p:nvPr/>
        </p:nvSpPr>
        <p:spPr>
          <a:xfrm>
            <a:off x="6217920" y="3351752"/>
            <a:ext cx="56388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7" name="TextBox 17496"/>
          <p:cNvSpPr txBox="1"/>
          <p:nvPr/>
        </p:nvSpPr>
        <p:spPr>
          <a:xfrm>
            <a:off x="6217920" y="3422465"/>
            <a:ext cx="5807964" cy="166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10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OGC WMS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6217920" y="3595268"/>
            <a:ext cx="5807964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same layers open in QGIS or any national portal</a:t>
            </a:r>
          </a:p>
        </p:txBody>
      </p:sp>
      <p:sp>
        <p:nvSpPr>
          <p:cNvPr id="17499" name="Rectangle 17498"/>
          <p:cNvSpPr/>
          <p:nvPr/>
        </p:nvSpPr>
        <p:spPr>
          <a:xfrm>
            <a:off x="6217920" y="3815000"/>
            <a:ext cx="563880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0" name="TextBox 17499"/>
          <p:cNvSpPr txBox="1"/>
          <p:nvPr/>
        </p:nvSpPr>
        <p:spPr>
          <a:xfrm>
            <a:off x="6217920" y="3885714"/>
            <a:ext cx="5807964" cy="166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10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Groq LLM + our own tools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6217920" y="4058516"/>
            <a:ext cx="5807964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assistant can only answer through our data API</a:t>
            </a:r>
          </a:p>
        </p:txBody>
      </p:sp>
      <p:pic>
        <p:nvPicPr>
          <p:cNvPr id="17502" name="Picture 17501" descr="shot-resid.png"/>
          <p:cNvPicPr>
            <a:picLocks noChangeAspect="1"/>
          </p:cNvPicPr>
          <p:nvPr/>
        </p:nvPicPr>
        <p:blipFill>
          <a:blip r:embed="rId5"/>
          <a:srcRect t="22485" b="27482"/>
          <a:stretch>
            <a:fillRect/>
          </a:stretch>
        </p:blipFill>
        <p:spPr>
          <a:xfrm>
            <a:off x="6217920" y="4375785"/>
            <a:ext cx="5650992" cy="1536192"/>
          </a:xfrm>
          <a:prstGeom prst="rect">
            <a:avLst/>
          </a:prstGeom>
        </p:spPr>
      </p:pic>
      <p:sp>
        <p:nvSpPr>
          <p:cNvPr id="17503" name="Rectangle 17502"/>
          <p:cNvSpPr/>
          <p:nvPr/>
        </p:nvSpPr>
        <p:spPr>
          <a:xfrm>
            <a:off x="6217920" y="4375785"/>
            <a:ext cx="565099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4" name="Rectangle 17503"/>
          <p:cNvSpPr/>
          <p:nvPr/>
        </p:nvSpPr>
        <p:spPr>
          <a:xfrm>
            <a:off x="11862816" y="4375785"/>
            <a:ext cx="6096" cy="15361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5" name="Rectangle 17504"/>
          <p:cNvSpPr/>
          <p:nvPr/>
        </p:nvSpPr>
        <p:spPr>
          <a:xfrm>
            <a:off x="6217920" y="5905881"/>
            <a:ext cx="5650992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6" name="Rectangle 17505"/>
          <p:cNvSpPr/>
          <p:nvPr/>
        </p:nvSpPr>
        <p:spPr>
          <a:xfrm>
            <a:off x="6217920" y="4375785"/>
            <a:ext cx="6096" cy="1536192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7" name="TextBox 17506"/>
          <p:cNvSpPr txBox="1"/>
          <p:nvPr/>
        </p:nvSpPr>
        <p:spPr>
          <a:xfrm>
            <a:off x="6217920" y="5939561"/>
            <a:ext cx="5807964" cy="2797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1"/>
              </a:lnSpc>
            </a:pPr>
            <a:r>
              <a:rPr sz="8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Step 4 on screen:</a:t>
            </a:r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 each block is a place someone measured, coloured by measured minus model (red warmer, blue colder). Unmeasured water stays empty.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34" y="252246"/>
            <a:ext cx="807334" cy="807334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335280" y="1246632"/>
            <a:ext cx="371856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35280" y="1299972"/>
            <a:ext cx="3830116" cy="26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11"/>
              </a:lnSpc>
            </a:pPr>
            <a:r>
              <a:rPr sz="21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35 + 112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35280" y="1593342"/>
            <a:ext cx="3830116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Argo float profiles and glider casts, paired with the model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236720" y="1246632"/>
            <a:ext cx="371856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236720" y="1299972"/>
            <a:ext cx="3830116" cy="26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11"/>
              </a:lnSpc>
            </a:pPr>
            <a:r>
              <a:rPr sz="21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0.55 MB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236720" y="1593342"/>
            <a:ext cx="3830116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one full 3D timestep, as sent to the browser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8138160" y="1246632"/>
            <a:ext cx="371856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138160" y="1299972"/>
            <a:ext cx="3830116" cy="26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11"/>
              </a:lnSpc>
            </a:pPr>
            <a:r>
              <a:rPr sz="21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0.45 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138160" y="1593342"/>
            <a:ext cx="3830116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to compare 127 casts with the model and build the 3D error layer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35280" y="1821606"/>
            <a:ext cx="6278880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MEASURED FINDING: MODEL ERROR BY DEPTH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672740" y="5507163"/>
            <a:ext cx="5689154" cy="0"/>
          </a:xfrm>
          <a:prstGeom prst="line">
            <a:avLst/>
          </a:prstGeom>
          <a:ln w="5957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446822" y="5451466"/>
            <a:ext cx="178260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A859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672740" y="4382768"/>
            <a:ext cx="5689154" cy="0"/>
          </a:xfrm>
          <a:prstGeom prst="line">
            <a:avLst/>
          </a:prstGeom>
          <a:ln w="5957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TextBox 17424"/>
          <p:cNvSpPr txBox="1"/>
          <p:nvPr/>
        </p:nvSpPr>
        <p:spPr>
          <a:xfrm>
            <a:off x="446822" y="4327072"/>
            <a:ext cx="178260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A859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672740" y="3258374"/>
            <a:ext cx="5689154" cy="0"/>
          </a:xfrm>
          <a:prstGeom prst="line">
            <a:avLst/>
          </a:prstGeom>
          <a:ln w="5957">
            <a:solidFill>
              <a:srgbClr val="D5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446822" y="3202677"/>
            <a:ext cx="178260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A859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936844" y="4094811"/>
            <a:ext cx="603665" cy="1412352"/>
          </a:xfrm>
          <a:prstGeom prst="rect">
            <a:avLst/>
          </a:prstGeom>
          <a:solidFill>
            <a:srgbClr val="A9B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1067560" y="3955435"/>
            <a:ext cx="342233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1.26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1576253" y="2260473"/>
            <a:ext cx="603665" cy="324669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1706970" y="2121098"/>
            <a:ext cx="342233" cy="128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2.89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300730" y="5558558"/>
            <a:ext cx="515302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0-300 m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2823300" y="5109802"/>
            <a:ext cx="603665" cy="397361"/>
          </a:xfrm>
          <a:prstGeom prst="rect">
            <a:avLst/>
          </a:prstGeom>
          <a:solidFill>
            <a:srgbClr val="A9B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2954016" y="4970427"/>
            <a:ext cx="342233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0.35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462709" y="5161299"/>
            <a:ext cx="603665" cy="34586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3593426" y="5021924"/>
            <a:ext cx="342232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0.31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127560" y="5558558"/>
            <a:ext cx="634555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300-950 m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4709756" y="5293865"/>
            <a:ext cx="603665" cy="213297"/>
          </a:xfrm>
          <a:prstGeom prst="rect">
            <a:avLst/>
          </a:prstGeom>
          <a:solidFill>
            <a:srgbClr val="A9B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4840472" y="5154490"/>
            <a:ext cx="342232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0.19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5349165" y="5246416"/>
            <a:ext cx="603665" cy="260747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5479882" y="5107040"/>
            <a:ext cx="342232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0.23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984179" y="5558558"/>
            <a:ext cx="694229" cy="118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950-2000 m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389529" y="2049889"/>
            <a:ext cx="235553" cy="112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A8594"/>
                </a:solidFill>
                <a:latin typeface="Arial"/>
                <a:ea typeface="Arial"/>
                <a:cs typeface="Arial"/>
              </a:rPr>
              <a:t>°C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99871" y="5770530"/>
            <a:ext cx="1775126" cy="115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Argo (the model already used them)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2372534" y="5770530"/>
            <a:ext cx="1066704" cy="115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Glider (independent)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335280" y="5796295"/>
            <a:ext cx="109728" cy="67056"/>
          </a:xfrm>
          <a:prstGeom prst="rect">
            <a:avLst/>
          </a:prstGeom>
          <a:solidFill>
            <a:srgbClr val="A9B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2207942" y="5796295"/>
            <a:ext cx="109728" cy="670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335280" y="5943310"/>
            <a:ext cx="6278880" cy="3196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58"/>
              </a:lnSpc>
            </a:pP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Below 300 m the model and the instruments agree. In the top 300 m — the warm layer a cyclone feeds on — the independent glider finds an error of </a:t>
            </a:r>
            <a:r>
              <a:rPr sz="9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2.89 °C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. VVater makes that gap visible.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766560" y="1821606"/>
            <a:ext cx="5242864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RISKS WE HIT, AND WHAT WE DID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6766560" y="2225087"/>
            <a:ext cx="1783175" cy="91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766560" y="2049989"/>
            <a:ext cx="1786439" cy="1472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8549735" y="2225087"/>
            <a:ext cx="3306984" cy="91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8549735" y="2049989"/>
            <a:ext cx="3355963" cy="1472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HANDLED BY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6766560" y="2744152"/>
            <a:ext cx="1783175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6766560" y="2330243"/>
            <a:ext cx="1786439" cy="158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Brief's data links are dead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549735" y="2744152"/>
            <a:ext cx="3306984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549735" y="2330243"/>
            <a:ext cx="3355963" cy="3255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Both are </a:t>
            </a:r>
            <a:r>
              <a:rPr sz="850" b="0" i="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ftp://</a:t>
            </a:r>
            <a:r>
              <a:rPr sz="9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 and blocked; replaced with tested HTTPS mirrors.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6766560" y="3091624"/>
            <a:ext cx="1783175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6766560" y="2844736"/>
            <a:ext cx="1786439" cy="158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Bad float readings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8549735" y="3091624"/>
            <a:ext cx="3306984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8549735" y="2844736"/>
            <a:ext cx="3355963" cy="158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510 of 11,525 levels fail QC; drawn red, never dropped.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6766560" y="3597592"/>
            <a:ext cx="1783175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6766560" y="3192208"/>
            <a:ext cx="1786439" cy="158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Files not quite standard</a:t>
            </a:r>
          </a:p>
        </p:txBody>
      </p:sp>
      <p:sp>
        <p:nvSpPr>
          <p:cNvPr id="17464" name="Rectangle 17463"/>
          <p:cNvSpPr/>
          <p:nvPr/>
        </p:nvSpPr>
        <p:spPr>
          <a:xfrm>
            <a:off x="8549735" y="3597592"/>
            <a:ext cx="3306984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8549735" y="3192208"/>
            <a:ext cx="3355963" cy="316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Odd units and axes read defensively; every fix recorded with the data.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6766560" y="4103560"/>
            <a:ext cx="1783175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6766560" y="3698176"/>
            <a:ext cx="1786439" cy="158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Unknown GPUs at INCOIS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8549735" y="4103560"/>
            <a:ext cx="3306984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8549735" y="3698176"/>
            <a:ext cx="3355963" cy="316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Four quality tiers, picked by measuring real frames at start-up.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6766560" y="4609528"/>
            <a:ext cx="1783175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6766560" y="4204144"/>
            <a:ext cx="1786439" cy="158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Copernicus needs an account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8549735" y="4609528"/>
            <a:ext cx="3306984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8549735" y="4204144"/>
            <a:ext cx="3355963" cy="316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48"/>
              </a:lnSpc>
            </a:pPr>
            <a:r>
              <a:rPr sz="9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INCOIS data needs none and is the default; Copernicus only adds currents.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6766560" y="4704016"/>
            <a:ext cx="5090160" cy="53311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Rectangle 17474"/>
          <p:cNvSpPr/>
          <p:nvPr/>
        </p:nvSpPr>
        <p:spPr>
          <a:xfrm>
            <a:off x="6766560" y="4704016"/>
            <a:ext cx="5090160" cy="243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TextBox 17475"/>
          <p:cNvSpPr txBox="1"/>
          <p:nvPr/>
        </p:nvSpPr>
        <p:spPr>
          <a:xfrm>
            <a:off x="6858000" y="4806185"/>
            <a:ext cx="5054498" cy="176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91"/>
              </a:lnSpc>
            </a:pPr>
            <a:r>
              <a:rPr sz="10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Runs on what INCOIS has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6858000" y="5005686"/>
            <a:ext cx="5054498" cy="1492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5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One Python process and static files. Any modern browser, no install, no account.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34" y="252246"/>
            <a:ext cx="807334" cy="80733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35280" y="1244010"/>
            <a:ext cx="3746725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FOR THE CYCLONE FORECASTER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35280" y="1510950"/>
            <a:ext cx="3637597" cy="94749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335280" y="1510950"/>
            <a:ext cx="3637597" cy="243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26720" y="1613058"/>
            <a:ext cx="35583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04"/>
              </a:lnSpc>
            </a:pPr>
            <a:r>
              <a:rPr sz="23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+16.0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6720" y="1928587"/>
            <a:ext cx="3558359" cy="447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5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kJ/cm² — model minus measured </a:t>
            </a:r>
            <a:r>
              <a:rPr sz="850" b="1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cyclone heat potential</a:t>
            </a: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 along the independent glider track (95 casts, one deployment; measured mean 9.5). Against Argo, which the model already absorbs: −3.5.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35280" y="2537698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35280" y="2584332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Fuel, in the unit already used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35280" y="2742342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heat above 26 °C, per float and per glider cast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35280" y="2924460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35280" y="2971095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20 °C isotherm in one click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35280" y="3129105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standard proxy for how deep the warm layer goes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335280" y="3311223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35280" y="3357857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Model and truth side by side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35280" y="3515868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no second program, no copying numbers between tools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35280" y="3697986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35280" y="3744620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Confidence visible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35280" y="3902630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uncertain water drawn faint; unmeasured water drawn empty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35280" y="4179663"/>
            <a:ext cx="3746725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FOR INCOIS OPERATIONS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335280" y="4446603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335280" y="4493237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Search and rescue, fisheries, climate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35280" y="4651247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currents and temperature at any depth, in the same view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335280" y="4833366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335280" y="4880000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New instruments without re-engineering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35280" y="5038010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drop a CSV of casts on the globe; it is paired with the model at once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335280" y="5220128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335280" y="5266763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Open standards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35280" y="5424773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WMS layers open in QGIS and national portals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186237" y="1244010"/>
            <a:ext cx="3746725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FOR STUDENTS, PUBLIC AND POLICY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186237" y="1510950"/>
            <a:ext cx="3637597" cy="94749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ectangle 17440"/>
          <p:cNvSpPr/>
          <p:nvPr/>
        </p:nvSpPr>
        <p:spPr>
          <a:xfrm>
            <a:off x="4186237" y="1510950"/>
            <a:ext cx="3637597" cy="24384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4277677" y="1613058"/>
            <a:ext cx="355835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04"/>
              </a:lnSpc>
            </a:pPr>
            <a:r>
              <a:rPr sz="23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4.86%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277677" y="1928587"/>
            <a:ext cx="3558359" cy="447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5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of the Bay's water column had a measurement in this window. Shown honestly, that is itself the case for more floats — a sentence a policymaker can repeat.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4186237" y="2537698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4186237" y="2584332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True scale in one click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186237" y="2742342"/>
            <a:ext cx="3746725" cy="27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Bay really is a film of water: 2 km deep, 2,400 km wide. Then 40×, to read it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4186237" y="3063144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4186237" y="3109779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From planet to profile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186237" y="3267789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 simple globe, then the Bay in 3D, then fly over it, then one float's dive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4186237" y="3449907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4186237" y="3496541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Runs in a school's browser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186237" y="3654552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exhibitions, e-learning and outreach, as the brief asks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4186237" y="3836669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4186237" y="3883304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Ask it in plain words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186237" y="4041314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 built-in assistant answers from the data and moves the view for you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186237" y="4318347"/>
            <a:ext cx="3746725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WHERE IT GOES NEXT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4186237" y="4585287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4186237" y="4631921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More regions and years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186237" y="4789932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region and window are configuration, not code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4186237" y="4972050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4186237" y="5018684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More sensors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4186237" y="5176694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CTD, moorings, HF radar, ADCP: each one parser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4186237" y="5358812"/>
            <a:ext cx="3637597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4186237" y="5405447"/>
            <a:ext cx="3746725" cy="150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85"/>
              </a:lnSpc>
            </a:pPr>
            <a:r>
              <a:rPr sz="9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Machine-learning products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186237" y="5563457"/>
            <a:ext cx="3746725" cy="138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92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any gridded output renders as another volume</a:t>
            </a:r>
          </a:p>
        </p:txBody>
      </p:sp>
      <p:pic>
        <p:nvPicPr>
          <p:cNvPr id="17466" name="Picture 17465" descr="shot-res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195" y="1246632"/>
            <a:ext cx="3831717" cy="2087451"/>
          </a:xfrm>
          <a:prstGeom prst="rect">
            <a:avLst/>
          </a:prstGeom>
        </p:spPr>
      </p:pic>
      <p:sp>
        <p:nvSpPr>
          <p:cNvPr id="17467" name="Rectangle 17466"/>
          <p:cNvSpPr/>
          <p:nvPr/>
        </p:nvSpPr>
        <p:spPr>
          <a:xfrm>
            <a:off x="8037195" y="1246632"/>
            <a:ext cx="3831717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Rectangle 17467"/>
          <p:cNvSpPr/>
          <p:nvPr/>
        </p:nvSpPr>
        <p:spPr>
          <a:xfrm>
            <a:off x="11862816" y="1246632"/>
            <a:ext cx="6096" cy="2087451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Rectangle 17468"/>
          <p:cNvSpPr/>
          <p:nvPr/>
        </p:nvSpPr>
        <p:spPr>
          <a:xfrm>
            <a:off x="8037195" y="3327987"/>
            <a:ext cx="3831717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Rectangle 17469"/>
          <p:cNvSpPr/>
          <p:nvPr/>
        </p:nvSpPr>
        <p:spPr>
          <a:xfrm>
            <a:off x="8037195" y="1246632"/>
            <a:ext cx="6096" cy="2087451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8037195" y="3361667"/>
            <a:ext cx="3934110" cy="419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1"/>
              </a:lnSpc>
            </a:pPr>
            <a:r>
              <a:rPr sz="8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Where the model is wrong.</a:t>
            </a:r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 Each block is a place someone measured, coloured by measured minus model (red warmer, blue colder). Everything else is empty on purpose: 95% of the volume.</a:t>
            </a:r>
          </a:p>
        </p:txBody>
      </p:sp>
      <p:pic>
        <p:nvPicPr>
          <p:cNvPr id="17472" name="Picture 17471" descr="shot-sim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195" y="3845147"/>
            <a:ext cx="3831717" cy="2160651"/>
          </a:xfrm>
          <a:prstGeom prst="rect">
            <a:avLst/>
          </a:prstGeom>
        </p:spPr>
      </p:pic>
      <p:sp>
        <p:nvSpPr>
          <p:cNvPr id="17473" name="Rectangle 17472"/>
          <p:cNvSpPr/>
          <p:nvPr/>
        </p:nvSpPr>
        <p:spPr>
          <a:xfrm>
            <a:off x="8037195" y="3845147"/>
            <a:ext cx="3831717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Rectangle 17473"/>
          <p:cNvSpPr/>
          <p:nvPr/>
        </p:nvSpPr>
        <p:spPr>
          <a:xfrm>
            <a:off x="11862816" y="3845147"/>
            <a:ext cx="6096" cy="2160651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Rectangle 17474"/>
          <p:cNvSpPr/>
          <p:nvPr/>
        </p:nvSpPr>
        <p:spPr>
          <a:xfrm>
            <a:off x="8037195" y="5999702"/>
            <a:ext cx="3831717" cy="6096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Rectangle 17475"/>
          <p:cNvSpPr/>
          <p:nvPr/>
        </p:nvSpPr>
        <p:spPr>
          <a:xfrm>
            <a:off x="8037195" y="3845147"/>
            <a:ext cx="6096" cy="2160651"/>
          </a:xfrm>
          <a:prstGeom prst="rect">
            <a:avLst/>
          </a:prstGeom>
          <a:solidFill>
            <a:srgbClr val="0C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8037195" y="6033382"/>
            <a:ext cx="3934110" cy="2797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1"/>
              </a:lnSpc>
            </a:pPr>
            <a:r>
              <a:rPr sz="800" b="1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The Simple view, for everyone else.</a:t>
            </a:r>
            <a:r>
              <a:rPr sz="8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 The world's ocean one layer at a time — temperature, salinity, currents, sea level, mixed layer, ice — on a timeline.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34" y="252246"/>
            <a:ext cx="807334" cy="807334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335280" y="1246632"/>
            <a:ext cx="11521440" cy="33599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38912" y="1324845"/>
            <a:ext cx="2851151" cy="176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91"/>
              </a:lnSpc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code, docs and every measured number: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328939" y="1313322"/>
            <a:ext cx="2893778" cy="201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9"/>
              </a:lnSpc>
            </a:pPr>
            <a:r>
              <a:rPr sz="1150" b="0" i="0">
                <a:solidFill>
                  <a:srgbClr val="9ED8FF"/>
                </a:solidFill>
                <a:latin typeface="Courier New"/>
                <a:ea typeface="Courier New"/>
                <a:cs typeface="Courier New"/>
              </a:rPr>
              <a:t>https://github.com/Kukyos/VVater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333547" y="1341718"/>
            <a:ext cx="2492126" cy="143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26"/>
              </a:lnSpc>
            </a:pPr>
            <a:r>
              <a:rPr sz="800" b="0" i="0">
                <a:solidFill>
                  <a:srgbClr val="C9DBEA"/>
                </a:solidFill>
                <a:latin typeface="Arial"/>
                <a:ea typeface="Arial"/>
                <a:cs typeface="Arial"/>
              </a:rPr>
              <a:t>public repository · all links below opened 2026-09-23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35280" y="1671445"/>
            <a:ext cx="5792266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DATA WE FETCHED — EACH ONE PROBED, NOT ASSUMED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35280" y="1889617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35280" y="1950577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30352" y="1953868"/>
            <a:ext cx="5591342" cy="3010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INCOIS ERDDAP — Argo 10-day variational analysis (</a:t>
            </a:r>
            <a:r>
              <a:rPr sz="800" b="0" i="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incois_argo_10d_VAM</a:t>
            </a: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), temperature and salinity with per-cell error.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primary volume; no credentials.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30352" y="2255820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erddap.incois.gov.in/erddap/griddap/incois_argo_10d_VAM.html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35280" y="2447401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335280" y="2508361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30352" y="2511652"/>
            <a:ext cx="5591342" cy="297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Copernicus Marine — GLORYS12 global reanalysis, GLOBAL_MULTIYEAR_PHY_001_030.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Currents, and the global surface layer.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30352" y="2810223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data.marine.copernicus.eu/product/GLOBAL_MULTIYEAR_PHY_001_030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35280" y="3001803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335280" y="3062763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30352" y="3066055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Argo Global Data Assembly Centre, HTTPS mirror.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Float profiles with QC flags and data mode.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30352" y="3215798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data-argo.ifremer.fr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35280" y="3407378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335280" y="3468338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30352" y="3471630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U.S. IOOS Glider DAC — Rutgers </a:t>
            </a:r>
            <a:r>
              <a:rPr sz="900" b="0" i="1">
                <a:solidFill>
                  <a:srgbClr val="16202B"/>
                </a:solidFill>
                <a:latin typeface="Arial"/>
                <a:ea typeface="Arial"/>
                <a:cs typeface="Arial"/>
              </a:rPr>
              <a:t>ru29</a:t>
            </a: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 deployment, NetCDF and CSV.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independent check.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30352" y="3621372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gliders.ioos.us/erddap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335280" y="3812952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335280" y="3873912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30352" y="3877204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INCOIS Live Access Server.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Named in the brief; reachable, not yet ingested.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30352" y="4026947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las.incois.gov.in/las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35280" y="4218527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35280" y="4279487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30352" y="4282779"/>
            <a:ext cx="5591342" cy="15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The brief's two </a:t>
            </a:r>
            <a:r>
              <a:rPr sz="800" b="0" i="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ftp.ifremer.fr</a:t>
            </a: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 links.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Probed: do not connect (port 21). Replaced by 3.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530352" y="4435902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ftp://ftp.ifremer.fr/ifremer/argo · …/glider/v2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335280" y="4627483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335280" y="4688443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30352" y="4691734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Argo Program overview, Scripps Institution of Oceanography.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What a float is and does.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530352" y="4841477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argo.ucsd.edu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335280" y="5033057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335280" y="5094017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530352" y="5097309"/>
            <a:ext cx="5591342" cy="297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Smart India Hackathon 2026, problem statement 26067 (MoES / INCOIS Ocean Valley).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Quoted verbatim in the repository.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530352" y="5395880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github.com/Kukyos/VVater/blob/main/docs/01-problem-statement.md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335280" y="5636228"/>
            <a:ext cx="5623560" cy="682323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ectangle 17449"/>
          <p:cNvSpPr/>
          <p:nvPr/>
        </p:nvSpPr>
        <p:spPr>
          <a:xfrm>
            <a:off x="335280" y="5636228"/>
            <a:ext cx="5623560" cy="24384"/>
          </a:xfrm>
          <a:prstGeom prst="rect">
            <a:avLst/>
          </a:prstGeom>
          <a:solidFill>
            <a:srgbClr val="A9B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426720" y="5738397"/>
            <a:ext cx="5603900" cy="176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91"/>
              </a:lnSpc>
            </a:pPr>
            <a:r>
              <a:rPr sz="10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How these links were checked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26720" y="5937898"/>
            <a:ext cx="5603900" cy="298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5"/>
              </a:lnSpc>
            </a:pPr>
            <a:r>
              <a:rPr sz="85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Every URL was opened on 2026-09-23 with a browser user agent and returned HTTP 200, except the two FTP links (dead, listed as such) and the AMS journal page, which refuses scripted requests; its DOI resolves.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233160" y="1671445"/>
            <a:ext cx="5792266" cy="185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57"/>
              </a:lnSpc>
            </a:pPr>
            <a:r>
              <a:rPr sz="105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STANDARDS AND METHODS THE CODE FOLLOWS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6233160" y="1889617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6233160" y="1950577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428232" y="1953868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Wong et al., Argo Quality Control Manual for CTD and Trajectory Data.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Range test and QC flags.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428232" y="2103611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doi.org/10.13155/33951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6233160" y="2295191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6233160" y="2356151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6428232" y="2359443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U.S. IOOS QARTOD manuals.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Glider QC flags.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6428232" y="2509185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ioos.noaa.gov/project/qartod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6233160" y="2700766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6233160" y="2761726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6428232" y="2765017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NetCDF Climate and Forecast (CF) Conventions.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Read defensively; assumptions recorded.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6428232" y="2914760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cfconventions.org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6233160" y="3106340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6233160" y="3167300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428232" y="3170592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OGC Web Map Service 1.3.0.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WMS endpoint.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6428232" y="3320334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ogc.org/standards/wms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6233160" y="3511915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6233160" y="3572875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428232" y="3576166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IOC, SCOR, IAPSO (2010), TEOS-10 seawater equation.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Pressure to depth, heat capacity.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6428232" y="3725909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teos-10.org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6233160" y="3917489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6233160" y="3978449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6428232" y="3981741"/>
            <a:ext cx="5591342" cy="297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Leipper &amp; Volgenau (1972), Hurricane heat potential of the Gulf of Mexico, J. Phys. Oceanogr. 2.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Heat above 26 °C.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6428232" y="4280312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doi.org/10.1175/1520-0485(1972)002&lt;0218:HHPOTG&gt;2.0.CO;2</a:t>
            </a:r>
          </a:p>
        </p:txBody>
      </p:sp>
      <p:sp>
        <p:nvSpPr>
          <p:cNvPr id="17478" name="Rectangle 17477"/>
          <p:cNvSpPr/>
          <p:nvPr/>
        </p:nvSpPr>
        <p:spPr>
          <a:xfrm>
            <a:off x="6233160" y="4471892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6233160" y="4532852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6428232" y="4536144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Thyng et al. (2016), True colors of oceanography, Oceanography 29(3).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cmocean palettes.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6428232" y="4685886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doi.org/10.5670/oceanog.2016.66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6233160" y="4877466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6233160" y="4938426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6428232" y="4941718"/>
            <a:ext cx="5591342" cy="15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CesiumJS </a:t>
            </a:r>
            <a:r>
              <a:rPr sz="800" b="0" i="0">
                <a:solidFill>
                  <a:srgbClr val="1F4E79"/>
                </a:solidFill>
                <a:latin typeface="Courier New"/>
                <a:ea typeface="Courier New"/>
                <a:cs typeface="Courier New"/>
              </a:rPr>
              <a:t>VoxelPrimitive</a:t>
            </a: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 reference.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volume renderer (experimental, pinned).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6428232" y="5094842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cesium.com/learn/cesiumjs/ref-doc/VoxelPrimitive.html</a:t>
            </a:r>
          </a:p>
        </p:txBody>
      </p:sp>
      <p:sp>
        <p:nvSpPr>
          <p:cNvPr id="17486" name="Rectangle 17485"/>
          <p:cNvSpPr/>
          <p:nvPr/>
        </p:nvSpPr>
        <p:spPr>
          <a:xfrm>
            <a:off x="6233160" y="5286422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7" name="TextBox 17486"/>
          <p:cNvSpPr txBox="1"/>
          <p:nvPr/>
        </p:nvSpPr>
        <p:spPr>
          <a:xfrm>
            <a:off x="6233160" y="5347382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6428232" y="5350674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xarray and FastAPI documentation.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Ingest and API.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6428232" y="5500416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docs.xarray.dev · fastapi.tiangolo.com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6233160" y="5691997"/>
            <a:ext cx="5623560" cy="6096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6233160" y="5752957"/>
            <a:ext cx="304800" cy="146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6428232" y="5756248"/>
            <a:ext cx="5591342" cy="14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2"/>
              </a:lnSpc>
            </a:pPr>
            <a:r>
              <a:rPr sz="900" b="0" i="0">
                <a:solidFill>
                  <a:srgbClr val="16202B"/>
                </a:solidFill>
                <a:latin typeface="Arial"/>
                <a:ea typeface="Arial"/>
                <a:cs typeface="Arial"/>
              </a:rPr>
              <a:t>Unidata NetCDF. </a:t>
            </a:r>
            <a:r>
              <a:rPr sz="900" b="0" i="0">
                <a:solidFill>
                  <a:srgbClr val="4F5B69"/>
                </a:solidFill>
                <a:latin typeface="Arial"/>
                <a:ea typeface="Arial"/>
                <a:cs typeface="Arial"/>
              </a:rPr>
              <a:t>The file format the brief names.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6428232" y="5905991"/>
            <a:ext cx="5591342" cy="128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13"/>
              </a:lnSpc>
            </a:pPr>
            <a:r>
              <a:rPr sz="750" b="0" i="0">
                <a:solidFill>
                  <a:srgbClr val="2E86C1"/>
                </a:solidFill>
                <a:latin typeface="Courier New"/>
                <a:ea typeface="Courier New"/>
                <a:cs typeface="Courier New"/>
              </a:rPr>
              <a:t>unidata.ucar.edu/software/netcdf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