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12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al Bold" panose="020B0704020202020204" pitchFamily="34" charset="0"/>
      <p:regular r:id="rId9"/>
      <p:bold r:id="rId10"/>
    </p:embeddedFont>
    <p:embeddedFont>
      <p:font typeface="Arial Italics" panose="020B0604020202020204" charset="0"/>
      <p:regular r:id="rId11"/>
    </p:embeddedFont>
    <p:embeddedFont>
      <p:font typeface="Arimo" panose="020B0604020202020204" charset="0"/>
      <p:regular r:id="rId12"/>
    </p:embeddedFont>
    <p:embeddedFont>
      <p:font typeface="Arimo Bold" panose="020B0604020202020204" charset="0"/>
      <p:regular r:id="rId13"/>
    </p:embeddedFont>
    <p:embeddedFont>
      <p:font typeface="Garamond Bold" panose="02020804030307010803" pitchFamily="18" charset="0"/>
      <p:regular r:id="rId14"/>
      <p:bold r:id="rId15"/>
    </p:embeddedFont>
    <p:embeddedFont>
      <p:font typeface="Times New Roman Bold" panose="02020803070505020304" pitchFamily="18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260" y="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font" Target="fonts/font7.fntdata"/><Relationship Id="rId16" Type="http://schemas.openxmlformats.org/officeDocument/2006/relationships/font" Target="fonts/font8.fntdata"/><Relationship Id="rId17" Type="http://schemas.openxmlformats.org/officeDocument/2006/relationships/font" Target="fonts/font9.fnt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30.09.2026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3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e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jpeg"/><Relationship Id="rId7" Type="http://schemas.openxmlformats.org/officeDocument/2006/relationships/image" Target="../media/image7.png"/><Relationship Id="rId8" Type="http://schemas.openxmlformats.org/officeDocument/2006/relationships/image" Target="../media/image8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eg"/><Relationship Id="rId4" Type="http://schemas.openxmlformats.org/officeDocument/2006/relationships/image" Target="../media/image3.jpe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svg"/><Relationship Id="rId8" Type="http://schemas.openxmlformats.org/officeDocument/2006/relationships/image" Target="../media/image13.png"/><Relationship Id="rId9" Type="http://schemas.openxmlformats.org/officeDocument/2006/relationships/image" Target="../media/image14.svg"/><Relationship Id="rId10" Type="http://schemas.openxmlformats.org/officeDocument/2006/relationships/image" Target="../media/image15.svg"/><Relationship Id="rId11" Type="http://schemas.openxmlformats.org/officeDocument/2006/relationships/image" Target="../media/image16.svg"/><Relationship Id="rId12" Type="http://schemas.openxmlformats.org/officeDocument/2006/relationships/image" Target="../media/image17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e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e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8.jpeg"/><Relationship Id="rId7" Type="http://schemas.openxmlformats.org/officeDocument/2006/relationships/image" Target="../media/image19.jpeg"/><Relationship Id="rId8" Type="http://schemas.openxmlformats.org/officeDocument/2006/relationships/image" Target="../media/image20.jpeg"/><Relationship Id="rId9" Type="http://schemas.openxmlformats.org/officeDocument/2006/relationships/image" Target="../media/image21.jpeg"/><Relationship Id="rId10" Type="http://schemas.openxmlformats.org/officeDocument/2006/relationships/image" Target="../media/image22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e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hyperlink" Target="https://github.com/Kukyos/VVater" TargetMode="External"/><Relationship Id="rId7" Type="http://schemas.openxmlformats.org/officeDocument/2006/relationships/hyperlink" Target="https://data.marine.copernicus.eu/product/GLOBAL_MULTIYEAR_PHY_001_030" TargetMode="External"/><Relationship Id="rId8" Type="http://schemas.openxmlformats.org/officeDocument/2006/relationships/hyperlink" Target="https://erddap.incois.gov.in/erddap" TargetMode="External"/><Relationship Id="rId9" Type="http://schemas.openxmlformats.org/officeDocument/2006/relationships/hyperlink" Target="https://erddap.ifremer.fr/erddap" TargetMode="External"/><Relationship Id="rId10" Type="http://schemas.openxmlformats.org/officeDocument/2006/relationships/hyperlink" Target="https://data-argo.ifremer.fr" TargetMode="External"/><Relationship Id="rId11" Type="http://schemas.openxmlformats.org/officeDocument/2006/relationships/hyperlink" Target="https://gliders.ioos.us/erddap" TargetMode="External"/><Relationship Id="rId12" Type="http://schemas.openxmlformats.org/officeDocument/2006/relationships/hyperlink" Target="https://incois.gov.in/MarineFisheries/TextDataHome?mfid=1" TargetMode="External"/><Relationship Id="rId13" Type="http://schemas.openxmlformats.org/officeDocument/2006/relationships/hyperlink" Target="https://thredds.ucar.edu" TargetMode="External"/><Relationship Id="rId14" Type="http://schemas.openxmlformats.org/officeDocument/2006/relationships/hyperlink" Target="https://gibs.earthdata.nasa.gov" TargetMode="External"/><Relationship Id="rId15" Type="http://schemas.openxmlformats.org/officeDocument/2006/relationships/hyperlink" Target="https://doi.org/10.13155/33951" TargetMode="External"/><Relationship Id="rId16" Type="http://schemas.openxmlformats.org/officeDocument/2006/relationships/hyperlink" Target="https://ioos.noaa.gov/project/qartod" TargetMode="External"/><Relationship Id="rId17" Type="http://schemas.openxmlformats.org/officeDocument/2006/relationships/hyperlink" Target="https://cfconventions.org" TargetMode="External"/><Relationship Id="rId18" Type="http://schemas.openxmlformats.org/officeDocument/2006/relationships/hyperlink" Target="https://ogc.org/standards/wms" TargetMode="External"/><Relationship Id="rId19" Type="http://schemas.openxmlformats.org/officeDocument/2006/relationships/hyperlink" Target="https://teos-10.org" TargetMode="External"/><Relationship Id="rId20" Type="http://schemas.openxmlformats.org/officeDocument/2006/relationships/hyperlink" Target="https://doi.org/10.1175/1520-0485(1972)002%3C0218:HHPOTG%3E2.0.CO;2" TargetMode="External"/><Relationship Id="rId21" Type="http://schemas.openxmlformats.org/officeDocument/2006/relationships/hyperlink" Target="https://doi.org/10.5670/oceanog.2016.66" TargetMode="External"/><Relationship Id="rId22" Type="http://schemas.openxmlformats.org/officeDocument/2006/relationships/hyperlink" Target="https://cesium.com/platform/cesiumjs" TargetMode="External"/><Relationship Id="rId23" Type="http://schemas.openxmlformats.org/officeDocument/2006/relationships/hyperlink" Target="https://argo.ucsd.edu" TargetMode="External"/><Relationship Id="rId24" Type="http://schemas.openxmlformats.org/officeDocument/2006/relationships/hyperlink" Target="https://github.com/Kukyos/VVater/blob/main/docs/01-problem-statement.md" TargetMode="External"/><Relationship Id="rId25" Type="http://schemas.openxmlformats.org/officeDocument/2006/relationships/hyperlink" Target="https://data.marine.copernicus.eu/product/INSITU_GLO_PHYBGCWAV_DISCRETE_MYNRT_013_030" TargetMode="External"/><Relationship Id="rId26" Type="http://schemas.openxmlformats.org/officeDocument/2006/relationships/hyperlink" Target="https://doi.org/10.1002/2015JC01140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85165" y="1277283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10282333" y="2573817"/>
            <a:ext cx="4805267" cy="5139357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49475" b="-1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959969" y="990067"/>
            <a:ext cx="12618720" cy="2566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endParaRPr/>
          </a:p>
          <a:p>
            <a:pPr algn="ctr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96929" y="-790137"/>
            <a:ext cx="15544800" cy="3114675"/>
            <a:chOff x="0" y="0"/>
            <a:chExt cx="20726400" cy="41529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246" b="-47246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68630" y="2589886"/>
            <a:ext cx="8703945" cy="6419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2925" lvl="1" indent="-271462" algn="l">
              <a:lnSpc>
                <a:spcPts val="36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- SIH26067</a:t>
            </a:r>
          </a:p>
          <a:p>
            <a:pPr algn="l">
              <a:lnSpc>
                <a:spcPts val="3600"/>
              </a:lnSpc>
            </a:pPr>
            <a:endParaRPr lang="en-US" sz="3000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42925" lvl="1" indent="-271462" algn="l">
              <a:lnSpc>
                <a:spcPts val="36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 - Develop a web-based interactive 3D visualization platform that integrates numerical ocean model outputs and in-situ observations.</a:t>
            </a:r>
          </a:p>
          <a:p>
            <a:pPr algn="l">
              <a:lnSpc>
                <a:spcPts val="3600"/>
              </a:lnSpc>
            </a:pPr>
            <a:endParaRPr lang="en-US" sz="3000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42925" lvl="1" indent="-271462" algn="l">
              <a:lnSpc>
                <a:spcPts val="36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 - Disaster Management</a:t>
            </a:r>
          </a:p>
          <a:p>
            <a:pPr algn="l">
              <a:lnSpc>
                <a:spcPts val="3600"/>
              </a:lnSpc>
            </a:pPr>
            <a:endParaRPr lang="en-US" sz="3000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42925" lvl="1" indent="-271462" algn="l">
              <a:lnSpc>
                <a:spcPts val="36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 - Software</a:t>
            </a:r>
          </a:p>
          <a:p>
            <a:pPr algn="l">
              <a:lnSpc>
                <a:spcPts val="3600"/>
              </a:lnSpc>
            </a:pPr>
            <a:endParaRPr lang="en-US" sz="3000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42925" lvl="1" indent="-271462" algn="l">
              <a:lnSpc>
                <a:spcPts val="36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 - K26125</a:t>
            </a:r>
          </a:p>
          <a:p>
            <a:pPr algn="l">
              <a:lnSpc>
                <a:spcPts val="3600"/>
              </a:lnSpc>
            </a:pPr>
            <a:endParaRPr lang="en-US" sz="3000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42925" lvl="1" indent="-271462" algn="l">
              <a:lnSpc>
                <a:spcPts val="36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- Team Null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74501" y="0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VVater: Ocean in 3D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12" name="Freeform 1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12064" y="264490"/>
            <a:ext cx="1210999" cy="1210999"/>
            <a:chOff x="0" y="0"/>
            <a:chExt cx="1614665" cy="1614665"/>
          </a:xfrm>
        </p:grpSpPr>
        <p:sp>
          <p:nvSpPr>
            <p:cNvPr id="13" name="Freeform 13" descr="logo.png"/>
            <p:cNvSpPr/>
            <p:nvPr/>
          </p:nvSpPr>
          <p:spPr>
            <a:xfrm>
              <a:off x="0" y="0"/>
              <a:ext cx="1614678" cy="1614678"/>
            </a:xfrm>
            <a:custGeom>
              <a:avLst/>
              <a:gdLst/>
              <a:ahLst/>
              <a:cxnLst/>
              <a:rect l="l" t="t" r="r" b="b"/>
              <a:pathLst>
                <a:path w="1614678" h="1614678">
                  <a:moveTo>
                    <a:pt x="0" y="0"/>
                  </a:moveTo>
                  <a:lnTo>
                    <a:pt x="1614678" y="0"/>
                  </a:lnTo>
                  <a:lnTo>
                    <a:pt x="1614678" y="1614678"/>
                  </a:lnTo>
                  <a:lnTo>
                    <a:pt x="0" y="16146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02920" y="2778490"/>
            <a:ext cx="7150608" cy="3767328"/>
            <a:chOff x="0" y="0"/>
            <a:chExt cx="9534144" cy="5023104"/>
          </a:xfrm>
        </p:grpSpPr>
        <p:sp>
          <p:nvSpPr>
            <p:cNvPr id="15" name="Freeform 15" descr="crop-hero.jpg"/>
            <p:cNvSpPr/>
            <p:nvPr/>
          </p:nvSpPr>
          <p:spPr>
            <a:xfrm>
              <a:off x="0" y="0"/>
              <a:ext cx="9534144" cy="5023104"/>
            </a:xfrm>
            <a:custGeom>
              <a:avLst/>
              <a:gdLst/>
              <a:ahLst/>
              <a:cxnLst/>
              <a:rect l="l" t="t" r="r" b="b"/>
              <a:pathLst>
                <a:path w="9534144" h="5023104">
                  <a:moveTo>
                    <a:pt x="0" y="0"/>
                  </a:moveTo>
                  <a:lnTo>
                    <a:pt x="9534144" y="0"/>
                  </a:lnTo>
                  <a:lnTo>
                    <a:pt x="9534144" y="5023104"/>
                  </a:lnTo>
                  <a:lnTo>
                    <a:pt x="0" y="5023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90" r="-1990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02920" y="2778490"/>
            <a:ext cx="7150608" cy="9144"/>
            <a:chOff x="0" y="0"/>
            <a:chExt cx="9534144" cy="1219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534144" cy="12192"/>
            </a:xfrm>
            <a:custGeom>
              <a:avLst/>
              <a:gdLst/>
              <a:ahLst/>
              <a:cxnLst/>
              <a:rect l="l" t="t" r="r" b="b"/>
              <a:pathLst>
                <a:path w="9534144" h="12192">
                  <a:moveTo>
                    <a:pt x="0" y="0"/>
                  </a:moveTo>
                  <a:lnTo>
                    <a:pt x="9534144" y="0"/>
                  </a:lnTo>
                  <a:lnTo>
                    <a:pt x="9534144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44384" y="2778490"/>
            <a:ext cx="9144" cy="3767328"/>
            <a:chOff x="0" y="0"/>
            <a:chExt cx="12192" cy="502310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192" cy="5023104"/>
            </a:xfrm>
            <a:custGeom>
              <a:avLst/>
              <a:gdLst/>
              <a:ahLst/>
              <a:cxnLst/>
              <a:rect l="l" t="t" r="r" b="b"/>
              <a:pathLst>
                <a:path w="12192" h="5023104">
                  <a:moveTo>
                    <a:pt x="0" y="0"/>
                  </a:moveTo>
                  <a:lnTo>
                    <a:pt x="12192" y="0"/>
                  </a:lnTo>
                  <a:lnTo>
                    <a:pt x="12192" y="5023104"/>
                  </a:lnTo>
                  <a:lnTo>
                    <a:pt x="0" y="50231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02920" y="6536674"/>
            <a:ext cx="7150608" cy="9144"/>
            <a:chOff x="0" y="0"/>
            <a:chExt cx="9534144" cy="1219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534144" cy="12192"/>
            </a:xfrm>
            <a:custGeom>
              <a:avLst/>
              <a:gdLst/>
              <a:ahLst/>
              <a:cxnLst/>
              <a:rect l="l" t="t" r="r" b="b"/>
              <a:pathLst>
                <a:path w="9534144" h="12192">
                  <a:moveTo>
                    <a:pt x="0" y="0"/>
                  </a:moveTo>
                  <a:lnTo>
                    <a:pt x="9534144" y="0"/>
                  </a:lnTo>
                  <a:lnTo>
                    <a:pt x="9534144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02920" y="2778490"/>
            <a:ext cx="9144" cy="3767328"/>
            <a:chOff x="0" y="0"/>
            <a:chExt cx="12192" cy="502310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192" cy="5023104"/>
            </a:xfrm>
            <a:custGeom>
              <a:avLst/>
              <a:gdLst/>
              <a:ahLst/>
              <a:cxnLst/>
              <a:rect l="l" t="t" r="r" b="b"/>
              <a:pathLst>
                <a:path w="12192" h="5023104">
                  <a:moveTo>
                    <a:pt x="0" y="0"/>
                  </a:moveTo>
                  <a:lnTo>
                    <a:pt x="12192" y="0"/>
                  </a:lnTo>
                  <a:lnTo>
                    <a:pt x="12192" y="5023104"/>
                  </a:lnTo>
                  <a:lnTo>
                    <a:pt x="0" y="50231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02920" y="7607017"/>
            <a:ext cx="7132320" cy="9144"/>
            <a:chOff x="0" y="0"/>
            <a:chExt cx="9509760" cy="1219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509760" cy="12192"/>
            </a:xfrm>
            <a:custGeom>
              <a:avLst/>
              <a:gdLst/>
              <a:ahLst/>
              <a:cxnLst/>
              <a:rect l="l" t="t" r="r" b="b"/>
              <a:pathLst>
                <a:path w="9509760" h="12192">
                  <a:moveTo>
                    <a:pt x="0" y="0"/>
                  </a:moveTo>
                  <a:lnTo>
                    <a:pt x="9509760" y="0"/>
                  </a:lnTo>
                  <a:lnTo>
                    <a:pt x="950976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02920" y="8147371"/>
            <a:ext cx="5967754" cy="9144"/>
            <a:chOff x="0" y="0"/>
            <a:chExt cx="7957005" cy="1219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957005" cy="12192"/>
            </a:xfrm>
            <a:custGeom>
              <a:avLst/>
              <a:gdLst/>
              <a:ahLst/>
              <a:cxnLst/>
              <a:rect l="l" t="t" r="r" b="b"/>
              <a:pathLst>
                <a:path w="7957005" h="12192">
                  <a:moveTo>
                    <a:pt x="0" y="0"/>
                  </a:moveTo>
                  <a:lnTo>
                    <a:pt x="7957005" y="0"/>
                  </a:lnTo>
                  <a:lnTo>
                    <a:pt x="7957005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02920" y="8687724"/>
            <a:ext cx="5967754" cy="9144"/>
            <a:chOff x="0" y="0"/>
            <a:chExt cx="7957005" cy="1219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957005" cy="12192"/>
            </a:xfrm>
            <a:custGeom>
              <a:avLst/>
              <a:gdLst/>
              <a:ahLst/>
              <a:cxnLst/>
              <a:rect l="l" t="t" r="r" b="b"/>
              <a:pathLst>
                <a:path w="7957005" h="12192">
                  <a:moveTo>
                    <a:pt x="0" y="0"/>
                  </a:moveTo>
                  <a:lnTo>
                    <a:pt x="7957005" y="0"/>
                  </a:lnTo>
                  <a:lnTo>
                    <a:pt x="7957005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955280" y="2490026"/>
            <a:ext cx="5394960" cy="9144"/>
            <a:chOff x="0" y="0"/>
            <a:chExt cx="7193280" cy="1219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193280" cy="12192"/>
            </a:xfrm>
            <a:custGeom>
              <a:avLst/>
              <a:gdLst/>
              <a:ahLst/>
              <a:cxnLst/>
              <a:rect l="l" t="t" r="r" b="b"/>
              <a:pathLst>
                <a:path w="7193280" h="12192">
                  <a:moveTo>
                    <a:pt x="0" y="0"/>
                  </a:moveTo>
                  <a:lnTo>
                    <a:pt x="7193280" y="0"/>
                  </a:lnTo>
                  <a:lnTo>
                    <a:pt x="719328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955280" y="3496723"/>
            <a:ext cx="5394960" cy="9144"/>
            <a:chOff x="0" y="0"/>
            <a:chExt cx="7193280" cy="1219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193280" cy="12192"/>
            </a:xfrm>
            <a:custGeom>
              <a:avLst/>
              <a:gdLst/>
              <a:ahLst/>
              <a:cxnLst/>
              <a:rect l="l" t="t" r="r" b="b"/>
              <a:pathLst>
                <a:path w="7193280" h="12192">
                  <a:moveTo>
                    <a:pt x="0" y="0"/>
                  </a:moveTo>
                  <a:lnTo>
                    <a:pt x="7193280" y="0"/>
                  </a:lnTo>
                  <a:lnTo>
                    <a:pt x="719328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955280" y="4503420"/>
            <a:ext cx="5394960" cy="9144"/>
            <a:chOff x="0" y="0"/>
            <a:chExt cx="7193280" cy="1219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193280" cy="12192"/>
            </a:xfrm>
            <a:custGeom>
              <a:avLst/>
              <a:gdLst/>
              <a:ahLst/>
              <a:cxnLst/>
              <a:rect l="l" t="t" r="r" b="b"/>
              <a:pathLst>
                <a:path w="7193280" h="12192">
                  <a:moveTo>
                    <a:pt x="0" y="0"/>
                  </a:moveTo>
                  <a:lnTo>
                    <a:pt x="7193280" y="0"/>
                  </a:lnTo>
                  <a:lnTo>
                    <a:pt x="719328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955280" y="5474698"/>
            <a:ext cx="5394960" cy="9144"/>
            <a:chOff x="0" y="0"/>
            <a:chExt cx="7193280" cy="1219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7193280" cy="12192"/>
            </a:xfrm>
            <a:custGeom>
              <a:avLst/>
              <a:gdLst/>
              <a:ahLst/>
              <a:cxnLst/>
              <a:rect l="l" t="t" r="r" b="b"/>
              <a:pathLst>
                <a:path w="7193280" h="12192">
                  <a:moveTo>
                    <a:pt x="0" y="0"/>
                  </a:moveTo>
                  <a:lnTo>
                    <a:pt x="7193280" y="0"/>
                  </a:lnTo>
                  <a:lnTo>
                    <a:pt x="719328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955280" y="6353699"/>
            <a:ext cx="5394960" cy="47625"/>
            <a:chOff x="0" y="0"/>
            <a:chExt cx="7193280" cy="635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193280" cy="63500"/>
            </a:xfrm>
            <a:custGeom>
              <a:avLst/>
              <a:gdLst/>
              <a:ahLst/>
              <a:cxnLst/>
              <a:rect l="l" t="t" r="r" b="b"/>
              <a:pathLst>
                <a:path w="7193280" h="63500">
                  <a:moveTo>
                    <a:pt x="0" y="0"/>
                  </a:moveTo>
                  <a:lnTo>
                    <a:pt x="7193280" y="0"/>
                  </a:lnTo>
                  <a:lnTo>
                    <a:pt x="719328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955280" y="8148161"/>
            <a:ext cx="5394960" cy="1247299"/>
            <a:chOff x="0" y="0"/>
            <a:chExt cx="7193280" cy="1663065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7193280" cy="1663065"/>
            </a:xfrm>
            <a:custGeom>
              <a:avLst/>
              <a:gdLst/>
              <a:ahLst/>
              <a:cxnLst/>
              <a:rect l="l" t="t" r="r" b="b"/>
              <a:pathLst>
                <a:path w="7193280" h="1663065">
                  <a:moveTo>
                    <a:pt x="0" y="0"/>
                  </a:moveTo>
                  <a:lnTo>
                    <a:pt x="7193280" y="0"/>
                  </a:lnTo>
                  <a:lnTo>
                    <a:pt x="7193280" y="1663065"/>
                  </a:lnTo>
                  <a:lnTo>
                    <a:pt x="0" y="1663065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955280" y="8148161"/>
            <a:ext cx="5394960" cy="36576"/>
            <a:chOff x="0" y="0"/>
            <a:chExt cx="7193280" cy="48768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7193280" cy="48768"/>
            </a:xfrm>
            <a:custGeom>
              <a:avLst/>
              <a:gdLst/>
              <a:ahLst/>
              <a:cxnLst/>
              <a:rect l="l" t="t" r="r" b="b"/>
              <a:pathLst>
                <a:path w="7193280" h="48768">
                  <a:moveTo>
                    <a:pt x="0" y="0"/>
                  </a:moveTo>
                  <a:lnTo>
                    <a:pt x="7193280" y="0"/>
                  </a:lnTo>
                  <a:lnTo>
                    <a:pt x="7193280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A9B2BE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3670280" y="2211562"/>
            <a:ext cx="4114800" cy="9144"/>
            <a:chOff x="0" y="0"/>
            <a:chExt cx="5486400" cy="1219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486400" cy="12192"/>
            </a:xfrm>
            <a:custGeom>
              <a:avLst/>
              <a:gdLst/>
              <a:ahLst/>
              <a:cxnLst/>
              <a:rect l="l" t="t" r="r" b="b"/>
              <a:pathLst>
                <a:path w="5486400" h="12192">
                  <a:moveTo>
                    <a:pt x="0" y="0"/>
                  </a:moveTo>
                  <a:lnTo>
                    <a:pt x="5486400" y="0"/>
                  </a:lnTo>
                  <a:lnTo>
                    <a:pt x="548640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3647420" y="2973943"/>
            <a:ext cx="4114800" cy="9144"/>
            <a:chOff x="0" y="0"/>
            <a:chExt cx="5486400" cy="12192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5486400" cy="12192"/>
            </a:xfrm>
            <a:custGeom>
              <a:avLst/>
              <a:gdLst/>
              <a:ahLst/>
              <a:cxnLst/>
              <a:rect l="l" t="t" r="r" b="b"/>
              <a:pathLst>
                <a:path w="5486400" h="12192">
                  <a:moveTo>
                    <a:pt x="0" y="0"/>
                  </a:moveTo>
                  <a:lnTo>
                    <a:pt x="5486400" y="0"/>
                  </a:lnTo>
                  <a:lnTo>
                    <a:pt x="548640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3670280" y="3229404"/>
            <a:ext cx="4238244" cy="444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reads only the chunks a box needs from Copernicus's cloud stores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13679424" y="3656743"/>
            <a:ext cx="4114800" cy="9144"/>
            <a:chOff x="0" y="0"/>
            <a:chExt cx="5486400" cy="12192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5486400" cy="12192"/>
            </a:xfrm>
            <a:custGeom>
              <a:avLst/>
              <a:gdLst/>
              <a:ahLst/>
              <a:cxnLst/>
              <a:rect l="l" t="t" r="r" b="b"/>
              <a:pathLst>
                <a:path w="5486400" h="12192">
                  <a:moveTo>
                    <a:pt x="0" y="0"/>
                  </a:moveTo>
                  <a:lnTo>
                    <a:pt x="5486400" y="0"/>
                  </a:lnTo>
                  <a:lnTo>
                    <a:pt x="548640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3679424" y="4347639"/>
            <a:ext cx="4114800" cy="9144"/>
            <a:chOff x="0" y="0"/>
            <a:chExt cx="5486400" cy="12192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486400" cy="12192"/>
            </a:xfrm>
            <a:custGeom>
              <a:avLst/>
              <a:gdLst/>
              <a:ahLst/>
              <a:cxnLst/>
              <a:rect l="l" t="t" r="r" b="b"/>
              <a:pathLst>
                <a:path w="5486400" h="12192">
                  <a:moveTo>
                    <a:pt x="0" y="0"/>
                  </a:moveTo>
                  <a:lnTo>
                    <a:pt x="5486400" y="0"/>
                  </a:lnTo>
                  <a:lnTo>
                    <a:pt x="548640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3679424" y="5086587"/>
            <a:ext cx="4114800" cy="9144"/>
            <a:chOff x="0" y="0"/>
            <a:chExt cx="5486400" cy="12192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5486400" cy="12192"/>
            </a:xfrm>
            <a:custGeom>
              <a:avLst/>
              <a:gdLst/>
              <a:ahLst/>
              <a:cxnLst/>
              <a:rect l="l" t="t" r="r" b="b"/>
              <a:pathLst>
                <a:path w="5486400" h="12192">
                  <a:moveTo>
                    <a:pt x="0" y="0"/>
                  </a:moveTo>
                  <a:lnTo>
                    <a:pt x="5486400" y="0"/>
                  </a:lnTo>
                  <a:lnTo>
                    <a:pt x="548640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3670280" y="6596110"/>
            <a:ext cx="2034540" cy="2395728"/>
            <a:chOff x="0" y="0"/>
            <a:chExt cx="2712720" cy="3194304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2712720" cy="3194304"/>
            </a:xfrm>
            <a:custGeom>
              <a:avLst/>
              <a:gdLst/>
              <a:ahLst/>
              <a:cxnLst/>
              <a:rect l="l" t="t" r="r" b="b"/>
              <a:pathLst>
                <a:path w="2712720" h="3194304">
                  <a:moveTo>
                    <a:pt x="0" y="0"/>
                  </a:moveTo>
                  <a:lnTo>
                    <a:pt x="2712720" y="0"/>
                  </a:lnTo>
                  <a:lnTo>
                    <a:pt x="2712720" y="3194304"/>
                  </a:lnTo>
                  <a:lnTo>
                    <a:pt x="0" y="3194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8121" r="-8121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3670280" y="6596110"/>
            <a:ext cx="2034540" cy="9144"/>
            <a:chOff x="0" y="0"/>
            <a:chExt cx="2712720" cy="12192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2712720" cy="12192"/>
            </a:xfrm>
            <a:custGeom>
              <a:avLst/>
              <a:gdLst/>
              <a:ahLst/>
              <a:cxnLst/>
              <a:rect l="l" t="t" r="r" b="b"/>
              <a:pathLst>
                <a:path w="2712720" h="12192">
                  <a:moveTo>
                    <a:pt x="0" y="0"/>
                  </a:moveTo>
                  <a:lnTo>
                    <a:pt x="2712720" y="0"/>
                  </a:lnTo>
                  <a:lnTo>
                    <a:pt x="271272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5695676" y="6596110"/>
            <a:ext cx="9144" cy="2395728"/>
            <a:chOff x="0" y="0"/>
            <a:chExt cx="12192" cy="3194304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2192" cy="3194304"/>
            </a:xfrm>
            <a:custGeom>
              <a:avLst/>
              <a:gdLst/>
              <a:ahLst/>
              <a:cxnLst/>
              <a:rect l="l" t="t" r="r" b="b"/>
              <a:pathLst>
                <a:path w="12192" h="3194304">
                  <a:moveTo>
                    <a:pt x="0" y="0"/>
                  </a:moveTo>
                  <a:lnTo>
                    <a:pt x="12192" y="0"/>
                  </a:lnTo>
                  <a:lnTo>
                    <a:pt x="12192" y="3194304"/>
                  </a:lnTo>
                  <a:lnTo>
                    <a:pt x="0" y="31943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3670280" y="8982694"/>
            <a:ext cx="2034540" cy="9144"/>
            <a:chOff x="0" y="0"/>
            <a:chExt cx="2712720" cy="12192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2712720" cy="12192"/>
            </a:xfrm>
            <a:custGeom>
              <a:avLst/>
              <a:gdLst/>
              <a:ahLst/>
              <a:cxnLst/>
              <a:rect l="l" t="t" r="r" b="b"/>
              <a:pathLst>
                <a:path w="2712720" h="12192">
                  <a:moveTo>
                    <a:pt x="0" y="0"/>
                  </a:moveTo>
                  <a:lnTo>
                    <a:pt x="2712720" y="0"/>
                  </a:lnTo>
                  <a:lnTo>
                    <a:pt x="271272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3670280" y="6596110"/>
            <a:ext cx="9144" cy="2395728"/>
            <a:chOff x="0" y="0"/>
            <a:chExt cx="12192" cy="3194304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2192" cy="3194304"/>
            </a:xfrm>
            <a:custGeom>
              <a:avLst/>
              <a:gdLst/>
              <a:ahLst/>
              <a:cxnLst/>
              <a:rect l="l" t="t" r="r" b="b"/>
              <a:pathLst>
                <a:path w="12192" h="3194304">
                  <a:moveTo>
                    <a:pt x="0" y="0"/>
                  </a:moveTo>
                  <a:lnTo>
                    <a:pt x="12192" y="0"/>
                  </a:lnTo>
                  <a:lnTo>
                    <a:pt x="12192" y="3194304"/>
                  </a:lnTo>
                  <a:lnTo>
                    <a:pt x="0" y="31943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5768828" y="6596110"/>
            <a:ext cx="2034540" cy="2395728"/>
            <a:chOff x="0" y="0"/>
            <a:chExt cx="2712720" cy="3194304"/>
          </a:xfrm>
        </p:grpSpPr>
        <p:sp>
          <p:nvSpPr>
            <p:cNvPr id="66" name="Freeform 66" descr="crop-assistant.jpg"/>
            <p:cNvSpPr/>
            <p:nvPr/>
          </p:nvSpPr>
          <p:spPr>
            <a:xfrm>
              <a:off x="0" y="0"/>
              <a:ext cx="2712720" cy="3194304"/>
            </a:xfrm>
            <a:custGeom>
              <a:avLst/>
              <a:gdLst/>
              <a:ahLst/>
              <a:cxnLst/>
              <a:rect l="l" t="t" r="r" b="b"/>
              <a:pathLst>
                <a:path w="2712720" h="3194304">
                  <a:moveTo>
                    <a:pt x="0" y="0"/>
                  </a:moveTo>
                  <a:lnTo>
                    <a:pt x="2712720" y="0"/>
                  </a:lnTo>
                  <a:lnTo>
                    <a:pt x="2712720" y="3194304"/>
                  </a:lnTo>
                  <a:lnTo>
                    <a:pt x="0" y="3194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57048" r="-57047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5768828" y="6596110"/>
            <a:ext cx="2034540" cy="9144"/>
            <a:chOff x="0" y="0"/>
            <a:chExt cx="2712720" cy="12192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2712720" cy="12192"/>
            </a:xfrm>
            <a:custGeom>
              <a:avLst/>
              <a:gdLst/>
              <a:ahLst/>
              <a:cxnLst/>
              <a:rect l="l" t="t" r="r" b="b"/>
              <a:pathLst>
                <a:path w="2712720" h="12192">
                  <a:moveTo>
                    <a:pt x="0" y="0"/>
                  </a:moveTo>
                  <a:lnTo>
                    <a:pt x="2712720" y="0"/>
                  </a:lnTo>
                  <a:lnTo>
                    <a:pt x="271272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7794224" y="6596110"/>
            <a:ext cx="9144" cy="2395728"/>
            <a:chOff x="0" y="0"/>
            <a:chExt cx="12192" cy="3194304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2192" cy="3194304"/>
            </a:xfrm>
            <a:custGeom>
              <a:avLst/>
              <a:gdLst/>
              <a:ahLst/>
              <a:cxnLst/>
              <a:rect l="l" t="t" r="r" b="b"/>
              <a:pathLst>
                <a:path w="12192" h="3194304">
                  <a:moveTo>
                    <a:pt x="0" y="0"/>
                  </a:moveTo>
                  <a:lnTo>
                    <a:pt x="12192" y="0"/>
                  </a:lnTo>
                  <a:lnTo>
                    <a:pt x="12192" y="3194304"/>
                  </a:lnTo>
                  <a:lnTo>
                    <a:pt x="0" y="31943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5768828" y="8982694"/>
            <a:ext cx="2034540" cy="9144"/>
            <a:chOff x="0" y="0"/>
            <a:chExt cx="2712720" cy="12192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2712720" cy="12192"/>
            </a:xfrm>
            <a:custGeom>
              <a:avLst/>
              <a:gdLst/>
              <a:ahLst/>
              <a:cxnLst/>
              <a:rect l="l" t="t" r="r" b="b"/>
              <a:pathLst>
                <a:path w="2712720" h="12192">
                  <a:moveTo>
                    <a:pt x="0" y="0"/>
                  </a:moveTo>
                  <a:lnTo>
                    <a:pt x="2712720" y="0"/>
                  </a:lnTo>
                  <a:lnTo>
                    <a:pt x="271272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5768828" y="6596110"/>
            <a:ext cx="9144" cy="2395728"/>
            <a:chOff x="0" y="0"/>
            <a:chExt cx="12192" cy="3194304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2192" cy="3194304"/>
            </a:xfrm>
            <a:custGeom>
              <a:avLst/>
              <a:gdLst/>
              <a:ahLst/>
              <a:cxnLst/>
              <a:rect l="l" t="t" r="r" b="b"/>
              <a:pathLst>
                <a:path w="12192" h="3194304">
                  <a:moveTo>
                    <a:pt x="0" y="0"/>
                  </a:moveTo>
                  <a:lnTo>
                    <a:pt x="12192" y="0"/>
                  </a:lnTo>
                  <a:lnTo>
                    <a:pt x="12192" y="3194304"/>
                  </a:lnTo>
                  <a:lnTo>
                    <a:pt x="0" y="31943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3704570" y="5779255"/>
            <a:ext cx="4114800" cy="9144"/>
            <a:chOff x="0" y="0"/>
            <a:chExt cx="5486400" cy="12192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5486400" cy="12192"/>
            </a:xfrm>
            <a:custGeom>
              <a:avLst/>
              <a:gdLst/>
              <a:ahLst/>
              <a:cxnLst/>
              <a:rect l="l" t="t" r="r" b="b"/>
              <a:pathLst>
                <a:path w="5486400" h="12192">
                  <a:moveTo>
                    <a:pt x="0" y="0"/>
                  </a:moveTo>
                  <a:lnTo>
                    <a:pt x="5486400" y="0"/>
                  </a:lnTo>
                  <a:lnTo>
                    <a:pt x="548640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502920" y="1827914"/>
            <a:ext cx="7346290" cy="31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5"/>
              </a:lnSpc>
            </a:pPr>
            <a:r>
              <a:rPr lang="en-US" sz="1575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PROPOSED SOLUTION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502920" y="2192512"/>
            <a:ext cx="7346290" cy="502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sz="1575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A browser platform that cuts a </a:t>
            </a:r>
            <a:r>
              <a:rPr lang="en-US" sz="1575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3D block out of the ocean model, anywhere, on any day from 1993 to the forecast</a:t>
            </a:r>
            <a:r>
              <a:rPr lang="en-US" sz="1575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, and stands the real Argo floats inside it.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502920" y="6549095"/>
            <a:ext cx="7346290" cy="666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9"/>
              </a:lnSpc>
            </a:pPr>
            <a:r>
              <a:rPr lang="en-US" sz="1299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Working prototype, captured.</a:t>
            </a:r>
            <a:r>
              <a:rPr lang="en-US" sz="129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 The Bay of Bengal on 2020-05-14, before Cyclone Amphan, cut open to 1,000 m on the model's 35 native depth levels; each dashed stick is one of 17 Argo floats within two days.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502920" y="7264165"/>
            <a:ext cx="7346290" cy="277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7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DETAILED EXPLANATION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502920" y="7621267"/>
            <a:ext cx="6915706" cy="572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3"/>
              </a:lnSpc>
            </a:pPr>
            <a:r>
              <a:rPr lang="en-US" sz="1749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Model:</a:t>
            </a:r>
            <a:r>
              <a:rPr lang="en-US" sz="1749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 Copernicus GLORYS12 and PISCES, read from the cloud; the INCOIS Argo analysis for the Bay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502920" y="8161620"/>
            <a:ext cx="6915706" cy="572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3"/>
              </a:lnSpc>
            </a:pPr>
            <a:r>
              <a:rPr lang="en-US" sz="1749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Instruments:</a:t>
            </a:r>
            <a:r>
              <a:rPr lang="en-US" sz="1749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 Argo and BGC floats, gliders, RAMA moorings, CTD casts, each with its QC state and source file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502920" y="8701973"/>
            <a:ext cx="7346290" cy="572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3"/>
              </a:lnSpc>
            </a:pPr>
            <a:r>
              <a:rPr lang="en-US" sz="1749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Views:</a:t>
            </a:r>
            <a:r>
              <a:rPr lang="en-US" sz="1749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 Region 3D, Map 2D, Globe, Fly, immersive; winds, waves, currents, fishing zones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7955280" y="1818389"/>
            <a:ext cx="5556809" cy="310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3"/>
              </a:lnSpc>
            </a:pPr>
            <a:r>
              <a:rPr lang="en-US" sz="1774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HOW IT ADDRESSES THE PROBLEM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7955280" y="2171357"/>
            <a:ext cx="5556809" cy="252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9"/>
              </a:lnSpc>
            </a:pPr>
            <a:r>
              <a:rPr lang="en-US" sz="120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The five gaps the problem statement lists, and our answer to each.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7955280" y="2626042"/>
            <a:ext cx="5556809" cy="26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425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No browser-based 3D, depth-resolved view of model fields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7955280" y="2860891"/>
            <a:ext cx="5556809" cy="554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sz="164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a block of any box and day, cut open, in any browser; the INCOIS analysis as a true 3D volume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7955280" y="3591744"/>
            <a:ext cx="5556809" cy="26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425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Argo and glider profiles not shown alongside model fields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7955280" y="3867588"/>
            <a:ext cx="5556809" cy="554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sz="164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floats stand inside the model as sticks; click one for its profile against the model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7955280" y="4588916"/>
            <a:ext cx="5556809" cy="26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425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No controls for variable, depth slice, time step, colour bar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7955280" y="4893335"/>
            <a:ext cx="5556809" cy="498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7"/>
              </a:lnSpc>
            </a:pPr>
            <a:r>
              <a:rPr lang="en-US" sz="154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23 variables, cut planes, time-step animation (Play), palette, range and log scale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7955280" y="5538464"/>
            <a:ext cx="5556809" cy="26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425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New data streams need re-engineering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7955280" y="5807909"/>
            <a:ext cx="5724144" cy="498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7"/>
              </a:lnSpc>
            </a:pPr>
            <a:r>
              <a:rPr lang="en-US" sz="154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a variable or ML product is one catalogue line; a sensor, one registry entry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7955280" y="6432947"/>
            <a:ext cx="5556809" cy="26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425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No tools for rapid understanding and decisions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7955280" y="6686845"/>
            <a:ext cx="5556809" cy="1241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7"/>
              </a:lnSpc>
            </a:pPr>
            <a:r>
              <a:rPr lang="en-US" sz="154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an AI assistant builds the view you ask for; fishing advisories; cyclone heat potential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8092440" y="8263318"/>
            <a:ext cx="5274259" cy="303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15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Also asked for by name, and built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8092440" y="8562565"/>
            <a:ext cx="5013960" cy="665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62"/>
              </a:lnSpc>
            </a:pP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Isosurface (the 20 °C isotherm, Bay volume) · layer opacity · vertical exaggeration · NetCDF and text parsers · REST API · OGC WMS (Bay layers) · ADCP and HF-radar readers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3670280" y="1827914"/>
            <a:ext cx="4238244" cy="31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5"/>
              </a:lnSpc>
            </a:pPr>
            <a:r>
              <a:rPr lang="en-US" sz="1575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INNOVATION AND UNIQUENESS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3670280" y="2283571"/>
            <a:ext cx="4238244" cy="23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425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Floats inside the model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3670280" y="2529316"/>
            <a:ext cx="4238244" cy="444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click one: its readings beside the model's, on the float's own day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13670280" y="2983659"/>
            <a:ext cx="4238244" cy="23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425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No archive to build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13674852" y="3674031"/>
            <a:ext cx="4238244" cy="26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425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The model is checked too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13679424" y="3894630"/>
            <a:ext cx="4238244" cy="414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impossible values masked and counted; INCOIS error drawn faint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13679424" y="4394883"/>
            <a:ext cx="4238244" cy="23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425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An assistant that acts (AI Chatbot)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13674852" y="4633579"/>
            <a:ext cx="4238244" cy="414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data only via our API tools; untraceable numbers flagged; built the asked-for cube 5 of 5 times, median 4.6 s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13658850" y="5114925"/>
            <a:ext cx="4238244" cy="23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425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A course on live data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13654278" y="5345297"/>
            <a:ext cx="4238244" cy="414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six lessons, class 8–12; quiz answers read from the cube on screen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13670280" y="8979932"/>
            <a:ext cx="1935767" cy="52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7"/>
              </a:lnSpc>
            </a:pPr>
            <a:r>
              <a:rPr lang="en-US" sz="149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a float's profile vs model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15768828" y="8979932"/>
            <a:ext cx="2076736" cy="52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7"/>
              </a:lnSpc>
            </a:pPr>
            <a:r>
              <a:rPr lang="en-US" sz="149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Arabian Sea, built by the assistant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3683996" y="5807593"/>
            <a:ext cx="4238244" cy="23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425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A flight view (surface through the sky)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13679424" y="6037965"/>
            <a:ext cx="4238244" cy="414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fly a few kilometres above the sea and coast, as a pilot sees it</a:t>
            </a:r>
          </a:p>
        </p:txBody>
      </p:sp>
      <p:grpSp>
        <p:nvGrpSpPr>
          <p:cNvPr id="113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4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15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16" name="Group 10"/>
          <p:cNvGrpSpPr/>
          <p:nvPr/>
        </p:nvGrpSpPr>
        <p:grpSpPr>
          <a:xfrm>
            <a:off x="3000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17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Team Null · K26125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926" b="-136926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-92869"/>
            <a:ext cx="16459200" cy="1735931"/>
            <a:chOff x="0" y="0"/>
            <a:chExt cx="21945600" cy="23145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45600" cy="2314575"/>
            </a:xfrm>
            <a:custGeom>
              <a:avLst/>
              <a:gdLst/>
              <a:ahLst/>
              <a:cxnLst/>
              <a:rect l="l" t="t" r="r" b="b"/>
              <a:pathLst>
                <a:path w="21945600" h="2314575">
                  <a:moveTo>
                    <a:pt x="0" y="0"/>
                  </a:moveTo>
                  <a:lnTo>
                    <a:pt x="21945600" y="0"/>
                  </a:lnTo>
                  <a:lnTo>
                    <a:pt x="21945600" y="2314575"/>
                  </a:lnTo>
                  <a:lnTo>
                    <a:pt x="0" y="23145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4747" b="-134747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1945600" cy="23431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483247" y="9639300"/>
            <a:ext cx="4267200" cy="547688"/>
            <a:chOff x="0" y="0"/>
            <a:chExt cx="5689600" cy="730250"/>
          </a:xfrm>
        </p:grpSpPr>
        <p:sp>
          <p:nvSpPr>
            <p:cNvPr id="136" name="Freeform 10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707" b="-101709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483247" y="9625012"/>
            <a:ext cx="4267200" cy="561975"/>
            <a:chOff x="0" y="0"/>
            <a:chExt cx="5689600" cy="749300"/>
          </a:xfrm>
        </p:grpSpPr>
        <p:sp>
          <p:nvSpPr>
            <p:cNvPr id="137" name="Freeform 12"/>
            <p:cNvSpPr/>
            <p:nvPr/>
          </p:nvSpPr>
          <p:spPr>
            <a:xfrm>
              <a:off x="0" y="0"/>
              <a:ext cx="5689600" cy="749301"/>
            </a:xfrm>
            <a:custGeom>
              <a:avLst/>
              <a:gdLst/>
              <a:ahLst/>
              <a:cxnLst/>
              <a:rect l="l" t="t" r="r" b="b"/>
              <a:pathLst>
                <a:path w="5689600" h="749301">
                  <a:moveTo>
                    <a:pt x="0" y="0"/>
                  </a:moveTo>
                  <a:lnTo>
                    <a:pt x="5689600" y="0"/>
                  </a:lnTo>
                  <a:lnTo>
                    <a:pt x="5689600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7954" b="-97954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741000" y="9596247"/>
            <a:ext cx="4806001" cy="547688"/>
            <a:chOff x="0" y="0"/>
            <a:chExt cx="6408001" cy="7302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408039" cy="730250"/>
            </a:xfrm>
            <a:custGeom>
              <a:avLst/>
              <a:gdLst/>
              <a:ahLst/>
              <a:cxnLst/>
              <a:rect l="l" t="t" r="r" b="b"/>
              <a:pathLst>
                <a:path w="6408039" h="730250">
                  <a:moveTo>
                    <a:pt x="0" y="0"/>
                  </a:moveTo>
                  <a:lnTo>
                    <a:pt x="6408039" y="0"/>
                  </a:lnTo>
                  <a:lnTo>
                    <a:pt x="6408039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864" b="-120862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70129" y="2248"/>
            <a:ext cx="3374803" cy="1593532"/>
            <a:chOff x="0" y="0"/>
            <a:chExt cx="4499737" cy="212471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2" b="-21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28046" y="378371"/>
            <a:ext cx="1211008" cy="1211008"/>
            <a:chOff x="0" y="0"/>
            <a:chExt cx="1614678" cy="1614678"/>
          </a:xfrm>
        </p:grpSpPr>
        <p:sp>
          <p:nvSpPr>
            <p:cNvPr id="19" name="Freeform 19" descr="logo.png"/>
            <p:cNvSpPr/>
            <p:nvPr/>
          </p:nvSpPr>
          <p:spPr>
            <a:xfrm>
              <a:off x="0" y="0"/>
              <a:ext cx="1614678" cy="1614678"/>
            </a:xfrm>
            <a:custGeom>
              <a:avLst/>
              <a:gdLst/>
              <a:ahLst/>
              <a:cxnLst/>
              <a:rect l="l" t="t" r="r" b="b"/>
              <a:pathLst>
                <a:path w="1614678" h="1614678">
                  <a:moveTo>
                    <a:pt x="0" y="0"/>
                  </a:moveTo>
                  <a:lnTo>
                    <a:pt x="1614678" y="0"/>
                  </a:lnTo>
                  <a:lnTo>
                    <a:pt x="1614678" y="1614678"/>
                  </a:lnTo>
                  <a:lnTo>
                    <a:pt x="0" y="16146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93395" y="2185035"/>
            <a:ext cx="2030730" cy="3603117"/>
            <a:chOff x="0" y="0"/>
            <a:chExt cx="2707640" cy="480415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707640" cy="4804156"/>
            </a:xfrm>
            <a:custGeom>
              <a:avLst/>
              <a:gdLst/>
              <a:ahLst/>
              <a:cxnLst/>
              <a:rect l="l" t="t" r="r" b="b"/>
              <a:pathLst>
                <a:path w="2707640" h="4804156">
                  <a:moveTo>
                    <a:pt x="0" y="0"/>
                  </a:moveTo>
                  <a:lnTo>
                    <a:pt x="2707640" y="0"/>
                  </a:lnTo>
                  <a:lnTo>
                    <a:pt x="2707640" y="4804156"/>
                  </a:lnTo>
                  <a:lnTo>
                    <a:pt x="0" y="480415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190875" y="2185035"/>
            <a:ext cx="4499610" cy="6126861"/>
            <a:chOff x="0" y="0"/>
            <a:chExt cx="5999480" cy="816914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999480" cy="8169148"/>
            </a:xfrm>
            <a:custGeom>
              <a:avLst/>
              <a:gdLst/>
              <a:ahLst/>
              <a:cxnLst/>
              <a:rect l="l" t="t" r="r" b="b"/>
              <a:pathLst>
                <a:path w="5999480" h="8169148">
                  <a:moveTo>
                    <a:pt x="0" y="0"/>
                  </a:moveTo>
                  <a:lnTo>
                    <a:pt x="5999480" y="0"/>
                  </a:lnTo>
                  <a:lnTo>
                    <a:pt x="5999480" y="8169148"/>
                  </a:lnTo>
                  <a:lnTo>
                    <a:pt x="0" y="8169148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378517" y="3287078"/>
            <a:ext cx="4124325" cy="667893"/>
            <a:chOff x="0" y="0"/>
            <a:chExt cx="5499100" cy="89052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499100" cy="890524"/>
            </a:xfrm>
            <a:custGeom>
              <a:avLst/>
              <a:gdLst/>
              <a:ahLst/>
              <a:cxnLst/>
              <a:rect l="l" t="t" r="r" b="b"/>
              <a:pathLst>
                <a:path w="5499100" h="890524">
                  <a:moveTo>
                    <a:pt x="0" y="0"/>
                  </a:moveTo>
                  <a:lnTo>
                    <a:pt x="5499100" y="0"/>
                  </a:lnTo>
                  <a:lnTo>
                    <a:pt x="5499100" y="890524"/>
                  </a:lnTo>
                  <a:lnTo>
                    <a:pt x="0" y="89052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378517" y="4110038"/>
            <a:ext cx="4124325" cy="923925"/>
            <a:chOff x="0" y="0"/>
            <a:chExt cx="5499100" cy="12319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499100" cy="1231900"/>
            </a:xfrm>
            <a:custGeom>
              <a:avLst/>
              <a:gdLst/>
              <a:ahLst/>
              <a:cxnLst/>
              <a:rect l="l" t="t" r="r" b="b"/>
              <a:pathLst>
                <a:path w="5499100" h="1231900">
                  <a:moveTo>
                    <a:pt x="0" y="0"/>
                  </a:moveTo>
                  <a:lnTo>
                    <a:pt x="5499100" y="0"/>
                  </a:lnTo>
                  <a:lnTo>
                    <a:pt x="5499100" y="1231900"/>
                  </a:lnTo>
                  <a:lnTo>
                    <a:pt x="0" y="12319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378517" y="5189030"/>
            <a:ext cx="4124325" cy="923925"/>
            <a:chOff x="0" y="0"/>
            <a:chExt cx="5499100" cy="12319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499100" cy="1231900"/>
            </a:xfrm>
            <a:custGeom>
              <a:avLst/>
              <a:gdLst/>
              <a:ahLst/>
              <a:cxnLst/>
              <a:rect l="l" t="t" r="r" b="b"/>
              <a:pathLst>
                <a:path w="5499100" h="1231900">
                  <a:moveTo>
                    <a:pt x="0" y="0"/>
                  </a:moveTo>
                  <a:lnTo>
                    <a:pt x="5499100" y="0"/>
                  </a:lnTo>
                  <a:lnTo>
                    <a:pt x="5499100" y="1231900"/>
                  </a:lnTo>
                  <a:lnTo>
                    <a:pt x="0" y="12319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378517" y="6268021"/>
            <a:ext cx="4124325" cy="923925"/>
            <a:chOff x="0" y="0"/>
            <a:chExt cx="5499100" cy="12319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499100" cy="1231900"/>
            </a:xfrm>
            <a:custGeom>
              <a:avLst/>
              <a:gdLst/>
              <a:ahLst/>
              <a:cxnLst/>
              <a:rect l="l" t="t" r="r" b="b"/>
              <a:pathLst>
                <a:path w="5499100" h="1231900">
                  <a:moveTo>
                    <a:pt x="0" y="0"/>
                  </a:moveTo>
                  <a:lnTo>
                    <a:pt x="5499100" y="0"/>
                  </a:lnTo>
                  <a:lnTo>
                    <a:pt x="5499100" y="1231900"/>
                  </a:lnTo>
                  <a:lnTo>
                    <a:pt x="0" y="12319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378518" y="7347014"/>
            <a:ext cx="4124325" cy="809435"/>
            <a:chOff x="0" y="0"/>
            <a:chExt cx="5499100" cy="107924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499100" cy="1079246"/>
            </a:xfrm>
            <a:custGeom>
              <a:avLst/>
              <a:gdLst/>
              <a:ahLst/>
              <a:cxnLst/>
              <a:rect l="l" t="t" r="r" b="b"/>
              <a:pathLst>
                <a:path w="5499100" h="1079246">
                  <a:moveTo>
                    <a:pt x="0" y="0"/>
                  </a:moveTo>
                  <a:lnTo>
                    <a:pt x="5499100" y="0"/>
                  </a:lnTo>
                  <a:lnTo>
                    <a:pt x="5499100" y="1079246"/>
                  </a:lnTo>
                  <a:lnTo>
                    <a:pt x="0" y="107924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357235" y="2185035"/>
            <a:ext cx="5414010" cy="6602730"/>
            <a:chOff x="0" y="0"/>
            <a:chExt cx="7218680" cy="880364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218680" cy="8803640"/>
            </a:xfrm>
            <a:custGeom>
              <a:avLst/>
              <a:gdLst/>
              <a:ahLst/>
              <a:cxnLst/>
              <a:rect l="l" t="t" r="r" b="b"/>
              <a:pathLst>
                <a:path w="7218680" h="8803640">
                  <a:moveTo>
                    <a:pt x="0" y="0"/>
                  </a:moveTo>
                  <a:lnTo>
                    <a:pt x="7218680" y="0"/>
                  </a:lnTo>
                  <a:lnTo>
                    <a:pt x="7218680" y="8803640"/>
                  </a:lnTo>
                  <a:lnTo>
                    <a:pt x="0" y="880364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544878" y="3287078"/>
            <a:ext cx="5038725" cy="923925"/>
            <a:chOff x="0" y="0"/>
            <a:chExt cx="6718300" cy="12319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718300" cy="1231900"/>
            </a:xfrm>
            <a:custGeom>
              <a:avLst/>
              <a:gdLst/>
              <a:ahLst/>
              <a:cxnLst/>
              <a:rect l="l" t="t" r="r" b="b"/>
              <a:pathLst>
                <a:path w="6718300" h="1231900">
                  <a:moveTo>
                    <a:pt x="0" y="0"/>
                  </a:moveTo>
                  <a:lnTo>
                    <a:pt x="6718300" y="0"/>
                  </a:lnTo>
                  <a:lnTo>
                    <a:pt x="6718300" y="1231900"/>
                  </a:lnTo>
                  <a:lnTo>
                    <a:pt x="0" y="12319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sp>
        <p:nvSpPr>
          <p:cNvPr id="38" name="AutoShape 38"/>
          <p:cNvSpPr/>
          <p:nvPr/>
        </p:nvSpPr>
        <p:spPr>
          <a:xfrm rot="5098380">
            <a:off x="8824817" y="4283774"/>
            <a:ext cx="181166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/>
          </a:p>
        </p:txBody>
      </p:sp>
      <p:grpSp>
        <p:nvGrpSpPr>
          <p:cNvPr id="39" name="Group 39"/>
          <p:cNvGrpSpPr/>
          <p:nvPr/>
        </p:nvGrpSpPr>
        <p:grpSpPr>
          <a:xfrm>
            <a:off x="8544878" y="4366070"/>
            <a:ext cx="5038725" cy="923925"/>
            <a:chOff x="0" y="0"/>
            <a:chExt cx="6718300" cy="12319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6718300" cy="1231900"/>
            </a:xfrm>
            <a:custGeom>
              <a:avLst/>
              <a:gdLst/>
              <a:ahLst/>
              <a:cxnLst/>
              <a:rect l="l" t="t" r="r" b="b"/>
              <a:pathLst>
                <a:path w="6718300" h="1231900">
                  <a:moveTo>
                    <a:pt x="0" y="0"/>
                  </a:moveTo>
                  <a:lnTo>
                    <a:pt x="6718300" y="0"/>
                  </a:lnTo>
                  <a:lnTo>
                    <a:pt x="6718300" y="1231900"/>
                  </a:lnTo>
                  <a:lnTo>
                    <a:pt x="0" y="12319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sp>
        <p:nvSpPr>
          <p:cNvPr id="41" name="AutoShape 41"/>
          <p:cNvSpPr/>
          <p:nvPr/>
        </p:nvSpPr>
        <p:spPr>
          <a:xfrm rot="5098380">
            <a:off x="8824817" y="5362766"/>
            <a:ext cx="181166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/>
          </a:p>
        </p:txBody>
      </p:sp>
      <p:grpSp>
        <p:nvGrpSpPr>
          <p:cNvPr id="42" name="Group 42"/>
          <p:cNvGrpSpPr/>
          <p:nvPr/>
        </p:nvGrpSpPr>
        <p:grpSpPr>
          <a:xfrm>
            <a:off x="8544878" y="5445062"/>
            <a:ext cx="5038725" cy="923925"/>
            <a:chOff x="0" y="0"/>
            <a:chExt cx="6718300" cy="12319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6718300" cy="1231900"/>
            </a:xfrm>
            <a:custGeom>
              <a:avLst/>
              <a:gdLst/>
              <a:ahLst/>
              <a:cxnLst/>
              <a:rect l="l" t="t" r="r" b="b"/>
              <a:pathLst>
                <a:path w="6718300" h="1231900">
                  <a:moveTo>
                    <a:pt x="0" y="0"/>
                  </a:moveTo>
                  <a:lnTo>
                    <a:pt x="6718300" y="0"/>
                  </a:lnTo>
                  <a:lnTo>
                    <a:pt x="6718300" y="1231900"/>
                  </a:lnTo>
                  <a:lnTo>
                    <a:pt x="0" y="12319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sp>
        <p:nvSpPr>
          <p:cNvPr id="44" name="AutoShape 44"/>
          <p:cNvSpPr/>
          <p:nvPr/>
        </p:nvSpPr>
        <p:spPr>
          <a:xfrm rot="5098380">
            <a:off x="8824817" y="6441758"/>
            <a:ext cx="181166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/>
          </a:p>
        </p:txBody>
      </p:sp>
      <p:grpSp>
        <p:nvGrpSpPr>
          <p:cNvPr id="45" name="Group 45"/>
          <p:cNvGrpSpPr/>
          <p:nvPr/>
        </p:nvGrpSpPr>
        <p:grpSpPr>
          <a:xfrm>
            <a:off x="8544878" y="6524054"/>
            <a:ext cx="5038725" cy="923925"/>
            <a:chOff x="0" y="0"/>
            <a:chExt cx="6718300" cy="12319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6718300" cy="1231900"/>
            </a:xfrm>
            <a:custGeom>
              <a:avLst/>
              <a:gdLst/>
              <a:ahLst/>
              <a:cxnLst/>
              <a:rect l="l" t="t" r="r" b="b"/>
              <a:pathLst>
                <a:path w="6718300" h="1231900">
                  <a:moveTo>
                    <a:pt x="0" y="0"/>
                  </a:moveTo>
                  <a:lnTo>
                    <a:pt x="6718300" y="0"/>
                  </a:lnTo>
                  <a:lnTo>
                    <a:pt x="6718300" y="1231900"/>
                  </a:lnTo>
                  <a:lnTo>
                    <a:pt x="0" y="12319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544878" y="7694486"/>
            <a:ext cx="5038725" cy="923925"/>
            <a:chOff x="0" y="0"/>
            <a:chExt cx="6718300" cy="12319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6718300" cy="1231900"/>
            </a:xfrm>
            <a:custGeom>
              <a:avLst/>
              <a:gdLst/>
              <a:ahLst/>
              <a:cxnLst/>
              <a:rect l="l" t="t" r="r" b="b"/>
              <a:pathLst>
                <a:path w="6718300" h="1231900">
                  <a:moveTo>
                    <a:pt x="0" y="0"/>
                  </a:moveTo>
                  <a:lnTo>
                    <a:pt x="6718300" y="0"/>
                  </a:lnTo>
                  <a:lnTo>
                    <a:pt x="6718300" y="1231900"/>
                  </a:lnTo>
                  <a:lnTo>
                    <a:pt x="0" y="12319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4483715" y="2185035"/>
            <a:ext cx="3310890" cy="6602730"/>
            <a:chOff x="0" y="0"/>
            <a:chExt cx="4414520" cy="880364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4414520" cy="8803640"/>
            </a:xfrm>
            <a:custGeom>
              <a:avLst/>
              <a:gdLst/>
              <a:ahLst/>
              <a:cxnLst/>
              <a:rect l="l" t="t" r="r" b="b"/>
              <a:pathLst>
                <a:path w="4414520" h="8803640">
                  <a:moveTo>
                    <a:pt x="0" y="0"/>
                  </a:moveTo>
                  <a:lnTo>
                    <a:pt x="4414520" y="0"/>
                  </a:lnTo>
                  <a:lnTo>
                    <a:pt x="4414520" y="8803640"/>
                  </a:lnTo>
                  <a:lnTo>
                    <a:pt x="0" y="880364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4671357" y="3287078"/>
            <a:ext cx="2935605" cy="576453"/>
            <a:chOff x="0" y="0"/>
            <a:chExt cx="3914140" cy="768604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3914140" cy="768604"/>
            </a:xfrm>
            <a:custGeom>
              <a:avLst/>
              <a:gdLst/>
              <a:ahLst/>
              <a:cxnLst/>
              <a:rect l="l" t="t" r="r" b="b"/>
              <a:pathLst>
                <a:path w="3914140" h="768604">
                  <a:moveTo>
                    <a:pt x="0" y="0"/>
                  </a:moveTo>
                  <a:lnTo>
                    <a:pt x="3914140" y="0"/>
                  </a:lnTo>
                  <a:lnTo>
                    <a:pt x="3914140" y="768604"/>
                  </a:lnTo>
                  <a:lnTo>
                    <a:pt x="0" y="76860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4671357" y="3945446"/>
            <a:ext cx="2935605" cy="576453"/>
            <a:chOff x="0" y="0"/>
            <a:chExt cx="3914140" cy="768604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3914140" cy="768604"/>
            </a:xfrm>
            <a:custGeom>
              <a:avLst/>
              <a:gdLst/>
              <a:ahLst/>
              <a:cxnLst/>
              <a:rect l="l" t="t" r="r" b="b"/>
              <a:pathLst>
                <a:path w="3914140" h="768604">
                  <a:moveTo>
                    <a:pt x="0" y="0"/>
                  </a:moveTo>
                  <a:lnTo>
                    <a:pt x="3914140" y="0"/>
                  </a:lnTo>
                  <a:lnTo>
                    <a:pt x="3914140" y="768604"/>
                  </a:lnTo>
                  <a:lnTo>
                    <a:pt x="0" y="76860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4671357" y="4603814"/>
            <a:ext cx="2935605" cy="576453"/>
            <a:chOff x="0" y="0"/>
            <a:chExt cx="3914140" cy="768604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3914140" cy="768604"/>
            </a:xfrm>
            <a:custGeom>
              <a:avLst/>
              <a:gdLst/>
              <a:ahLst/>
              <a:cxnLst/>
              <a:rect l="l" t="t" r="r" b="b"/>
              <a:pathLst>
                <a:path w="3914140" h="768604">
                  <a:moveTo>
                    <a:pt x="0" y="0"/>
                  </a:moveTo>
                  <a:lnTo>
                    <a:pt x="3914140" y="0"/>
                  </a:lnTo>
                  <a:lnTo>
                    <a:pt x="3914140" y="768604"/>
                  </a:lnTo>
                  <a:lnTo>
                    <a:pt x="0" y="76860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4671357" y="5262182"/>
            <a:ext cx="2935605" cy="576453"/>
            <a:chOff x="0" y="0"/>
            <a:chExt cx="3914140" cy="768604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3914140" cy="768604"/>
            </a:xfrm>
            <a:custGeom>
              <a:avLst/>
              <a:gdLst/>
              <a:ahLst/>
              <a:cxnLst/>
              <a:rect l="l" t="t" r="r" b="b"/>
              <a:pathLst>
                <a:path w="3914140" h="768604">
                  <a:moveTo>
                    <a:pt x="0" y="0"/>
                  </a:moveTo>
                  <a:lnTo>
                    <a:pt x="3914140" y="0"/>
                  </a:lnTo>
                  <a:lnTo>
                    <a:pt x="3914140" y="768604"/>
                  </a:lnTo>
                  <a:lnTo>
                    <a:pt x="0" y="76860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4671357" y="5920550"/>
            <a:ext cx="2935605" cy="576453"/>
            <a:chOff x="0" y="0"/>
            <a:chExt cx="3914140" cy="768604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3914140" cy="768604"/>
            </a:xfrm>
            <a:custGeom>
              <a:avLst/>
              <a:gdLst/>
              <a:ahLst/>
              <a:cxnLst/>
              <a:rect l="l" t="t" r="r" b="b"/>
              <a:pathLst>
                <a:path w="3914140" h="768604">
                  <a:moveTo>
                    <a:pt x="0" y="0"/>
                  </a:moveTo>
                  <a:lnTo>
                    <a:pt x="3914140" y="0"/>
                  </a:lnTo>
                  <a:lnTo>
                    <a:pt x="3914140" y="768604"/>
                  </a:lnTo>
                  <a:lnTo>
                    <a:pt x="0" y="76860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4671357" y="7694486"/>
            <a:ext cx="2935605" cy="923925"/>
            <a:chOff x="0" y="0"/>
            <a:chExt cx="3914140" cy="12319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3914140" cy="1231900"/>
            </a:xfrm>
            <a:custGeom>
              <a:avLst/>
              <a:gdLst/>
              <a:ahLst/>
              <a:cxnLst/>
              <a:rect l="l" t="t" r="r" b="b"/>
              <a:pathLst>
                <a:path w="3914140" h="1231900">
                  <a:moveTo>
                    <a:pt x="0" y="0"/>
                  </a:moveTo>
                  <a:lnTo>
                    <a:pt x="3914140" y="0"/>
                  </a:lnTo>
                  <a:lnTo>
                    <a:pt x="3914140" y="1231900"/>
                  </a:lnTo>
                  <a:lnTo>
                    <a:pt x="0" y="12319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sp>
        <p:nvSpPr>
          <p:cNvPr id="63" name="AutoShape 63"/>
          <p:cNvSpPr/>
          <p:nvPr/>
        </p:nvSpPr>
        <p:spPr>
          <a:xfrm rot="77760">
            <a:off x="2506570" y="5207318"/>
            <a:ext cx="701859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/>
          </a:p>
        </p:txBody>
      </p:sp>
      <p:grpSp>
        <p:nvGrpSpPr>
          <p:cNvPr id="64" name="Group 64"/>
          <p:cNvGrpSpPr/>
          <p:nvPr/>
        </p:nvGrpSpPr>
        <p:grpSpPr>
          <a:xfrm>
            <a:off x="2423160" y="4828032"/>
            <a:ext cx="868680" cy="347472"/>
            <a:chOff x="0" y="0"/>
            <a:chExt cx="1158240" cy="463296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158240" cy="463296"/>
            </a:xfrm>
            <a:custGeom>
              <a:avLst/>
              <a:gdLst/>
              <a:ahLst/>
              <a:cxnLst/>
              <a:rect l="l" t="t" r="r" b="b"/>
              <a:pathLst>
                <a:path w="1158240" h="463296">
                  <a:moveTo>
                    <a:pt x="0" y="0"/>
                  </a:moveTo>
                  <a:lnTo>
                    <a:pt x="1158240" y="0"/>
                  </a:lnTo>
                  <a:lnTo>
                    <a:pt x="1158240" y="463296"/>
                  </a:lnTo>
                  <a:lnTo>
                    <a:pt x="0" y="4632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321" r="-1321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0"/>
              <a:ext cx="1158240" cy="46329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1199"/>
                </a:lnSpc>
              </a:pPr>
              <a:r>
                <a:rPr lang="en-US" sz="9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uses</a:t>
              </a:r>
            </a:p>
          </p:txBody>
        </p:sp>
      </p:grpSp>
      <p:sp>
        <p:nvSpPr>
          <p:cNvPr id="67" name="AutoShape 67"/>
          <p:cNvSpPr/>
          <p:nvPr/>
        </p:nvSpPr>
        <p:spPr>
          <a:xfrm rot="77760">
            <a:off x="7672930" y="5207318"/>
            <a:ext cx="701859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/>
          </a:p>
        </p:txBody>
      </p:sp>
      <p:grpSp>
        <p:nvGrpSpPr>
          <p:cNvPr id="68" name="Group 68"/>
          <p:cNvGrpSpPr/>
          <p:nvPr/>
        </p:nvGrpSpPr>
        <p:grpSpPr>
          <a:xfrm>
            <a:off x="7589520" y="4828032"/>
            <a:ext cx="868680" cy="347472"/>
            <a:chOff x="0" y="0"/>
            <a:chExt cx="1158240" cy="463296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158240" cy="463296"/>
            </a:xfrm>
            <a:custGeom>
              <a:avLst/>
              <a:gdLst/>
              <a:ahLst/>
              <a:cxnLst/>
              <a:rect l="l" t="t" r="r" b="b"/>
              <a:pathLst>
                <a:path w="1158240" h="463296">
                  <a:moveTo>
                    <a:pt x="0" y="0"/>
                  </a:moveTo>
                  <a:lnTo>
                    <a:pt x="1158240" y="0"/>
                  </a:lnTo>
                  <a:lnTo>
                    <a:pt x="1158240" y="463296"/>
                  </a:lnTo>
                  <a:lnTo>
                    <a:pt x="0" y="4632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321" r="-1321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0"/>
              <a:ext cx="1158240" cy="46329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1199"/>
                </a:lnSpc>
              </a:pPr>
              <a:r>
                <a:rPr lang="en-US" sz="9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request</a:t>
              </a:r>
            </a:p>
          </p:txBody>
        </p:sp>
      </p:grpSp>
      <p:sp>
        <p:nvSpPr>
          <p:cNvPr id="71" name="AutoShape 71"/>
          <p:cNvSpPr/>
          <p:nvPr/>
        </p:nvSpPr>
        <p:spPr>
          <a:xfrm rot="73020">
            <a:off x="13753700" y="3744278"/>
            <a:ext cx="74756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/>
          </a:p>
        </p:txBody>
      </p:sp>
      <p:grpSp>
        <p:nvGrpSpPr>
          <p:cNvPr id="72" name="Group 72"/>
          <p:cNvGrpSpPr/>
          <p:nvPr/>
        </p:nvGrpSpPr>
        <p:grpSpPr>
          <a:xfrm>
            <a:off x="13670280" y="3364992"/>
            <a:ext cx="914400" cy="347472"/>
            <a:chOff x="0" y="0"/>
            <a:chExt cx="1219200" cy="463296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219199" cy="463296"/>
            </a:xfrm>
            <a:custGeom>
              <a:avLst/>
              <a:gdLst/>
              <a:ahLst/>
              <a:cxnLst/>
              <a:rect l="l" t="t" r="r" b="b"/>
              <a:pathLst>
                <a:path w="1219199" h="463296">
                  <a:moveTo>
                    <a:pt x="0" y="0"/>
                  </a:moveTo>
                  <a:lnTo>
                    <a:pt x="1219199" y="0"/>
                  </a:lnTo>
                  <a:lnTo>
                    <a:pt x="1219199" y="463296"/>
                  </a:lnTo>
                  <a:lnTo>
                    <a:pt x="0" y="4632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76" b="-1276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0"/>
              <a:ext cx="1219200" cy="46329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1199"/>
                </a:lnSpc>
              </a:pPr>
              <a:r>
                <a:rPr lang="en-US" sz="9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box only</a:t>
              </a:r>
            </a:p>
          </p:txBody>
        </p:sp>
      </p:grpSp>
      <p:sp>
        <p:nvSpPr>
          <p:cNvPr id="75" name="AutoShape 75"/>
          <p:cNvSpPr/>
          <p:nvPr/>
        </p:nvSpPr>
        <p:spPr>
          <a:xfrm rot="73020">
            <a:off x="13753700" y="8151686"/>
            <a:ext cx="74756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/>
          </a:p>
        </p:txBody>
      </p:sp>
      <p:grpSp>
        <p:nvGrpSpPr>
          <p:cNvPr id="76" name="Group 76"/>
          <p:cNvGrpSpPr/>
          <p:nvPr/>
        </p:nvGrpSpPr>
        <p:grpSpPr>
          <a:xfrm>
            <a:off x="13670280" y="7772400"/>
            <a:ext cx="914400" cy="347472"/>
            <a:chOff x="0" y="0"/>
            <a:chExt cx="1219200" cy="463296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219199" cy="463296"/>
            </a:xfrm>
            <a:custGeom>
              <a:avLst/>
              <a:gdLst/>
              <a:ahLst/>
              <a:cxnLst/>
              <a:rect l="l" t="t" r="r" b="b"/>
              <a:pathLst>
                <a:path w="1219199" h="463296">
                  <a:moveTo>
                    <a:pt x="0" y="0"/>
                  </a:moveTo>
                  <a:lnTo>
                    <a:pt x="1219199" y="0"/>
                  </a:lnTo>
                  <a:lnTo>
                    <a:pt x="1219199" y="463296"/>
                  </a:lnTo>
                  <a:lnTo>
                    <a:pt x="0" y="4632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76" b="-1276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0"/>
              <a:ext cx="1219200" cy="46329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1199"/>
                </a:lnSpc>
              </a:pPr>
              <a:r>
                <a:rPr lang="en-US" sz="9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questions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502920" y="8942832"/>
            <a:ext cx="17282160" cy="320040"/>
            <a:chOff x="0" y="0"/>
            <a:chExt cx="23042880" cy="42672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23042880" cy="426720"/>
            </a:xfrm>
            <a:custGeom>
              <a:avLst/>
              <a:gdLst/>
              <a:ahLst/>
              <a:cxnLst/>
              <a:rect l="l" t="t" r="r" b="b"/>
              <a:pathLst>
                <a:path w="23042880" h="426720">
                  <a:moveTo>
                    <a:pt x="0" y="0"/>
                  </a:moveTo>
                  <a:lnTo>
                    <a:pt x="23042880" y="0"/>
                  </a:lnTo>
                  <a:lnTo>
                    <a:pt x="23042880" y="426720"/>
                  </a:lnTo>
                  <a:lnTo>
                    <a:pt x="0" y="426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02192" b="-1002192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0" y="-19050"/>
              <a:ext cx="23042880" cy="4457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59"/>
                </a:lnSpc>
              </a:pPr>
              <a:r>
                <a:rPr lang="en-US" sz="1299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What is calculated at each position:   </a:t>
              </a:r>
              <a:r>
                <a:rPr lang="en-US" sz="12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Longitude, latitude → where it sits on the globe      Depth → how far down (can be stretched)      Value → its colour on the colour bar</a:t>
              </a:r>
            </a:p>
          </p:txBody>
        </p:sp>
      </p:grpSp>
      <p:sp>
        <p:nvSpPr>
          <p:cNvPr id="82" name="Freeform 82"/>
          <p:cNvSpPr/>
          <p:nvPr/>
        </p:nvSpPr>
        <p:spPr>
          <a:xfrm>
            <a:off x="2120778" y="2246473"/>
            <a:ext cx="302382" cy="339755"/>
          </a:xfrm>
          <a:custGeom>
            <a:avLst/>
            <a:gdLst/>
            <a:ahLst/>
            <a:cxnLst/>
            <a:rect l="l" t="t" r="r" b="b"/>
            <a:pathLst>
              <a:path w="302382" h="339755">
                <a:moveTo>
                  <a:pt x="0" y="0"/>
                </a:moveTo>
                <a:lnTo>
                  <a:pt x="302382" y="0"/>
                </a:lnTo>
                <a:lnTo>
                  <a:pt x="302382" y="339755"/>
                </a:lnTo>
                <a:lnTo>
                  <a:pt x="0" y="3397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3" name="Freeform 83"/>
          <p:cNvSpPr/>
          <p:nvPr/>
        </p:nvSpPr>
        <p:spPr>
          <a:xfrm>
            <a:off x="11463465" y="2372036"/>
            <a:ext cx="747891" cy="747891"/>
          </a:xfrm>
          <a:custGeom>
            <a:avLst/>
            <a:gdLst/>
            <a:ahLst/>
            <a:cxnLst/>
            <a:rect l="l" t="t" r="r" b="b"/>
            <a:pathLst>
              <a:path w="747891" h="747891">
                <a:moveTo>
                  <a:pt x="0" y="0"/>
                </a:moveTo>
                <a:lnTo>
                  <a:pt x="747891" y="0"/>
                </a:lnTo>
                <a:lnTo>
                  <a:pt x="747891" y="747891"/>
                </a:lnTo>
                <a:lnTo>
                  <a:pt x="0" y="7478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4" name="Freeform 84"/>
          <p:cNvSpPr/>
          <p:nvPr/>
        </p:nvSpPr>
        <p:spPr>
          <a:xfrm>
            <a:off x="6962865" y="2272755"/>
            <a:ext cx="626655" cy="626655"/>
          </a:xfrm>
          <a:custGeom>
            <a:avLst/>
            <a:gdLst/>
            <a:ahLst/>
            <a:cxnLst/>
            <a:rect l="l" t="t" r="r" b="b"/>
            <a:pathLst>
              <a:path w="626655" h="626655">
                <a:moveTo>
                  <a:pt x="0" y="0"/>
                </a:moveTo>
                <a:lnTo>
                  <a:pt x="626655" y="0"/>
                </a:lnTo>
                <a:lnTo>
                  <a:pt x="626655" y="626655"/>
                </a:lnTo>
                <a:lnTo>
                  <a:pt x="0" y="6266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5" name="Freeform 85"/>
          <p:cNvSpPr/>
          <p:nvPr/>
        </p:nvSpPr>
        <p:spPr>
          <a:xfrm>
            <a:off x="12513745" y="2339162"/>
            <a:ext cx="763695" cy="795516"/>
          </a:xfrm>
          <a:custGeom>
            <a:avLst/>
            <a:gdLst/>
            <a:ahLst/>
            <a:cxnLst/>
            <a:rect l="l" t="t" r="r" b="b"/>
            <a:pathLst>
              <a:path w="763695" h="795516">
                <a:moveTo>
                  <a:pt x="0" y="0"/>
                </a:moveTo>
                <a:lnTo>
                  <a:pt x="763695" y="0"/>
                </a:lnTo>
                <a:lnTo>
                  <a:pt x="763695" y="795515"/>
                </a:lnTo>
                <a:lnTo>
                  <a:pt x="0" y="7955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6" name="Freeform 86"/>
          <p:cNvSpPr/>
          <p:nvPr/>
        </p:nvSpPr>
        <p:spPr>
          <a:xfrm>
            <a:off x="17100346" y="2283365"/>
            <a:ext cx="546508" cy="803688"/>
          </a:xfrm>
          <a:custGeom>
            <a:avLst/>
            <a:gdLst/>
            <a:ahLst/>
            <a:cxnLst/>
            <a:rect l="l" t="t" r="r" b="b"/>
            <a:pathLst>
              <a:path w="546508" h="803688">
                <a:moveTo>
                  <a:pt x="0" y="0"/>
                </a:moveTo>
                <a:lnTo>
                  <a:pt x="546508" y="0"/>
                </a:lnTo>
                <a:lnTo>
                  <a:pt x="546508" y="803687"/>
                </a:lnTo>
                <a:lnTo>
                  <a:pt x="0" y="8036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7" name="Freeform 87"/>
          <p:cNvSpPr/>
          <p:nvPr/>
        </p:nvSpPr>
        <p:spPr>
          <a:xfrm>
            <a:off x="6041502" y="2272755"/>
            <a:ext cx="768963" cy="626655"/>
          </a:xfrm>
          <a:custGeom>
            <a:avLst/>
            <a:gdLst/>
            <a:ahLst/>
            <a:cxnLst/>
            <a:rect l="l" t="t" r="r" b="b"/>
            <a:pathLst>
              <a:path w="768963" h="626655">
                <a:moveTo>
                  <a:pt x="0" y="0"/>
                </a:moveTo>
                <a:lnTo>
                  <a:pt x="768963" y="0"/>
                </a:lnTo>
                <a:lnTo>
                  <a:pt x="768963" y="626655"/>
                </a:lnTo>
                <a:lnTo>
                  <a:pt x="0" y="6266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8" name="TextBox 88"/>
          <p:cNvSpPr txBox="1"/>
          <p:nvPr/>
        </p:nvSpPr>
        <p:spPr>
          <a:xfrm>
            <a:off x="493395" y="1699260"/>
            <a:ext cx="1728216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Software architecture: three layers, end to end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685800" y="2312670"/>
            <a:ext cx="164592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User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685800" y="2605278"/>
            <a:ext cx="1645920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scientist, forecaster, fisheries officer or student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685800" y="3364230"/>
            <a:ext cx="1645920" cy="3676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Draws a box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the map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439"/>
              </a:lnSpc>
            </a:pPr>
            <a:r>
              <a:rPr lang="en-US" sz="1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Picks a day and a variable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1993 up to the forecast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439"/>
              </a:lnSpc>
            </a:pPr>
            <a:r>
              <a:rPr lang="en-US" sz="1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Clicks a float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see its readings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439"/>
              </a:lnSpc>
            </a:pPr>
            <a:r>
              <a:rPr lang="en-US" sz="1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Asks the assistant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plain words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3383280" y="2312670"/>
            <a:ext cx="41148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1. Presentation layer: website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3383280" y="2605278"/>
            <a:ext cx="41148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runs in the browser, hosted on Vercel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3383280" y="2861310"/>
            <a:ext cx="41148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Tech: </a:t>
            </a: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TypeScript, Vite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3520440" y="3364230"/>
            <a:ext cx="384048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Controls and timeline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3520440" y="3638550"/>
            <a:ext cx="384048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box, day, variable, colour bar, depth stretch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3520440" y="4187190"/>
            <a:ext cx="384048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3D cube on the globe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3520440" y="4461510"/>
            <a:ext cx="384048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cells coloured by value; floats as upright lines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3520440" y="4708398"/>
            <a:ext cx="384048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Tech: 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CesiumJS, WebGL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3520440" y="5266182"/>
            <a:ext cx="384048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Float profile chart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3520440" y="5540502"/>
            <a:ext cx="384048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a float's readings next to the model's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3520440" y="5787390"/>
            <a:ext cx="384048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Tech: 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Canvas 2D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3520440" y="6345174"/>
            <a:ext cx="384048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Currents and winds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3520440" y="6619494"/>
            <a:ext cx="384048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moving particles drawn over the map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3520440" y="6866382"/>
            <a:ext cx="384048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Tech: 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Canvas 2D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3520440" y="7424166"/>
            <a:ext cx="384048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Assistant chat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3520440" y="7698486"/>
            <a:ext cx="384048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ask in plain words; it can control panel properties and interact</a:t>
            </a:r>
          </a:p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with the viewer. 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8549640" y="2312670"/>
            <a:ext cx="502920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2. Application layer: server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8549640" y="2605278"/>
            <a:ext cx="2565425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Python API, on Render or run locally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8549640" y="2861310"/>
            <a:ext cx="2405439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Tech: </a:t>
            </a: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Python, FastAPI, Uvicorn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8686800" y="3364230"/>
            <a:ext cx="475488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Step 1: fetch only the chosen box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8686800" y="3638550"/>
            <a:ext cx="475488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never the whole ocean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8686800" y="3885438"/>
            <a:ext cx="475488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Tech: 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Copernicus Marine toolbox, Requests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8686800" y="4443222"/>
            <a:ext cx="475488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Step 2: save a copy on disk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8686800" y="4717542"/>
            <a:ext cx="475488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the same view opens instantly next time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8686800" y="4964430"/>
            <a:ext cx="475488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Tech: 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disk cache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8686800" y="5522214"/>
            <a:ext cx="475488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Step 3: check quality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8686800" y="5796534"/>
            <a:ext cx="475488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hide impossible values; keep each float's QC flag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8686800" y="6043422"/>
            <a:ext cx="475488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Tech: 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Argo QC rules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8686800" y="6601206"/>
            <a:ext cx="475488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Step 4: build the 3D block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8686800" y="6875526"/>
            <a:ext cx="475488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only the model's real depths; adds density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8686800" y="7122414"/>
            <a:ext cx="475488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Tech: 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xarray, NumPy, SciPy, GSW (seawater)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8686800" y="7771638"/>
            <a:ext cx="475488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AI assistant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8686800" y="8045958"/>
            <a:ext cx="475488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it can only call our own API, so it sees what the user sees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8686800" y="8292846"/>
            <a:ext cx="475488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Tech: 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 calling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14676120" y="2312670"/>
            <a:ext cx="292608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3. Data layer (API’s)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14676120" y="2605278"/>
            <a:ext cx="292608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public sources, read over the internet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14813280" y="3336798"/>
            <a:ext cx="274320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Copernicus Marine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ocean model and ML products, 1993 on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14813280" y="3995166"/>
            <a:ext cx="274320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INCOIS</a:t>
            </a:r>
          </a:p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Bay of Bengal analysis, fishing advisories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14813280" y="4653534"/>
            <a:ext cx="274320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Ifremer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Argo floats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14813280" y="5311902"/>
            <a:ext cx="2743200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IOOS</a:t>
            </a:r>
          </a:p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ocean gliders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14813280" y="5970270"/>
            <a:ext cx="274320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NOAA</a:t>
            </a:r>
          </a:p>
          <a:p>
            <a:pPr algn="l">
              <a:lnSpc>
                <a:spcPts val="1679"/>
              </a:lnSpc>
            </a:pPr>
            <a:r>
              <a:rPr lang="en-US" sz="1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wind forecast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14813280" y="7789926"/>
            <a:ext cx="2743200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AI models, via AIRouter</a:t>
            </a:r>
          </a:p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GPT-4.1 mini; Gemini, DeepSeek</a:t>
            </a:r>
          </a:p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fallbacks; questions capped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7589520" y="5266944"/>
            <a:ext cx="868680" cy="411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9"/>
              </a:lnSpc>
            </a:pPr>
            <a:r>
              <a:rPr lang="en-US" sz="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3D data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281632" y="5995067"/>
            <a:ext cx="2454255" cy="693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1"/>
              </a:lnSpc>
            </a:pPr>
            <a:r>
              <a:rPr lang="en-US" sz="1425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Only the site link is needed to access the viewer. </a:t>
            </a:r>
          </a:p>
          <a:p>
            <a:pPr algn="ctr">
              <a:lnSpc>
                <a:spcPts val="1871"/>
              </a:lnSpc>
              <a:spcBef>
                <a:spcPct val="0"/>
              </a:spcBef>
            </a:pPr>
            <a:r>
              <a:rPr lang="en-US" sz="1425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And it works multiplatform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38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39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40" name="Group 10"/>
          <p:cNvGrpSpPr/>
          <p:nvPr/>
        </p:nvGrpSpPr>
        <p:grpSpPr>
          <a:xfrm>
            <a:off x="300000" y="9534525"/>
            <a:ext cx="4806001" cy="547688"/>
            <a:chOff x="0" y="0"/>
            <a:chExt cx="6408001" cy="730250"/>
          </a:xfrm>
        </p:grpSpPr>
        <p:sp>
          <p:nvSpPr>
            <p:cNvPr id="14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Team Null · K26125</a:t>
              </a:r>
            </a:p>
          </p:txBody>
        </p:sp>
      </p:grpSp>
      <p:grpSp>
        <p:nvGrpSpPr>
          <p:cNvPr id="10001" name="Group 59"/>
          <p:cNvGrpSpPr/>
          <p:nvPr/>
        </p:nvGrpSpPr>
        <p:grpSpPr>
          <a:xfrm>
            <a:off x="14671357" y="6578918"/>
            <a:ext cx="2935605" cy="576453"/>
            <a:chOff x="0" y="0"/>
            <a:chExt cx="3914140" cy="768604"/>
          </a:xfrm>
        </p:grpSpPr>
        <p:sp>
          <p:nvSpPr>
            <p:cNvPr id="10002" name="Freeform 60"/>
            <p:cNvSpPr/>
            <p:nvPr/>
          </p:nvSpPr>
          <p:spPr>
            <a:xfrm>
              <a:off x="0" y="0"/>
              <a:ext cx="3914140" cy="768604"/>
            </a:xfrm>
            <a:custGeom>
              <a:avLst/>
              <a:gdLst/>
              <a:ahLst/>
              <a:cxnLst/>
              <a:rect l="l" t="t" r="r" b="b"/>
              <a:pathLst>
                <a:path w="3914140" h="768604">
                  <a:moveTo>
                    <a:pt x="0" y="0"/>
                  </a:moveTo>
                  <a:lnTo>
                    <a:pt x="3914140" y="0"/>
                  </a:lnTo>
                  <a:lnTo>
                    <a:pt x="3914140" y="768604"/>
                  </a:lnTo>
                  <a:lnTo>
                    <a:pt x="0" y="76860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sp>
        <p:nvSpPr>
          <p:cNvPr id="10003" name="TextBox 130"/>
          <p:cNvSpPr txBox="1"/>
          <p:nvPr/>
        </p:nvSpPr>
        <p:spPr>
          <a:xfrm>
            <a:off x="14813280" y="6628638"/>
            <a:ext cx="274320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Copernicus In Situ TAC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moorings, CTD, ADCP, HF-radar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18" name="Freeform 1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28046" y="378371"/>
            <a:ext cx="1210999" cy="1210999"/>
            <a:chOff x="0" y="0"/>
            <a:chExt cx="1614665" cy="1614665"/>
          </a:xfrm>
        </p:grpSpPr>
        <p:sp>
          <p:nvSpPr>
            <p:cNvPr id="13" name="Freeform 13" descr="logo.png"/>
            <p:cNvSpPr/>
            <p:nvPr/>
          </p:nvSpPr>
          <p:spPr>
            <a:xfrm>
              <a:off x="0" y="0"/>
              <a:ext cx="1614678" cy="1614678"/>
            </a:xfrm>
            <a:custGeom>
              <a:avLst/>
              <a:gdLst/>
              <a:ahLst/>
              <a:cxnLst/>
              <a:rect l="l" t="t" r="r" b="b"/>
              <a:pathLst>
                <a:path w="1614678" h="1614678">
                  <a:moveTo>
                    <a:pt x="0" y="0"/>
                  </a:moveTo>
                  <a:lnTo>
                    <a:pt x="1614678" y="0"/>
                  </a:lnTo>
                  <a:lnTo>
                    <a:pt x="1614678" y="1614678"/>
                  </a:lnTo>
                  <a:lnTo>
                    <a:pt x="0" y="16146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02920" y="1827914"/>
            <a:ext cx="17800625" cy="276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5"/>
              </a:lnSpc>
            </a:pPr>
            <a:r>
              <a:rPr lang="en-US" sz="1575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ANALYSIS OF FEASIBILITY: MEASURED BY A TEST RUN 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02920" y="2284714"/>
            <a:ext cx="4114800" cy="27432"/>
            <a:chOff x="0" y="0"/>
            <a:chExt cx="5486400" cy="3657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486400" cy="36576"/>
            </a:xfrm>
            <a:custGeom>
              <a:avLst/>
              <a:gdLst/>
              <a:ahLst/>
              <a:cxnLst/>
              <a:rect l="l" t="t" r="r" b="b"/>
              <a:pathLst>
                <a:path w="5486400" h="36576">
                  <a:moveTo>
                    <a:pt x="0" y="0"/>
                  </a:moveTo>
                  <a:lnTo>
                    <a:pt x="5486400" y="0"/>
                  </a:lnTo>
                  <a:lnTo>
                    <a:pt x="5486400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502920" y="2402824"/>
            <a:ext cx="4238244" cy="364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6"/>
              </a:lnSpc>
            </a:pPr>
            <a:r>
              <a:rPr lang="en-US" sz="31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23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02920" y="2776204"/>
            <a:ext cx="4238244" cy="444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variables to 2026-10-04, forecast days labelled; 17 of them every day from 1993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4892040" y="2284714"/>
            <a:ext cx="4114800" cy="27432"/>
            <a:chOff x="0" y="0"/>
            <a:chExt cx="5486400" cy="3657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486400" cy="36576"/>
            </a:xfrm>
            <a:custGeom>
              <a:avLst/>
              <a:gdLst/>
              <a:ahLst/>
              <a:cxnLst/>
              <a:rect l="l" t="t" r="r" b="b"/>
              <a:pathLst>
                <a:path w="5486400" h="36576">
                  <a:moveTo>
                    <a:pt x="0" y="0"/>
                  </a:moveTo>
                  <a:lnTo>
                    <a:pt x="5486400" y="0"/>
                  </a:lnTo>
                  <a:lnTo>
                    <a:pt x="5486400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892040" y="2402824"/>
            <a:ext cx="4238244" cy="364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6"/>
              </a:lnSpc>
            </a:pPr>
            <a:r>
              <a:rPr lang="en-US" sz="31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0.08 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892040" y="2776204"/>
            <a:ext cx="4238244" cy="444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to open the Amphan cube from the disk cache (1.15 MB to the browser)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281160" y="2284714"/>
            <a:ext cx="4114800" cy="27432"/>
            <a:chOff x="0" y="0"/>
            <a:chExt cx="5486400" cy="3657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486400" cy="36576"/>
            </a:xfrm>
            <a:custGeom>
              <a:avLst/>
              <a:gdLst/>
              <a:ahLst/>
              <a:cxnLst/>
              <a:rect l="l" t="t" r="r" b="b"/>
              <a:pathLst>
                <a:path w="5486400" h="36576">
                  <a:moveTo>
                    <a:pt x="0" y="0"/>
                  </a:moveTo>
                  <a:lnTo>
                    <a:pt x="5486400" y="0"/>
                  </a:lnTo>
                  <a:lnTo>
                    <a:pt x="5486400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9281160" y="2402824"/>
            <a:ext cx="4238244" cy="364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6"/>
              </a:lnSpc>
            </a:pPr>
            <a:r>
              <a:rPr lang="en-US" sz="31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639 MB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281160" y="2776204"/>
            <a:ext cx="4238244" cy="444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peak memory over a full cold session: 97 of 97 requests answered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3670280" y="2284714"/>
            <a:ext cx="4114800" cy="27432"/>
            <a:chOff x="0" y="0"/>
            <a:chExt cx="5486400" cy="3657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486400" cy="36576"/>
            </a:xfrm>
            <a:custGeom>
              <a:avLst/>
              <a:gdLst/>
              <a:ahLst/>
              <a:cxnLst/>
              <a:rect l="l" t="t" r="r" b="b"/>
              <a:pathLst>
                <a:path w="5486400" h="36576">
                  <a:moveTo>
                    <a:pt x="0" y="0"/>
                  </a:moveTo>
                  <a:lnTo>
                    <a:pt x="5486400" y="0"/>
                  </a:lnTo>
                  <a:lnTo>
                    <a:pt x="5486400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3670280" y="2402824"/>
            <a:ext cx="4238244" cy="364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6"/>
              </a:lnSpc>
            </a:pPr>
            <a:r>
              <a:rPr lang="en-US" sz="31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29 + 98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670280" y="2776204"/>
            <a:ext cx="4238244" cy="444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Argo profiles and glider casts co-located with the INCOIS model, level by level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02920" y="3320024"/>
            <a:ext cx="8947404" cy="242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7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WHAT THE PLATFORM FOUND: INCOIS MODEL ERROR BY DEPTH</a:t>
            </a:r>
          </a:p>
        </p:txBody>
      </p:sp>
      <p:sp>
        <p:nvSpPr>
          <p:cNvPr id="32" name="AutoShape 32"/>
          <p:cNvSpPr/>
          <p:nvPr/>
        </p:nvSpPr>
        <p:spPr>
          <a:xfrm rot="3780">
            <a:off x="909828" y="7946660"/>
            <a:ext cx="8284474" cy="0"/>
          </a:xfrm>
          <a:prstGeom prst="line">
            <a:avLst/>
          </a:prstGeom>
          <a:ln w="9525" cap="rnd">
            <a:solidFill>
              <a:srgbClr val="D5DCE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Box 33"/>
          <p:cNvSpPr txBox="1"/>
          <p:nvPr/>
        </p:nvSpPr>
        <p:spPr>
          <a:xfrm>
            <a:off x="571852" y="7845504"/>
            <a:ext cx="269386" cy="192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7A859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id="34" name="AutoShape 34"/>
          <p:cNvSpPr/>
          <p:nvPr/>
        </p:nvSpPr>
        <p:spPr>
          <a:xfrm rot="3780">
            <a:off x="909828" y="6569116"/>
            <a:ext cx="8284474" cy="0"/>
          </a:xfrm>
          <a:prstGeom prst="line">
            <a:avLst/>
          </a:prstGeom>
          <a:ln w="9525" cap="rnd">
            <a:solidFill>
              <a:srgbClr val="D5DCE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Box 35"/>
          <p:cNvSpPr txBox="1"/>
          <p:nvPr/>
        </p:nvSpPr>
        <p:spPr>
          <a:xfrm>
            <a:off x="571852" y="6467961"/>
            <a:ext cx="269386" cy="192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7A859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36" name="AutoShape 36"/>
          <p:cNvSpPr/>
          <p:nvPr/>
        </p:nvSpPr>
        <p:spPr>
          <a:xfrm rot="3780">
            <a:off x="909828" y="5191582"/>
            <a:ext cx="8284474" cy="0"/>
          </a:xfrm>
          <a:prstGeom prst="line">
            <a:avLst/>
          </a:prstGeom>
          <a:ln w="9525" cap="rnd">
            <a:solidFill>
              <a:srgbClr val="D5DCE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Box 37"/>
          <p:cNvSpPr txBox="1"/>
          <p:nvPr/>
        </p:nvSpPr>
        <p:spPr>
          <a:xfrm>
            <a:off x="571852" y="5090427"/>
            <a:ext cx="269386" cy="192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7A859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298448" y="6221101"/>
            <a:ext cx="877824" cy="1730321"/>
            <a:chOff x="0" y="0"/>
            <a:chExt cx="1170432" cy="230709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170432" cy="2307082"/>
            </a:xfrm>
            <a:custGeom>
              <a:avLst/>
              <a:gdLst/>
              <a:ahLst/>
              <a:cxnLst/>
              <a:rect l="l" t="t" r="r" b="b"/>
              <a:pathLst>
                <a:path w="1170432" h="2307082">
                  <a:moveTo>
                    <a:pt x="0" y="0"/>
                  </a:moveTo>
                  <a:lnTo>
                    <a:pt x="1170432" y="0"/>
                  </a:lnTo>
                  <a:lnTo>
                    <a:pt x="1170432" y="2307082"/>
                  </a:lnTo>
                  <a:lnTo>
                    <a:pt x="0" y="2307082"/>
                  </a:lnTo>
                  <a:close/>
                </a:path>
              </a:pathLst>
            </a:custGeom>
            <a:solidFill>
              <a:srgbClr val="A9B2BE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476823" y="5991739"/>
            <a:ext cx="521065" cy="211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1.26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2231136" y="3973782"/>
            <a:ext cx="877824" cy="3977640"/>
            <a:chOff x="0" y="0"/>
            <a:chExt cx="1170432" cy="530352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170432" cy="5303520"/>
            </a:xfrm>
            <a:custGeom>
              <a:avLst/>
              <a:gdLst/>
              <a:ahLst/>
              <a:cxnLst/>
              <a:rect l="l" t="t" r="r" b="b"/>
              <a:pathLst>
                <a:path w="1170432" h="5303520">
                  <a:moveTo>
                    <a:pt x="0" y="0"/>
                  </a:moveTo>
                  <a:lnTo>
                    <a:pt x="1170432" y="0"/>
                  </a:lnTo>
                  <a:lnTo>
                    <a:pt x="1170432" y="5303520"/>
                  </a:lnTo>
                  <a:lnTo>
                    <a:pt x="0" y="530352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2409511" y="3744420"/>
            <a:ext cx="521065" cy="211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2.89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810331" y="8010096"/>
            <a:ext cx="786736" cy="206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0"/>
              </a:lnSpc>
            </a:pP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0-300 m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4041648" y="7464600"/>
            <a:ext cx="877824" cy="486823"/>
            <a:chOff x="0" y="0"/>
            <a:chExt cx="1170432" cy="649097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170432" cy="649097"/>
            </a:xfrm>
            <a:custGeom>
              <a:avLst/>
              <a:gdLst/>
              <a:ahLst/>
              <a:cxnLst/>
              <a:rect l="l" t="t" r="r" b="b"/>
              <a:pathLst>
                <a:path w="1170432" h="649097">
                  <a:moveTo>
                    <a:pt x="0" y="0"/>
                  </a:moveTo>
                  <a:lnTo>
                    <a:pt x="1170432" y="0"/>
                  </a:lnTo>
                  <a:lnTo>
                    <a:pt x="1170432" y="649097"/>
                  </a:lnTo>
                  <a:lnTo>
                    <a:pt x="0" y="649097"/>
                  </a:lnTo>
                  <a:close/>
                </a:path>
              </a:pathLst>
            </a:custGeom>
            <a:solidFill>
              <a:srgbClr val="A9B2BE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4220023" y="7235238"/>
            <a:ext cx="521065" cy="211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0.35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4974336" y="7527693"/>
            <a:ext cx="877824" cy="423729"/>
            <a:chOff x="0" y="0"/>
            <a:chExt cx="1170432" cy="56497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170432" cy="565023"/>
            </a:xfrm>
            <a:custGeom>
              <a:avLst/>
              <a:gdLst/>
              <a:ahLst/>
              <a:cxnLst/>
              <a:rect l="l" t="t" r="r" b="b"/>
              <a:pathLst>
                <a:path w="1170432" h="565023">
                  <a:moveTo>
                    <a:pt x="0" y="0"/>
                  </a:moveTo>
                  <a:lnTo>
                    <a:pt x="1170432" y="0"/>
                  </a:lnTo>
                  <a:lnTo>
                    <a:pt x="1170432" y="565023"/>
                  </a:lnTo>
                  <a:lnTo>
                    <a:pt x="0" y="565023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5152711" y="7298331"/>
            <a:ext cx="521065" cy="211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0.31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462024" y="8010096"/>
            <a:ext cx="969759" cy="206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0"/>
              </a:lnSpc>
            </a:pP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300-950 m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6784848" y="7690104"/>
            <a:ext cx="877824" cy="261318"/>
            <a:chOff x="0" y="0"/>
            <a:chExt cx="1170432" cy="348424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170432" cy="348361"/>
            </a:xfrm>
            <a:custGeom>
              <a:avLst/>
              <a:gdLst/>
              <a:ahLst/>
              <a:cxnLst/>
              <a:rect l="l" t="t" r="r" b="b"/>
              <a:pathLst>
                <a:path w="1170432" h="348361">
                  <a:moveTo>
                    <a:pt x="0" y="0"/>
                  </a:moveTo>
                  <a:lnTo>
                    <a:pt x="1170432" y="0"/>
                  </a:lnTo>
                  <a:lnTo>
                    <a:pt x="1170432" y="348361"/>
                  </a:lnTo>
                  <a:lnTo>
                    <a:pt x="0" y="348361"/>
                  </a:lnTo>
                  <a:close/>
                </a:path>
              </a:pathLst>
            </a:custGeom>
            <a:solidFill>
              <a:srgbClr val="A9B2BE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6963223" y="7460742"/>
            <a:ext cx="521065" cy="211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0.19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7717536" y="7631973"/>
            <a:ext cx="877824" cy="319449"/>
            <a:chOff x="0" y="0"/>
            <a:chExt cx="1170432" cy="425933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170432" cy="425958"/>
            </a:xfrm>
            <a:custGeom>
              <a:avLst/>
              <a:gdLst/>
              <a:ahLst/>
              <a:cxnLst/>
              <a:rect l="l" t="t" r="r" b="b"/>
              <a:pathLst>
                <a:path w="1170432" h="425958">
                  <a:moveTo>
                    <a:pt x="0" y="0"/>
                  </a:moveTo>
                  <a:lnTo>
                    <a:pt x="1170432" y="0"/>
                  </a:lnTo>
                  <a:lnTo>
                    <a:pt x="1170432" y="425958"/>
                  </a:lnTo>
                  <a:lnTo>
                    <a:pt x="0" y="425958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7895911" y="7402611"/>
            <a:ext cx="521065" cy="211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0.23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159428" y="8010096"/>
            <a:ext cx="1061342" cy="206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0"/>
              </a:lnSpc>
            </a:pP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950-2000 m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483918" y="3630120"/>
            <a:ext cx="357330" cy="192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7A8594"/>
                </a:solidFill>
                <a:latin typeface="Arial"/>
                <a:ea typeface="Arial"/>
                <a:cs typeface="Arial"/>
                <a:sym typeface="Arial"/>
              </a:rPr>
              <a:t>°C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49808" y="8325564"/>
            <a:ext cx="2662685" cy="192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Argo (the model already used them)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3558797" y="8325564"/>
            <a:ext cx="1600057" cy="192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Glider (independent)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502920" y="8383257"/>
            <a:ext cx="164592" cy="100584"/>
            <a:chOff x="0" y="0"/>
            <a:chExt cx="219456" cy="134112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219456" cy="134112"/>
            </a:xfrm>
            <a:custGeom>
              <a:avLst/>
              <a:gdLst/>
              <a:ahLst/>
              <a:cxnLst/>
              <a:rect l="l" t="t" r="r" b="b"/>
              <a:pathLst>
                <a:path w="219456" h="134112">
                  <a:moveTo>
                    <a:pt x="0" y="0"/>
                  </a:moveTo>
                  <a:lnTo>
                    <a:pt x="219456" y="0"/>
                  </a:lnTo>
                  <a:lnTo>
                    <a:pt x="219456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A9B2BE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3311909" y="8383257"/>
            <a:ext cx="164592" cy="100584"/>
            <a:chOff x="0" y="0"/>
            <a:chExt cx="219456" cy="134112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219456" cy="134112"/>
            </a:xfrm>
            <a:custGeom>
              <a:avLst/>
              <a:gdLst/>
              <a:ahLst/>
              <a:cxnLst/>
              <a:rect l="l" t="t" r="r" b="b"/>
              <a:pathLst>
                <a:path w="219456" h="134112">
                  <a:moveTo>
                    <a:pt x="0" y="0"/>
                  </a:moveTo>
                  <a:lnTo>
                    <a:pt x="219456" y="0"/>
                  </a:lnTo>
                  <a:lnTo>
                    <a:pt x="219456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502920" y="8557412"/>
            <a:ext cx="8947404" cy="50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7"/>
              </a:lnSpc>
            </a:pP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Below 300 m the INCOIS model and the instruments agree. In the top 300 m, the warm layer a cyclone feeds on, the independent glider finds an error of </a:t>
            </a:r>
            <a:r>
              <a:rPr lang="en-US" sz="1350" b="1">
                <a:solidFill>
                  <a:srgbClr val="C0392B"/>
                </a:solidFill>
                <a:latin typeface="Arial Bold"/>
                <a:ea typeface="Arial Bold"/>
                <a:cs typeface="Arial Bold"/>
                <a:sym typeface="Arial Bold"/>
              </a:rPr>
              <a:t>2.89 °C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. A single pooled number hides it; the 3D view shows it.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9646920" y="3317100"/>
            <a:ext cx="8382305" cy="31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5"/>
              </a:lnSpc>
            </a:pPr>
            <a:r>
              <a:rPr lang="en-US" sz="1575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CHALLENGES AND RISKS, AND OUR STRATEGIES</a:t>
            </a:r>
          </a:p>
        </p:txBody>
      </p:sp>
      <p:grpSp>
        <p:nvGrpSpPr>
          <p:cNvPr id="68" name="Group 68"/>
          <p:cNvGrpSpPr/>
          <p:nvPr/>
        </p:nvGrpSpPr>
        <p:grpSpPr>
          <a:xfrm>
            <a:off x="9646920" y="3951275"/>
            <a:ext cx="3638740" cy="13716"/>
            <a:chOff x="0" y="0"/>
            <a:chExt cx="4851654" cy="18288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4851654" cy="18288"/>
            </a:xfrm>
            <a:custGeom>
              <a:avLst/>
              <a:gdLst/>
              <a:ahLst/>
              <a:cxnLst/>
              <a:rect l="l" t="t" r="r" b="b"/>
              <a:pathLst>
                <a:path w="4851654" h="18288">
                  <a:moveTo>
                    <a:pt x="0" y="0"/>
                  </a:moveTo>
                  <a:lnTo>
                    <a:pt x="4851654" y="0"/>
                  </a:lnTo>
                  <a:lnTo>
                    <a:pt x="4851654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70" name="TextBox 70"/>
          <p:cNvSpPr txBox="1"/>
          <p:nvPr/>
        </p:nvSpPr>
        <p:spPr>
          <a:xfrm>
            <a:off x="9646920" y="3650532"/>
            <a:ext cx="3672554" cy="258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8"/>
              </a:lnSpc>
            </a:pPr>
            <a:r>
              <a:rPr lang="en-US" sz="1275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CHALLENGE OR RISK</a:t>
            </a:r>
          </a:p>
        </p:txBody>
      </p:sp>
      <p:grpSp>
        <p:nvGrpSpPr>
          <p:cNvPr id="71" name="Group 71"/>
          <p:cNvGrpSpPr/>
          <p:nvPr/>
        </p:nvGrpSpPr>
        <p:grpSpPr>
          <a:xfrm>
            <a:off x="13285660" y="3951275"/>
            <a:ext cx="4499420" cy="13716"/>
            <a:chOff x="0" y="0"/>
            <a:chExt cx="5999226" cy="18288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5999226" cy="18288"/>
            </a:xfrm>
            <a:custGeom>
              <a:avLst/>
              <a:gdLst/>
              <a:ahLst/>
              <a:cxnLst/>
              <a:rect l="l" t="t" r="r" b="b"/>
              <a:pathLst>
                <a:path w="5999226" h="18288">
                  <a:moveTo>
                    <a:pt x="0" y="0"/>
                  </a:moveTo>
                  <a:lnTo>
                    <a:pt x="5999226" y="0"/>
                  </a:lnTo>
                  <a:lnTo>
                    <a:pt x="5999226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13285660" y="3650532"/>
            <a:ext cx="4559056" cy="258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8"/>
              </a:lnSpc>
            </a:pPr>
            <a:r>
              <a:rPr lang="en-US" sz="1275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STRATEGY, ALREADY IN THE BUILD</a:t>
            </a:r>
          </a:p>
        </p:txBody>
      </p:sp>
      <p:grpSp>
        <p:nvGrpSpPr>
          <p:cNvPr id="74" name="Group 74"/>
          <p:cNvGrpSpPr/>
          <p:nvPr/>
        </p:nvGrpSpPr>
        <p:grpSpPr>
          <a:xfrm>
            <a:off x="9646920" y="4577067"/>
            <a:ext cx="3638740" cy="9144"/>
            <a:chOff x="0" y="0"/>
            <a:chExt cx="4851654" cy="12192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4851654" cy="12192"/>
            </a:xfrm>
            <a:custGeom>
              <a:avLst/>
              <a:gdLst/>
              <a:ahLst/>
              <a:cxnLst/>
              <a:rect l="l" t="t" r="r" b="b"/>
              <a:pathLst>
                <a:path w="4851654" h="12192">
                  <a:moveTo>
                    <a:pt x="0" y="0"/>
                  </a:moveTo>
                  <a:lnTo>
                    <a:pt x="4851654" y="0"/>
                  </a:lnTo>
                  <a:lnTo>
                    <a:pt x="4851654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76" name="TextBox 76"/>
          <p:cNvSpPr txBox="1"/>
          <p:nvPr/>
        </p:nvSpPr>
        <p:spPr>
          <a:xfrm>
            <a:off x="9646920" y="4023055"/>
            <a:ext cx="3459480" cy="45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0"/>
              </a:lnSpc>
            </a:pPr>
            <a:r>
              <a:rPr lang="en-US" sz="1350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The problem statement's data links are dead</a:t>
            </a:r>
          </a:p>
        </p:txBody>
      </p:sp>
      <p:grpSp>
        <p:nvGrpSpPr>
          <p:cNvPr id="77" name="Group 77"/>
          <p:cNvGrpSpPr/>
          <p:nvPr/>
        </p:nvGrpSpPr>
        <p:grpSpPr>
          <a:xfrm>
            <a:off x="13285660" y="4577067"/>
            <a:ext cx="4499420" cy="9144"/>
            <a:chOff x="0" y="0"/>
            <a:chExt cx="5999226" cy="12192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5999226" cy="12192"/>
            </a:xfrm>
            <a:custGeom>
              <a:avLst/>
              <a:gdLst/>
              <a:ahLst/>
              <a:cxnLst/>
              <a:rect l="l" t="t" r="r" b="b"/>
              <a:pathLst>
                <a:path w="5999226" h="12192">
                  <a:moveTo>
                    <a:pt x="0" y="0"/>
                  </a:moveTo>
                  <a:lnTo>
                    <a:pt x="5999226" y="0"/>
                  </a:lnTo>
                  <a:lnTo>
                    <a:pt x="5999226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13285660" y="4023055"/>
            <a:ext cx="4559056" cy="473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0"/>
              </a:lnSpc>
            </a:pP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Both are </a:t>
            </a:r>
            <a:r>
              <a:rPr lang="en-US" sz="135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ftp://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 and blocked; replaced with tested HTTPS sources.</a:t>
            </a:r>
          </a:p>
        </p:txBody>
      </p:sp>
      <p:grpSp>
        <p:nvGrpSpPr>
          <p:cNvPr id="80" name="Group 80"/>
          <p:cNvGrpSpPr/>
          <p:nvPr/>
        </p:nvGrpSpPr>
        <p:grpSpPr>
          <a:xfrm>
            <a:off x="9646920" y="5190573"/>
            <a:ext cx="3638740" cy="9144"/>
            <a:chOff x="0" y="0"/>
            <a:chExt cx="4851654" cy="12192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4851654" cy="12192"/>
            </a:xfrm>
            <a:custGeom>
              <a:avLst/>
              <a:gdLst/>
              <a:ahLst/>
              <a:cxnLst/>
              <a:rect l="l" t="t" r="r" b="b"/>
              <a:pathLst>
                <a:path w="4851654" h="12192">
                  <a:moveTo>
                    <a:pt x="0" y="0"/>
                  </a:moveTo>
                  <a:lnTo>
                    <a:pt x="4851654" y="0"/>
                  </a:lnTo>
                  <a:lnTo>
                    <a:pt x="4851654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82" name="TextBox 82"/>
          <p:cNvSpPr txBox="1"/>
          <p:nvPr/>
        </p:nvSpPr>
        <p:spPr>
          <a:xfrm>
            <a:off x="9646920" y="4641990"/>
            <a:ext cx="3672554" cy="248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0"/>
              </a:lnSpc>
            </a:pPr>
            <a:r>
              <a:rPr lang="en-US" sz="1350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The model fails QC too</a:t>
            </a:r>
          </a:p>
        </p:txBody>
      </p:sp>
      <p:grpSp>
        <p:nvGrpSpPr>
          <p:cNvPr id="83" name="Group 83"/>
          <p:cNvGrpSpPr/>
          <p:nvPr/>
        </p:nvGrpSpPr>
        <p:grpSpPr>
          <a:xfrm>
            <a:off x="13285660" y="5190573"/>
            <a:ext cx="4499420" cy="9144"/>
            <a:chOff x="0" y="0"/>
            <a:chExt cx="5999226" cy="12192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5999226" cy="12192"/>
            </a:xfrm>
            <a:custGeom>
              <a:avLst/>
              <a:gdLst/>
              <a:ahLst/>
              <a:cxnLst/>
              <a:rect l="l" t="t" r="r" b="b"/>
              <a:pathLst>
                <a:path w="5999226" h="12192">
                  <a:moveTo>
                    <a:pt x="0" y="0"/>
                  </a:moveTo>
                  <a:lnTo>
                    <a:pt x="5999226" y="0"/>
                  </a:lnTo>
                  <a:lnTo>
                    <a:pt x="5999226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85" name="TextBox 85"/>
          <p:cNvSpPr txBox="1"/>
          <p:nvPr/>
        </p:nvSpPr>
        <p:spPr>
          <a:xfrm>
            <a:off x="13285660" y="4641990"/>
            <a:ext cx="4559056" cy="468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0"/>
              </a:lnSpc>
            </a:pP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6 INCOIS cells read above 40 °C at depth; masked, counted in the provenance panel.</a:t>
            </a:r>
          </a:p>
        </p:txBody>
      </p:sp>
      <p:grpSp>
        <p:nvGrpSpPr>
          <p:cNvPr id="86" name="Group 86"/>
          <p:cNvGrpSpPr/>
          <p:nvPr/>
        </p:nvGrpSpPr>
        <p:grpSpPr>
          <a:xfrm>
            <a:off x="9646920" y="5804078"/>
            <a:ext cx="3638740" cy="9144"/>
            <a:chOff x="0" y="0"/>
            <a:chExt cx="4851654" cy="12192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4851654" cy="12192"/>
            </a:xfrm>
            <a:custGeom>
              <a:avLst/>
              <a:gdLst/>
              <a:ahLst/>
              <a:cxnLst/>
              <a:rect l="l" t="t" r="r" b="b"/>
              <a:pathLst>
                <a:path w="4851654" h="12192">
                  <a:moveTo>
                    <a:pt x="0" y="0"/>
                  </a:moveTo>
                  <a:lnTo>
                    <a:pt x="4851654" y="0"/>
                  </a:lnTo>
                  <a:lnTo>
                    <a:pt x="4851654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88" name="TextBox 88"/>
          <p:cNvSpPr txBox="1"/>
          <p:nvPr/>
        </p:nvSpPr>
        <p:spPr>
          <a:xfrm>
            <a:off x="9646920" y="5255495"/>
            <a:ext cx="3672554" cy="248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0"/>
              </a:lnSpc>
            </a:pPr>
            <a:r>
              <a:rPr lang="en-US" sz="1350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Bad float readings</a:t>
            </a:r>
          </a:p>
        </p:txBody>
      </p:sp>
      <p:grpSp>
        <p:nvGrpSpPr>
          <p:cNvPr id="89" name="Group 89"/>
          <p:cNvGrpSpPr/>
          <p:nvPr/>
        </p:nvGrpSpPr>
        <p:grpSpPr>
          <a:xfrm>
            <a:off x="13285660" y="5804078"/>
            <a:ext cx="4499420" cy="9144"/>
            <a:chOff x="0" y="0"/>
            <a:chExt cx="5999226" cy="12192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5999226" cy="12192"/>
            </a:xfrm>
            <a:custGeom>
              <a:avLst/>
              <a:gdLst/>
              <a:ahLst/>
              <a:cxnLst/>
              <a:rect l="l" t="t" r="r" b="b"/>
              <a:pathLst>
                <a:path w="5999226" h="12192">
                  <a:moveTo>
                    <a:pt x="0" y="0"/>
                  </a:moveTo>
                  <a:lnTo>
                    <a:pt x="5999226" y="0"/>
                  </a:lnTo>
                  <a:lnTo>
                    <a:pt x="5999226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91" name="TextBox 91"/>
          <p:cNvSpPr txBox="1"/>
          <p:nvPr/>
        </p:nvSpPr>
        <p:spPr>
          <a:xfrm>
            <a:off x="13285660" y="5255495"/>
            <a:ext cx="4559056" cy="468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0"/>
              </a:lnSpc>
            </a:pP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510 of 11,525 levels fail QC in the Bay; drawn red, never dropped.</a:t>
            </a:r>
          </a:p>
        </p:txBody>
      </p:sp>
      <p:grpSp>
        <p:nvGrpSpPr>
          <p:cNvPr id="92" name="Group 92"/>
          <p:cNvGrpSpPr/>
          <p:nvPr/>
        </p:nvGrpSpPr>
        <p:grpSpPr>
          <a:xfrm>
            <a:off x="9646920" y="6417583"/>
            <a:ext cx="3638740" cy="9144"/>
            <a:chOff x="0" y="0"/>
            <a:chExt cx="4851654" cy="12192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4851654" cy="12192"/>
            </a:xfrm>
            <a:custGeom>
              <a:avLst/>
              <a:gdLst/>
              <a:ahLst/>
              <a:cxnLst/>
              <a:rect l="l" t="t" r="r" b="b"/>
              <a:pathLst>
                <a:path w="4851654" h="12192">
                  <a:moveTo>
                    <a:pt x="0" y="0"/>
                  </a:moveTo>
                  <a:lnTo>
                    <a:pt x="4851654" y="0"/>
                  </a:lnTo>
                  <a:lnTo>
                    <a:pt x="4851654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94" name="TextBox 94"/>
          <p:cNvSpPr txBox="1"/>
          <p:nvPr/>
        </p:nvSpPr>
        <p:spPr>
          <a:xfrm>
            <a:off x="9646920" y="5869000"/>
            <a:ext cx="3672554" cy="248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0"/>
              </a:lnSpc>
            </a:pPr>
            <a:r>
              <a:rPr lang="en-US" sz="1350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An assistant could invent numbers</a:t>
            </a:r>
          </a:p>
        </p:txBody>
      </p:sp>
      <p:grpSp>
        <p:nvGrpSpPr>
          <p:cNvPr id="95" name="Group 95"/>
          <p:cNvGrpSpPr/>
          <p:nvPr/>
        </p:nvGrpSpPr>
        <p:grpSpPr>
          <a:xfrm>
            <a:off x="13285660" y="6417583"/>
            <a:ext cx="4499420" cy="9144"/>
            <a:chOff x="0" y="0"/>
            <a:chExt cx="5999226" cy="12192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5999226" cy="12192"/>
            </a:xfrm>
            <a:custGeom>
              <a:avLst/>
              <a:gdLst/>
              <a:ahLst/>
              <a:cxnLst/>
              <a:rect l="l" t="t" r="r" b="b"/>
              <a:pathLst>
                <a:path w="5999226" h="12192">
                  <a:moveTo>
                    <a:pt x="0" y="0"/>
                  </a:moveTo>
                  <a:lnTo>
                    <a:pt x="5999226" y="0"/>
                  </a:lnTo>
                  <a:lnTo>
                    <a:pt x="5999226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97" name="TextBox 97"/>
          <p:cNvSpPr txBox="1"/>
          <p:nvPr/>
        </p:nvSpPr>
        <p:spPr>
          <a:xfrm>
            <a:off x="13285660" y="5869000"/>
            <a:ext cx="4559056" cy="468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0"/>
              </a:lnSpc>
            </a:pP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It reaches data only through our API; an untraceable number is flagged on screen.</a:t>
            </a:r>
          </a:p>
        </p:txBody>
      </p:sp>
      <p:grpSp>
        <p:nvGrpSpPr>
          <p:cNvPr id="98" name="Group 98"/>
          <p:cNvGrpSpPr/>
          <p:nvPr/>
        </p:nvGrpSpPr>
        <p:grpSpPr>
          <a:xfrm>
            <a:off x="9646920" y="7031088"/>
            <a:ext cx="3638740" cy="9144"/>
            <a:chOff x="0" y="0"/>
            <a:chExt cx="4851654" cy="12192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4851654" cy="12192"/>
            </a:xfrm>
            <a:custGeom>
              <a:avLst/>
              <a:gdLst/>
              <a:ahLst/>
              <a:cxnLst/>
              <a:rect l="l" t="t" r="r" b="b"/>
              <a:pathLst>
                <a:path w="4851654" h="12192">
                  <a:moveTo>
                    <a:pt x="0" y="0"/>
                  </a:moveTo>
                  <a:lnTo>
                    <a:pt x="4851654" y="0"/>
                  </a:lnTo>
                  <a:lnTo>
                    <a:pt x="4851654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100" name="TextBox 100"/>
          <p:cNvSpPr txBox="1"/>
          <p:nvPr/>
        </p:nvSpPr>
        <p:spPr>
          <a:xfrm>
            <a:off x="9646920" y="6482505"/>
            <a:ext cx="3672554" cy="248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0"/>
              </a:lnSpc>
            </a:pPr>
            <a:r>
              <a:rPr lang="en-US" sz="1350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A small host ran out of memory</a:t>
            </a:r>
          </a:p>
        </p:txBody>
      </p:sp>
      <p:grpSp>
        <p:nvGrpSpPr>
          <p:cNvPr id="101" name="Group 101"/>
          <p:cNvGrpSpPr/>
          <p:nvPr/>
        </p:nvGrpSpPr>
        <p:grpSpPr>
          <a:xfrm>
            <a:off x="13285660" y="7031088"/>
            <a:ext cx="4499420" cy="9144"/>
            <a:chOff x="0" y="0"/>
            <a:chExt cx="5999226" cy="12192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5999226" cy="12192"/>
            </a:xfrm>
            <a:custGeom>
              <a:avLst/>
              <a:gdLst/>
              <a:ahLst/>
              <a:cxnLst/>
              <a:rect l="l" t="t" r="r" b="b"/>
              <a:pathLst>
                <a:path w="5999226" h="12192">
                  <a:moveTo>
                    <a:pt x="0" y="0"/>
                  </a:moveTo>
                  <a:lnTo>
                    <a:pt x="5999226" y="0"/>
                  </a:lnTo>
                  <a:lnTo>
                    <a:pt x="5999226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103" name="TextBox 103"/>
          <p:cNvSpPr txBox="1"/>
          <p:nvPr/>
        </p:nvSpPr>
        <p:spPr>
          <a:xfrm>
            <a:off x="13285660" y="6482505"/>
            <a:ext cx="4559056" cy="468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0"/>
              </a:lnSpc>
            </a:pP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Shared S3 client and capped caches; we ask for 1 GB, measured 639 MB peak.</a:t>
            </a:r>
          </a:p>
        </p:txBody>
      </p:sp>
      <p:grpSp>
        <p:nvGrpSpPr>
          <p:cNvPr id="104" name="Group 104"/>
          <p:cNvGrpSpPr/>
          <p:nvPr/>
        </p:nvGrpSpPr>
        <p:grpSpPr>
          <a:xfrm>
            <a:off x="9646920" y="7099668"/>
            <a:ext cx="8156448" cy="9144"/>
            <a:chOff x="0" y="0"/>
            <a:chExt cx="10875264" cy="12192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10875264" cy="12192"/>
            </a:xfrm>
            <a:custGeom>
              <a:avLst/>
              <a:gdLst/>
              <a:ahLst/>
              <a:cxnLst/>
              <a:rect l="l" t="t" r="r" b="b"/>
              <a:pathLst>
                <a:path w="10875264" h="12192">
                  <a:moveTo>
                    <a:pt x="0" y="0"/>
                  </a:moveTo>
                  <a:lnTo>
                    <a:pt x="10875264" y="0"/>
                  </a:lnTo>
                  <a:lnTo>
                    <a:pt x="10875264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17794224" y="7099668"/>
            <a:ext cx="9144" cy="1892808"/>
            <a:chOff x="0" y="0"/>
            <a:chExt cx="12192" cy="2523744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12192" cy="2523744"/>
            </a:xfrm>
            <a:custGeom>
              <a:avLst/>
              <a:gdLst/>
              <a:ahLst/>
              <a:cxnLst/>
              <a:rect l="l" t="t" r="r" b="b"/>
              <a:pathLst>
                <a:path w="12192" h="2523744">
                  <a:moveTo>
                    <a:pt x="0" y="0"/>
                  </a:moveTo>
                  <a:lnTo>
                    <a:pt x="12192" y="0"/>
                  </a:lnTo>
                  <a:lnTo>
                    <a:pt x="12192" y="2523744"/>
                  </a:lnTo>
                  <a:lnTo>
                    <a:pt x="0" y="252374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9646920" y="8983332"/>
            <a:ext cx="8156448" cy="9144"/>
            <a:chOff x="0" y="0"/>
            <a:chExt cx="10875264" cy="12192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10875264" cy="12192"/>
            </a:xfrm>
            <a:custGeom>
              <a:avLst/>
              <a:gdLst/>
              <a:ahLst/>
              <a:cxnLst/>
              <a:rect l="l" t="t" r="r" b="b"/>
              <a:pathLst>
                <a:path w="10875264" h="12192">
                  <a:moveTo>
                    <a:pt x="0" y="0"/>
                  </a:moveTo>
                  <a:lnTo>
                    <a:pt x="10875264" y="0"/>
                  </a:lnTo>
                  <a:lnTo>
                    <a:pt x="10875264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9646920" y="7099668"/>
            <a:ext cx="9144" cy="1892808"/>
            <a:chOff x="0" y="0"/>
            <a:chExt cx="12192" cy="2523744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12192" cy="2523744"/>
            </a:xfrm>
            <a:custGeom>
              <a:avLst/>
              <a:gdLst/>
              <a:ahLst/>
              <a:cxnLst/>
              <a:rect l="l" t="t" r="r" b="b"/>
              <a:pathLst>
                <a:path w="12192" h="2523744">
                  <a:moveTo>
                    <a:pt x="0" y="0"/>
                  </a:moveTo>
                  <a:lnTo>
                    <a:pt x="12192" y="0"/>
                  </a:lnTo>
                  <a:lnTo>
                    <a:pt x="12192" y="2523744"/>
                  </a:lnTo>
                  <a:lnTo>
                    <a:pt x="0" y="252374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112" name="TextBox 112"/>
          <p:cNvSpPr txBox="1"/>
          <p:nvPr/>
        </p:nvSpPr>
        <p:spPr>
          <a:xfrm>
            <a:off x="9713215" y="7044239"/>
            <a:ext cx="3178722" cy="1830301"/>
          </a:xfrm>
          <a:prstGeom prst="rect">
            <a:avLst/>
          </a:prstGeom>
        </p:spPr>
        <p:txBody>
          <a:bodyPr wrap="square" lIns="0" tIns="60000" rIns="0" bIns="0" rtlCol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dirty="0">
                <a:solidFill>
                  <a:srgbClr val="1F4E79"/>
                </a:solidFill>
                <a:latin typeface="Arial Bold"/>
              </a:rPr>
              <a:t>SUSTAINABILITY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dirty="0">
                <a:solidFill>
                  <a:srgbClr val="4F5B69"/>
                </a:solidFill>
                <a:latin typeface="Arial"/>
              </a:rPr>
              <a:t>Free public data; only AI calls cost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dirty="0">
                <a:solidFill>
                  <a:srgbClr val="4F5B69"/>
                </a:solidFill>
                <a:latin typeface="Arial"/>
              </a:rPr>
              <a:t>Changed source = one fetch function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dirty="0">
                <a:solidFill>
                  <a:srgbClr val="4F5B69"/>
                </a:solidFill>
                <a:latin typeface="Arial"/>
              </a:rPr>
              <a:t>Test harness re-reads every source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dirty="0">
                <a:solidFill>
                  <a:srgbClr val="4F5B69"/>
                </a:solidFill>
                <a:latin typeface="Arial"/>
              </a:rPr>
              <a:t>Open source; issues and PRs open</a:t>
            </a:r>
            <a:endParaRPr lang="en-IN" sz="1500" b="0" dirty="0">
              <a:solidFill>
                <a:srgbClr val="4F5B69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lang="en-GB" sz="1500">
              <a:solidFill>
                <a:srgbClr val="4F5B69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500" b="0" dirty="0">
              <a:solidFill>
                <a:srgbClr val="4F5B69"/>
              </a:solidFill>
              <a:latin typeface="Arial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12891937" y="7044239"/>
            <a:ext cx="4768084" cy="330000"/>
          </a:xfrm>
          <a:prstGeom prst="rect">
            <a:avLst/>
          </a:prstGeom>
          <a:noFill/>
        </p:spPr>
        <p:txBody>
          <a:bodyPr wrap="square" tIns="600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F4E79"/>
                </a:solidFill>
                <a:latin typeface="Arial Bold"/>
              </a:rPr>
              <a:t>ROADMAP</a:t>
            </a:r>
          </a:p>
        </p:txBody>
      </p:sp>
      <p:sp>
        <p:nvSpPr>
          <p:cNvPr id="114" name="Pentagon 113"/>
          <p:cNvSpPr/>
          <p:nvPr/>
        </p:nvSpPr>
        <p:spPr>
          <a:xfrm>
            <a:off x="12891937" y="7464239"/>
            <a:ext cx="1172021" cy="1359325"/>
          </a:xfrm>
          <a:prstGeom prst="homePlat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rIns="1700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dirty="0">
                <a:solidFill>
                  <a:srgbClr val="FFFFFF"/>
                </a:solidFill>
                <a:latin typeface="Arial Bold"/>
              </a:rPr>
              <a:t>NOW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dirty="0">
                <a:solidFill>
                  <a:srgbClr val="FFFFFF"/>
                </a:solidFill>
                <a:latin typeface="Arial"/>
              </a:rPr>
              <a:t>built, live, ML</a:t>
            </a:r>
          </a:p>
        </p:txBody>
      </p:sp>
      <p:sp>
        <p:nvSpPr>
          <p:cNvPr id="115" name="Pentagon 114"/>
          <p:cNvSpPr/>
          <p:nvPr/>
        </p:nvSpPr>
        <p:spPr>
          <a:xfrm>
            <a:off x="14083958" y="7464239"/>
            <a:ext cx="1172021" cy="1359325"/>
          </a:xfrm>
          <a:prstGeom prst="homePlate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rIns="1700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dirty="0">
                <a:solidFill>
                  <a:srgbClr val="FFFFFF"/>
                </a:solidFill>
                <a:latin typeface="Arial Bold"/>
              </a:rPr>
              <a:t>3 MO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dirty="0">
                <a:solidFill>
                  <a:srgbClr val="FFFFFF"/>
                </a:solidFill>
                <a:latin typeface="Arial"/>
              </a:rPr>
              <a:t>INCOIS, school pilot</a:t>
            </a:r>
          </a:p>
        </p:txBody>
      </p:sp>
      <p:sp>
        <p:nvSpPr>
          <p:cNvPr id="116" name="Pentagon 115"/>
          <p:cNvSpPr/>
          <p:nvPr/>
        </p:nvSpPr>
        <p:spPr>
          <a:xfrm>
            <a:off x="15275979" y="7464239"/>
            <a:ext cx="1172021" cy="1359325"/>
          </a:xfrm>
          <a:prstGeom prst="homePlate">
            <a:avLst/>
          </a:prstGeom>
          <a:solidFill>
            <a:srgbClr val="3C8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rIns="1700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dirty="0">
                <a:solidFill>
                  <a:srgbClr val="FFFFFF"/>
                </a:solidFill>
                <a:latin typeface="Arial Bold"/>
              </a:rPr>
              <a:t>6 MO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dirty="0">
                <a:solidFill>
                  <a:srgbClr val="FFFFFF"/>
                </a:solidFill>
                <a:latin typeface="Arial"/>
              </a:rPr>
              <a:t>INCOIS servers, SSO, OGC WCS</a:t>
            </a:r>
          </a:p>
        </p:txBody>
      </p:sp>
      <p:sp>
        <p:nvSpPr>
          <p:cNvPr id="117" name="Pentagon 116"/>
          <p:cNvSpPr/>
          <p:nvPr/>
        </p:nvSpPr>
        <p:spPr>
          <a:xfrm>
            <a:off x="16468000" y="7464239"/>
            <a:ext cx="1172021" cy="1359325"/>
          </a:xfrm>
          <a:prstGeom prst="homePlate">
            <a:avLst/>
          </a:prstGeom>
          <a:solidFill>
            <a:srgbClr val="5A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rIns="1700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dirty="0">
                <a:solidFill>
                  <a:srgbClr val="FFFFFF"/>
                </a:solidFill>
                <a:latin typeface="Arial Bold"/>
              </a:rPr>
              <a:t>12 MO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dirty="0">
                <a:solidFill>
                  <a:srgbClr val="FFFFFF"/>
                </a:solidFill>
                <a:latin typeface="Arial"/>
              </a:rPr>
              <a:t>HF-radar, more basins</a:t>
            </a:r>
          </a:p>
        </p:txBody>
      </p:sp>
      <p:grpSp>
        <p:nvGrpSpPr>
          <p:cNvPr id="119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20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21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22" name="Group 10"/>
          <p:cNvGrpSpPr/>
          <p:nvPr/>
        </p:nvGrpSpPr>
        <p:grpSpPr>
          <a:xfrm>
            <a:off x="3000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23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Team Null · K26125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01" name="Freeform 1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28046" y="378371"/>
            <a:ext cx="1210999" cy="1210999"/>
            <a:chOff x="0" y="0"/>
            <a:chExt cx="1614665" cy="1614665"/>
          </a:xfrm>
        </p:grpSpPr>
        <p:sp>
          <p:nvSpPr>
            <p:cNvPr id="13" name="Freeform 13" descr="logo.png"/>
            <p:cNvSpPr/>
            <p:nvPr/>
          </p:nvSpPr>
          <p:spPr>
            <a:xfrm>
              <a:off x="0" y="0"/>
              <a:ext cx="1614678" cy="1614678"/>
            </a:xfrm>
            <a:custGeom>
              <a:avLst/>
              <a:gdLst/>
              <a:ahLst/>
              <a:cxnLst/>
              <a:rect l="l" t="t" r="r" b="b"/>
              <a:pathLst>
                <a:path w="1614678" h="1614678">
                  <a:moveTo>
                    <a:pt x="0" y="0"/>
                  </a:moveTo>
                  <a:lnTo>
                    <a:pt x="1614678" y="0"/>
                  </a:lnTo>
                  <a:lnTo>
                    <a:pt x="1614678" y="1614678"/>
                  </a:lnTo>
                  <a:lnTo>
                    <a:pt x="0" y="16146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02920" y="1818389"/>
            <a:ext cx="17800625" cy="310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3"/>
              </a:lnSpc>
            </a:pPr>
            <a:r>
              <a:rPr lang="en-US" sz="1774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EACH TYPE OF USER AND THE IMPACT ON THEM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02920" y="2234346"/>
            <a:ext cx="4986118" cy="293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4"/>
              </a:lnSpc>
            </a:pPr>
            <a:r>
              <a:rPr lang="en-US" sz="1624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INCOIS forecasters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502920" y="2610183"/>
            <a:ext cx="2406729" cy="3310128"/>
            <a:chOff x="0" y="0"/>
            <a:chExt cx="3208972" cy="4413504"/>
          </a:xfrm>
        </p:grpSpPr>
        <p:sp>
          <p:nvSpPr>
            <p:cNvPr id="17" name="Freeform 17" descr="crop-before.jpg"/>
            <p:cNvSpPr/>
            <p:nvPr/>
          </p:nvSpPr>
          <p:spPr>
            <a:xfrm>
              <a:off x="0" y="0"/>
              <a:ext cx="3208909" cy="4413504"/>
            </a:xfrm>
            <a:custGeom>
              <a:avLst/>
              <a:gdLst/>
              <a:ahLst/>
              <a:cxnLst/>
              <a:rect l="l" t="t" r="r" b="b"/>
              <a:pathLst>
                <a:path w="3208909" h="4413504">
                  <a:moveTo>
                    <a:pt x="0" y="0"/>
                  </a:moveTo>
                  <a:lnTo>
                    <a:pt x="3208909" y="0"/>
                  </a:lnTo>
                  <a:lnTo>
                    <a:pt x="3208909" y="4413504"/>
                  </a:lnTo>
                  <a:lnTo>
                    <a:pt x="0" y="4413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0192" r="-60197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02920" y="2610183"/>
            <a:ext cx="2406729" cy="9144"/>
            <a:chOff x="0" y="0"/>
            <a:chExt cx="3208972" cy="1219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208909" cy="12192"/>
            </a:xfrm>
            <a:custGeom>
              <a:avLst/>
              <a:gdLst/>
              <a:ahLst/>
              <a:cxnLst/>
              <a:rect l="l" t="t" r="r" b="b"/>
              <a:pathLst>
                <a:path w="3208909" h="12192">
                  <a:moveTo>
                    <a:pt x="0" y="0"/>
                  </a:moveTo>
                  <a:lnTo>
                    <a:pt x="3208909" y="0"/>
                  </a:lnTo>
                  <a:lnTo>
                    <a:pt x="3208909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900505" y="2610183"/>
            <a:ext cx="9144" cy="3310128"/>
            <a:chOff x="0" y="0"/>
            <a:chExt cx="12192" cy="441350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192" cy="4413504"/>
            </a:xfrm>
            <a:custGeom>
              <a:avLst/>
              <a:gdLst/>
              <a:ahLst/>
              <a:cxnLst/>
              <a:rect l="l" t="t" r="r" b="b"/>
              <a:pathLst>
                <a:path w="12192" h="4413504">
                  <a:moveTo>
                    <a:pt x="0" y="0"/>
                  </a:moveTo>
                  <a:lnTo>
                    <a:pt x="12192" y="0"/>
                  </a:lnTo>
                  <a:lnTo>
                    <a:pt x="12192" y="4413504"/>
                  </a:lnTo>
                  <a:lnTo>
                    <a:pt x="0" y="44135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02920" y="5911167"/>
            <a:ext cx="2406729" cy="9144"/>
            <a:chOff x="0" y="0"/>
            <a:chExt cx="3208972" cy="1219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208909" cy="12192"/>
            </a:xfrm>
            <a:custGeom>
              <a:avLst/>
              <a:gdLst/>
              <a:ahLst/>
              <a:cxnLst/>
              <a:rect l="l" t="t" r="r" b="b"/>
              <a:pathLst>
                <a:path w="3208909" h="12192">
                  <a:moveTo>
                    <a:pt x="0" y="0"/>
                  </a:moveTo>
                  <a:lnTo>
                    <a:pt x="3208909" y="0"/>
                  </a:lnTo>
                  <a:lnTo>
                    <a:pt x="3208909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02920" y="2610183"/>
            <a:ext cx="9144" cy="3310128"/>
            <a:chOff x="0" y="0"/>
            <a:chExt cx="12192" cy="441350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192" cy="4413504"/>
            </a:xfrm>
            <a:custGeom>
              <a:avLst/>
              <a:gdLst/>
              <a:ahLst/>
              <a:cxnLst/>
              <a:rect l="l" t="t" r="r" b="b"/>
              <a:pathLst>
                <a:path w="12192" h="4413504">
                  <a:moveTo>
                    <a:pt x="0" y="0"/>
                  </a:moveTo>
                  <a:lnTo>
                    <a:pt x="12192" y="0"/>
                  </a:lnTo>
                  <a:lnTo>
                    <a:pt x="12192" y="4413504"/>
                  </a:lnTo>
                  <a:lnTo>
                    <a:pt x="0" y="44135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502920" y="5907538"/>
            <a:ext cx="2460098" cy="252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9"/>
              </a:lnSpc>
            </a:pPr>
            <a:r>
              <a:rPr lang="en-US" sz="120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2020-05-14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2955369" y="2610183"/>
            <a:ext cx="2406729" cy="3310128"/>
            <a:chOff x="0" y="0"/>
            <a:chExt cx="3208972" cy="4413504"/>
          </a:xfrm>
        </p:grpSpPr>
        <p:sp>
          <p:nvSpPr>
            <p:cNvPr id="28" name="Freeform 28" descr="crop-after.jpg"/>
            <p:cNvSpPr/>
            <p:nvPr/>
          </p:nvSpPr>
          <p:spPr>
            <a:xfrm>
              <a:off x="0" y="0"/>
              <a:ext cx="3208909" cy="4413504"/>
            </a:xfrm>
            <a:custGeom>
              <a:avLst/>
              <a:gdLst/>
              <a:ahLst/>
              <a:cxnLst/>
              <a:rect l="l" t="t" r="r" b="b"/>
              <a:pathLst>
                <a:path w="3208909" h="4413504">
                  <a:moveTo>
                    <a:pt x="0" y="0"/>
                  </a:moveTo>
                  <a:lnTo>
                    <a:pt x="3208909" y="0"/>
                  </a:lnTo>
                  <a:lnTo>
                    <a:pt x="3208909" y="4413504"/>
                  </a:lnTo>
                  <a:lnTo>
                    <a:pt x="0" y="4413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60192" r="-60197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955369" y="2610183"/>
            <a:ext cx="2406729" cy="9144"/>
            <a:chOff x="0" y="0"/>
            <a:chExt cx="3208972" cy="1219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208909" cy="12192"/>
            </a:xfrm>
            <a:custGeom>
              <a:avLst/>
              <a:gdLst/>
              <a:ahLst/>
              <a:cxnLst/>
              <a:rect l="l" t="t" r="r" b="b"/>
              <a:pathLst>
                <a:path w="3208909" h="12192">
                  <a:moveTo>
                    <a:pt x="0" y="0"/>
                  </a:moveTo>
                  <a:lnTo>
                    <a:pt x="3208909" y="0"/>
                  </a:lnTo>
                  <a:lnTo>
                    <a:pt x="3208909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352955" y="2610183"/>
            <a:ext cx="9144" cy="3310128"/>
            <a:chOff x="0" y="0"/>
            <a:chExt cx="12192" cy="441350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2192" cy="4413504"/>
            </a:xfrm>
            <a:custGeom>
              <a:avLst/>
              <a:gdLst/>
              <a:ahLst/>
              <a:cxnLst/>
              <a:rect l="l" t="t" r="r" b="b"/>
              <a:pathLst>
                <a:path w="12192" h="4413504">
                  <a:moveTo>
                    <a:pt x="0" y="0"/>
                  </a:moveTo>
                  <a:lnTo>
                    <a:pt x="12192" y="0"/>
                  </a:lnTo>
                  <a:lnTo>
                    <a:pt x="12192" y="4413504"/>
                  </a:lnTo>
                  <a:lnTo>
                    <a:pt x="0" y="44135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2955369" y="5911167"/>
            <a:ext cx="2406729" cy="9144"/>
            <a:chOff x="0" y="0"/>
            <a:chExt cx="3208972" cy="1219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208909" cy="12192"/>
            </a:xfrm>
            <a:custGeom>
              <a:avLst/>
              <a:gdLst/>
              <a:ahLst/>
              <a:cxnLst/>
              <a:rect l="l" t="t" r="r" b="b"/>
              <a:pathLst>
                <a:path w="3208909" h="12192">
                  <a:moveTo>
                    <a:pt x="0" y="0"/>
                  </a:moveTo>
                  <a:lnTo>
                    <a:pt x="3208909" y="0"/>
                  </a:lnTo>
                  <a:lnTo>
                    <a:pt x="3208909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955369" y="2610183"/>
            <a:ext cx="9144" cy="3310128"/>
            <a:chOff x="0" y="0"/>
            <a:chExt cx="12192" cy="441350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2192" cy="4413504"/>
            </a:xfrm>
            <a:custGeom>
              <a:avLst/>
              <a:gdLst/>
              <a:ahLst/>
              <a:cxnLst/>
              <a:rect l="l" t="t" r="r" b="b"/>
              <a:pathLst>
                <a:path w="12192" h="4413504">
                  <a:moveTo>
                    <a:pt x="0" y="0"/>
                  </a:moveTo>
                  <a:lnTo>
                    <a:pt x="12192" y="0"/>
                  </a:lnTo>
                  <a:lnTo>
                    <a:pt x="12192" y="4413504"/>
                  </a:lnTo>
                  <a:lnTo>
                    <a:pt x="0" y="44135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2955369" y="5907538"/>
            <a:ext cx="2460098" cy="252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9"/>
              </a:lnSpc>
            </a:pPr>
            <a:r>
              <a:rPr lang="en-US" sz="120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2020-05-22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02920" y="6131585"/>
            <a:ext cx="4986118" cy="662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2"/>
              </a:lnSpc>
            </a:pPr>
            <a:r>
              <a:rPr lang="en-US" sz="1275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Before and after Cyclone Amphan</a:t>
            </a: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, one 28–31.5 °C bar: the cold wake shows; the box's mean surface temperature is 0.77 °C lower after.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618131" y="2234346"/>
            <a:ext cx="3988956" cy="293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4"/>
              </a:lnSpc>
            </a:pPr>
            <a:r>
              <a:rPr lang="en-US" sz="1624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Fishermen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5618131" y="2610183"/>
            <a:ext cx="3891058" cy="3310128"/>
            <a:chOff x="0" y="0"/>
            <a:chExt cx="5188077" cy="4413504"/>
          </a:xfrm>
        </p:grpSpPr>
        <p:sp>
          <p:nvSpPr>
            <p:cNvPr id="41" name="Freeform 41" descr="crop-fishing.jpg"/>
            <p:cNvSpPr/>
            <p:nvPr/>
          </p:nvSpPr>
          <p:spPr>
            <a:xfrm>
              <a:off x="0" y="0"/>
              <a:ext cx="5188077" cy="4413504"/>
            </a:xfrm>
            <a:custGeom>
              <a:avLst/>
              <a:gdLst/>
              <a:ahLst/>
              <a:cxnLst/>
              <a:rect l="l" t="t" r="r" b="b"/>
              <a:pathLst>
                <a:path w="5188077" h="4413504">
                  <a:moveTo>
                    <a:pt x="0" y="0"/>
                  </a:moveTo>
                  <a:lnTo>
                    <a:pt x="5188077" y="0"/>
                  </a:lnTo>
                  <a:lnTo>
                    <a:pt x="5188077" y="4413504"/>
                  </a:lnTo>
                  <a:lnTo>
                    <a:pt x="0" y="4413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-61079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618131" y="2610183"/>
            <a:ext cx="3891058" cy="9144"/>
            <a:chOff x="0" y="0"/>
            <a:chExt cx="5188077" cy="1219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5188077" cy="12192"/>
            </a:xfrm>
            <a:custGeom>
              <a:avLst/>
              <a:gdLst/>
              <a:ahLst/>
              <a:cxnLst/>
              <a:rect l="l" t="t" r="r" b="b"/>
              <a:pathLst>
                <a:path w="5188077" h="12192">
                  <a:moveTo>
                    <a:pt x="0" y="0"/>
                  </a:moveTo>
                  <a:lnTo>
                    <a:pt x="5188077" y="0"/>
                  </a:lnTo>
                  <a:lnTo>
                    <a:pt x="5188077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00044" y="2610183"/>
            <a:ext cx="9144" cy="3310128"/>
            <a:chOff x="0" y="0"/>
            <a:chExt cx="12192" cy="4413504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2192" cy="4413504"/>
            </a:xfrm>
            <a:custGeom>
              <a:avLst/>
              <a:gdLst/>
              <a:ahLst/>
              <a:cxnLst/>
              <a:rect l="l" t="t" r="r" b="b"/>
              <a:pathLst>
                <a:path w="12192" h="4413504">
                  <a:moveTo>
                    <a:pt x="0" y="0"/>
                  </a:moveTo>
                  <a:lnTo>
                    <a:pt x="12192" y="0"/>
                  </a:lnTo>
                  <a:lnTo>
                    <a:pt x="12192" y="4413504"/>
                  </a:lnTo>
                  <a:lnTo>
                    <a:pt x="0" y="44135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618131" y="5911167"/>
            <a:ext cx="3891058" cy="9144"/>
            <a:chOff x="0" y="0"/>
            <a:chExt cx="5188077" cy="12192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5188077" cy="12192"/>
            </a:xfrm>
            <a:custGeom>
              <a:avLst/>
              <a:gdLst/>
              <a:ahLst/>
              <a:cxnLst/>
              <a:rect l="l" t="t" r="r" b="b"/>
              <a:pathLst>
                <a:path w="5188077" h="12192">
                  <a:moveTo>
                    <a:pt x="0" y="0"/>
                  </a:moveTo>
                  <a:lnTo>
                    <a:pt x="5188077" y="0"/>
                  </a:lnTo>
                  <a:lnTo>
                    <a:pt x="5188077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618131" y="2610183"/>
            <a:ext cx="9144" cy="3310128"/>
            <a:chOff x="0" y="0"/>
            <a:chExt cx="12192" cy="4413504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2192" cy="4413504"/>
            </a:xfrm>
            <a:custGeom>
              <a:avLst/>
              <a:gdLst/>
              <a:ahLst/>
              <a:cxnLst/>
              <a:rect l="l" t="t" r="r" b="b"/>
              <a:pathLst>
                <a:path w="12192" h="4413504">
                  <a:moveTo>
                    <a:pt x="0" y="0"/>
                  </a:moveTo>
                  <a:lnTo>
                    <a:pt x="12192" y="0"/>
                  </a:lnTo>
                  <a:lnTo>
                    <a:pt x="12192" y="4413504"/>
                  </a:lnTo>
                  <a:lnTo>
                    <a:pt x="0" y="44135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5618131" y="5962145"/>
            <a:ext cx="3988956" cy="662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2"/>
              </a:lnSpc>
            </a:pPr>
            <a:r>
              <a:rPr lang="en-US" sz="1275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INCOIS's own fishing-zone advisories</a:t>
            </a: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, all fourteen sectors as published, beside today's waves and wind. Our indicator says "not an advisory".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765220" y="2234346"/>
            <a:ext cx="3988956" cy="293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4"/>
              </a:lnSpc>
            </a:pPr>
            <a:r>
              <a:rPr lang="en-US" sz="1624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Students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9765220" y="2610183"/>
            <a:ext cx="3891058" cy="3310128"/>
            <a:chOff x="0" y="0"/>
            <a:chExt cx="5188077" cy="4413504"/>
          </a:xfrm>
        </p:grpSpPr>
        <p:sp>
          <p:nvSpPr>
            <p:cNvPr id="53" name="Freeform 53" descr="crop-learn.jpg"/>
            <p:cNvSpPr/>
            <p:nvPr/>
          </p:nvSpPr>
          <p:spPr>
            <a:xfrm>
              <a:off x="0" y="0"/>
              <a:ext cx="5188077" cy="4413504"/>
            </a:xfrm>
            <a:custGeom>
              <a:avLst/>
              <a:gdLst/>
              <a:ahLst/>
              <a:cxnLst/>
              <a:rect l="l" t="t" r="r" b="b"/>
              <a:pathLst>
                <a:path w="5188077" h="4413504">
                  <a:moveTo>
                    <a:pt x="0" y="0"/>
                  </a:moveTo>
                  <a:lnTo>
                    <a:pt x="5188077" y="0"/>
                  </a:lnTo>
                  <a:lnTo>
                    <a:pt x="5188077" y="4413504"/>
                  </a:lnTo>
                  <a:lnTo>
                    <a:pt x="0" y="4413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-61079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9765220" y="2610183"/>
            <a:ext cx="3891058" cy="9144"/>
            <a:chOff x="0" y="0"/>
            <a:chExt cx="5188077" cy="12192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5188077" cy="12192"/>
            </a:xfrm>
            <a:custGeom>
              <a:avLst/>
              <a:gdLst/>
              <a:ahLst/>
              <a:cxnLst/>
              <a:rect l="l" t="t" r="r" b="b"/>
              <a:pathLst>
                <a:path w="5188077" h="12192">
                  <a:moveTo>
                    <a:pt x="0" y="0"/>
                  </a:moveTo>
                  <a:lnTo>
                    <a:pt x="5188077" y="0"/>
                  </a:lnTo>
                  <a:lnTo>
                    <a:pt x="5188077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3647134" y="2610183"/>
            <a:ext cx="9144" cy="3310128"/>
            <a:chOff x="0" y="0"/>
            <a:chExt cx="12192" cy="4413504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2192" cy="4413504"/>
            </a:xfrm>
            <a:custGeom>
              <a:avLst/>
              <a:gdLst/>
              <a:ahLst/>
              <a:cxnLst/>
              <a:rect l="l" t="t" r="r" b="b"/>
              <a:pathLst>
                <a:path w="12192" h="4413504">
                  <a:moveTo>
                    <a:pt x="0" y="0"/>
                  </a:moveTo>
                  <a:lnTo>
                    <a:pt x="12192" y="0"/>
                  </a:lnTo>
                  <a:lnTo>
                    <a:pt x="12192" y="4413504"/>
                  </a:lnTo>
                  <a:lnTo>
                    <a:pt x="0" y="44135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9765220" y="5911167"/>
            <a:ext cx="3891058" cy="9144"/>
            <a:chOff x="0" y="0"/>
            <a:chExt cx="5188077" cy="1219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5188077" cy="12192"/>
            </a:xfrm>
            <a:custGeom>
              <a:avLst/>
              <a:gdLst/>
              <a:ahLst/>
              <a:cxnLst/>
              <a:rect l="l" t="t" r="r" b="b"/>
              <a:pathLst>
                <a:path w="5188077" h="12192">
                  <a:moveTo>
                    <a:pt x="0" y="0"/>
                  </a:moveTo>
                  <a:lnTo>
                    <a:pt x="5188077" y="0"/>
                  </a:lnTo>
                  <a:lnTo>
                    <a:pt x="5188077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9765220" y="2610183"/>
            <a:ext cx="9144" cy="3310128"/>
            <a:chOff x="0" y="0"/>
            <a:chExt cx="12192" cy="4413504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2192" cy="4413504"/>
            </a:xfrm>
            <a:custGeom>
              <a:avLst/>
              <a:gdLst/>
              <a:ahLst/>
              <a:cxnLst/>
              <a:rect l="l" t="t" r="r" b="b"/>
              <a:pathLst>
                <a:path w="12192" h="4413504">
                  <a:moveTo>
                    <a:pt x="0" y="0"/>
                  </a:moveTo>
                  <a:lnTo>
                    <a:pt x="12192" y="0"/>
                  </a:lnTo>
                  <a:lnTo>
                    <a:pt x="12192" y="4413504"/>
                  </a:lnTo>
                  <a:lnTo>
                    <a:pt x="0" y="44135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9765220" y="5962145"/>
            <a:ext cx="3988956" cy="662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2"/>
              </a:lnSpc>
            </a:pPr>
            <a:r>
              <a:rPr lang="en-US" sz="1275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Six lessons for class 8–12</a:t>
            </a: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 on real data; quiz answers are read from the cube on screen, never from the language model.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3912310" y="2234346"/>
            <a:ext cx="3988956" cy="293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4"/>
              </a:lnSpc>
            </a:pPr>
            <a:r>
              <a:rPr lang="en-US" sz="1624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Public and policymakers</a:t>
            </a:r>
          </a:p>
        </p:txBody>
      </p:sp>
      <p:grpSp>
        <p:nvGrpSpPr>
          <p:cNvPr id="64" name="Group 64"/>
          <p:cNvGrpSpPr/>
          <p:nvPr/>
        </p:nvGrpSpPr>
        <p:grpSpPr>
          <a:xfrm>
            <a:off x="13912310" y="2610183"/>
            <a:ext cx="3891058" cy="3310128"/>
            <a:chOff x="0" y="0"/>
            <a:chExt cx="5188077" cy="4413504"/>
          </a:xfrm>
        </p:grpSpPr>
        <p:sp>
          <p:nvSpPr>
            <p:cNvPr id="65" name="Freeform 65" descr="crop-immersive.jpg"/>
            <p:cNvSpPr/>
            <p:nvPr/>
          </p:nvSpPr>
          <p:spPr>
            <a:xfrm>
              <a:off x="0" y="0"/>
              <a:ext cx="5188077" cy="4413504"/>
            </a:xfrm>
            <a:custGeom>
              <a:avLst/>
              <a:gdLst/>
              <a:ahLst/>
              <a:cxnLst/>
              <a:rect l="l" t="t" r="r" b="b"/>
              <a:pathLst>
                <a:path w="5188077" h="4413504">
                  <a:moveTo>
                    <a:pt x="0" y="0"/>
                  </a:moveTo>
                  <a:lnTo>
                    <a:pt x="5188077" y="0"/>
                  </a:lnTo>
                  <a:lnTo>
                    <a:pt x="5188077" y="4413504"/>
                  </a:lnTo>
                  <a:lnTo>
                    <a:pt x="0" y="4413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31667" r="-31667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3912310" y="2610183"/>
            <a:ext cx="3891058" cy="9144"/>
            <a:chOff x="0" y="0"/>
            <a:chExt cx="5188077" cy="12192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5188077" cy="12192"/>
            </a:xfrm>
            <a:custGeom>
              <a:avLst/>
              <a:gdLst/>
              <a:ahLst/>
              <a:cxnLst/>
              <a:rect l="l" t="t" r="r" b="b"/>
              <a:pathLst>
                <a:path w="5188077" h="12192">
                  <a:moveTo>
                    <a:pt x="0" y="0"/>
                  </a:moveTo>
                  <a:lnTo>
                    <a:pt x="5188077" y="0"/>
                  </a:lnTo>
                  <a:lnTo>
                    <a:pt x="5188077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7794224" y="2610183"/>
            <a:ext cx="9144" cy="3310128"/>
            <a:chOff x="0" y="0"/>
            <a:chExt cx="12192" cy="4413504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2192" cy="4413504"/>
            </a:xfrm>
            <a:custGeom>
              <a:avLst/>
              <a:gdLst/>
              <a:ahLst/>
              <a:cxnLst/>
              <a:rect l="l" t="t" r="r" b="b"/>
              <a:pathLst>
                <a:path w="12192" h="4413504">
                  <a:moveTo>
                    <a:pt x="0" y="0"/>
                  </a:moveTo>
                  <a:lnTo>
                    <a:pt x="12192" y="0"/>
                  </a:lnTo>
                  <a:lnTo>
                    <a:pt x="12192" y="4413504"/>
                  </a:lnTo>
                  <a:lnTo>
                    <a:pt x="0" y="44135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3912310" y="5911167"/>
            <a:ext cx="3891058" cy="9144"/>
            <a:chOff x="0" y="0"/>
            <a:chExt cx="5188077" cy="12192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5188077" cy="12192"/>
            </a:xfrm>
            <a:custGeom>
              <a:avLst/>
              <a:gdLst/>
              <a:ahLst/>
              <a:cxnLst/>
              <a:rect l="l" t="t" r="r" b="b"/>
              <a:pathLst>
                <a:path w="5188077" h="12192">
                  <a:moveTo>
                    <a:pt x="0" y="0"/>
                  </a:moveTo>
                  <a:lnTo>
                    <a:pt x="5188077" y="0"/>
                  </a:lnTo>
                  <a:lnTo>
                    <a:pt x="5188077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3912310" y="2610183"/>
            <a:ext cx="9144" cy="3310128"/>
            <a:chOff x="0" y="0"/>
            <a:chExt cx="12192" cy="4413504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2192" cy="4413504"/>
            </a:xfrm>
            <a:custGeom>
              <a:avLst/>
              <a:gdLst/>
              <a:ahLst/>
              <a:cxnLst/>
              <a:rect l="l" t="t" r="r" b="b"/>
              <a:pathLst>
                <a:path w="12192" h="4413504">
                  <a:moveTo>
                    <a:pt x="0" y="0"/>
                  </a:moveTo>
                  <a:lnTo>
                    <a:pt x="12192" y="0"/>
                  </a:lnTo>
                  <a:lnTo>
                    <a:pt x="12192" y="4413504"/>
                  </a:lnTo>
                  <a:lnTo>
                    <a:pt x="0" y="44135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74" name="TextBox 74"/>
          <p:cNvSpPr txBox="1"/>
          <p:nvPr/>
        </p:nvSpPr>
        <p:spPr>
          <a:xfrm>
            <a:off x="13912310" y="5962145"/>
            <a:ext cx="3988956" cy="662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2"/>
              </a:lnSpc>
            </a:pPr>
            <a:r>
              <a:rPr lang="en-US" sz="1275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Immersive view and cinematic tour</a:t>
            </a: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: one day of the planet's currents and winds, for exhibitions and awareness campaigns.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512064" y="6885222"/>
            <a:ext cx="17800625" cy="293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4"/>
              </a:lnSpc>
            </a:pPr>
            <a:r>
              <a:rPr lang="en-US" sz="1674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BENEFITS</a:t>
            </a:r>
          </a:p>
        </p:txBody>
      </p:sp>
      <p:grpSp>
        <p:nvGrpSpPr>
          <p:cNvPr id="76" name="Group 76"/>
          <p:cNvGrpSpPr/>
          <p:nvPr/>
        </p:nvGrpSpPr>
        <p:grpSpPr>
          <a:xfrm>
            <a:off x="365760" y="7218645"/>
            <a:ext cx="5608272" cy="1961026"/>
            <a:chOff x="0" y="0"/>
            <a:chExt cx="7477696" cy="2614701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7477633" cy="2614676"/>
            </a:xfrm>
            <a:custGeom>
              <a:avLst/>
              <a:gdLst/>
              <a:ahLst/>
              <a:cxnLst/>
              <a:rect l="l" t="t" r="r" b="b"/>
              <a:pathLst>
                <a:path w="7477633" h="2614676">
                  <a:moveTo>
                    <a:pt x="0" y="0"/>
                  </a:moveTo>
                  <a:lnTo>
                    <a:pt x="7477633" y="0"/>
                  </a:lnTo>
                  <a:lnTo>
                    <a:pt x="7477633" y="2614676"/>
                  </a:lnTo>
                  <a:lnTo>
                    <a:pt x="0" y="26146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365760" y="7218645"/>
            <a:ext cx="5608272" cy="36576"/>
            <a:chOff x="0" y="0"/>
            <a:chExt cx="7477696" cy="48768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7477633" cy="48768"/>
            </a:xfrm>
            <a:custGeom>
              <a:avLst/>
              <a:gdLst/>
              <a:ahLst/>
              <a:cxnLst/>
              <a:rect l="l" t="t" r="r" b="b"/>
              <a:pathLst>
                <a:path w="7477633" h="48768">
                  <a:moveTo>
                    <a:pt x="0" y="0"/>
                  </a:moveTo>
                  <a:lnTo>
                    <a:pt x="7477633" y="0"/>
                  </a:lnTo>
                  <a:lnTo>
                    <a:pt x="7477633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80" name="TextBox 80"/>
          <p:cNvSpPr txBox="1"/>
          <p:nvPr/>
        </p:nvSpPr>
        <p:spPr>
          <a:xfrm>
            <a:off x="502920" y="7305989"/>
            <a:ext cx="5493972" cy="301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sz="1699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Social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667512" y="7615418"/>
            <a:ext cx="5324437" cy="503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8"/>
              </a:lnSpc>
            </a:pPr>
            <a:r>
              <a:rPr lang="en-US" sz="154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Disaster preparedness: the warm layer a cyclone feeds on, seen in 3D, with cyclone heat potential per float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667512" y="8089335"/>
            <a:ext cx="5324437" cy="503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8"/>
              </a:lnSpc>
            </a:pPr>
            <a:r>
              <a:rPr lang="en-US" sz="154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Safety at sea: the official advisory first, with the sea state beside it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667512" y="8564513"/>
            <a:ext cx="5020770" cy="503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8"/>
              </a:lnSpc>
            </a:pPr>
            <a:r>
              <a:rPr lang="en-US" sz="154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Ocean literacy: a course in any school browser, on the same data forecasters use</a:t>
            </a:r>
          </a:p>
        </p:txBody>
      </p:sp>
      <p:grpSp>
        <p:nvGrpSpPr>
          <p:cNvPr id="84" name="Group 84"/>
          <p:cNvGrpSpPr/>
          <p:nvPr/>
        </p:nvGrpSpPr>
        <p:grpSpPr>
          <a:xfrm>
            <a:off x="6202632" y="7218645"/>
            <a:ext cx="5608339" cy="1961026"/>
            <a:chOff x="0" y="0"/>
            <a:chExt cx="7477785" cy="2614701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7477760" cy="2614676"/>
            </a:xfrm>
            <a:custGeom>
              <a:avLst/>
              <a:gdLst/>
              <a:ahLst/>
              <a:cxnLst/>
              <a:rect l="l" t="t" r="r" b="b"/>
              <a:pathLst>
                <a:path w="7477760" h="2614676">
                  <a:moveTo>
                    <a:pt x="0" y="0"/>
                  </a:moveTo>
                  <a:lnTo>
                    <a:pt x="7477760" y="0"/>
                  </a:lnTo>
                  <a:lnTo>
                    <a:pt x="7477760" y="2614676"/>
                  </a:lnTo>
                  <a:lnTo>
                    <a:pt x="0" y="2614676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6202632" y="7218645"/>
            <a:ext cx="5608339" cy="36576"/>
            <a:chOff x="0" y="0"/>
            <a:chExt cx="7477785" cy="48768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7477760" cy="48768"/>
            </a:xfrm>
            <a:custGeom>
              <a:avLst/>
              <a:gdLst/>
              <a:ahLst/>
              <a:cxnLst/>
              <a:rect l="l" t="t" r="r" b="b"/>
              <a:pathLst>
                <a:path w="7477760" h="48768">
                  <a:moveTo>
                    <a:pt x="0" y="0"/>
                  </a:moveTo>
                  <a:lnTo>
                    <a:pt x="7477760" y="0"/>
                  </a:lnTo>
                  <a:lnTo>
                    <a:pt x="7477760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88" name="TextBox 88"/>
          <p:cNvSpPr txBox="1"/>
          <p:nvPr/>
        </p:nvSpPr>
        <p:spPr>
          <a:xfrm>
            <a:off x="6339792" y="7305989"/>
            <a:ext cx="5494049" cy="301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sz="1699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Economic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6504384" y="7615418"/>
            <a:ext cx="5324513" cy="503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8"/>
              </a:lnSpc>
            </a:pPr>
            <a:r>
              <a:rPr lang="en-US" sz="154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Open source, no licences; a static site and one server (1 GB of memory measured enough)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6504384" y="8089335"/>
            <a:ext cx="5324513" cy="503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8"/>
              </a:lnSpc>
            </a:pPr>
            <a:r>
              <a:rPr lang="en-US" sz="154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No archive to buy or store: public data is read where it lives, a day at a time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6504384" y="8563251"/>
            <a:ext cx="5324513" cy="503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8"/>
              </a:lnSpc>
            </a:pPr>
            <a:r>
              <a:rPr lang="en-US" sz="154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Fishing advisories exist to cut search time at sea; here they sit where boats plan</a:t>
            </a:r>
          </a:p>
        </p:txBody>
      </p:sp>
      <p:grpSp>
        <p:nvGrpSpPr>
          <p:cNvPr id="92" name="Group 92"/>
          <p:cNvGrpSpPr/>
          <p:nvPr/>
        </p:nvGrpSpPr>
        <p:grpSpPr>
          <a:xfrm>
            <a:off x="12039571" y="7218645"/>
            <a:ext cx="5608272" cy="1961026"/>
            <a:chOff x="0" y="0"/>
            <a:chExt cx="7477696" cy="2614701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7477633" cy="2614676"/>
            </a:xfrm>
            <a:custGeom>
              <a:avLst/>
              <a:gdLst/>
              <a:ahLst/>
              <a:cxnLst/>
              <a:rect l="l" t="t" r="r" b="b"/>
              <a:pathLst>
                <a:path w="7477633" h="2614676">
                  <a:moveTo>
                    <a:pt x="0" y="0"/>
                  </a:moveTo>
                  <a:lnTo>
                    <a:pt x="7477633" y="0"/>
                  </a:lnTo>
                  <a:lnTo>
                    <a:pt x="7477633" y="2614676"/>
                  </a:lnTo>
                  <a:lnTo>
                    <a:pt x="0" y="2614676"/>
                  </a:lnTo>
                  <a:close/>
                </a:path>
              </a:pathLst>
            </a:custGeom>
            <a:solidFill>
              <a:srgbClr val="DFE7F1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12039571" y="7218645"/>
            <a:ext cx="5608272" cy="36576"/>
            <a:chOff x="0" y="0"/>
            <a:chExt cx="7477696" cy="48768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7477633" cy="48768"/>
            </a:xfrm>
            <a:custGeom>
              <a:avLst/>
              <a:gdLst/>
              <a:ahLst/>
              <a:cxnLst/>
              <a:rect l="l" t="t" r="r" b="b"/>
              <a:pathLst>
                <a:path w="7477633" h="48768">
                  <a:moveTo>
                    <a:pt x="0" y="0"/>
                  </a:moveTo>
                  <a:lnTo>
                    <a:pt x="7477633" y="0"/>
                  </a:lnTo>
                  <a:lnTo>
                    <a:pt x="7477633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96" name="TextBox 96"/>
          <p:cNvSpPr txBox="1"/>
          <p:nvPr/>
        </p:nvSpPr>
        <p:spPr>
          <a:xfrm>
            <a:off x="12176731" y="7305989"/>
            <a:ext cx="5493972" cy="301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sz="1699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Environmental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12341323" y="7615418"/>
            <a:ext cx="5324437" cy="503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8"/>
              </a:lnSpc>
            </a:pPr>
            <a:r>
              <a:rPr lang="en-US" sz="154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Climate monitoring: every day since 1993 for 17 variables, in one view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2341323" y="8089335"/>
            <a:ext cx="5324437" cy="503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8"/>
              </a:lnSpc>
            </a:pPr>
            <a:r>
              <a:rPr lang="en-US" sz="154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Oxygen-poor layers, chlorophyll and nutrients as 3D blocks, not flat maps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2341323" y="8563251"/>
            <a:ext cx="5324437" cy="503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8"/>
              </a:lnSpc>
            </a:pPr>
            <a:r>
              <a:rPr lang="en-US" sz="154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Where the model is uncertain or unmeasured is shown, so decisions know the limits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400000" y="6900000"/>
            <a:ext cx="15400000" cy="260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4F5B69"/>
                </a:solidFill>
                <a:latin typeface="Arial"/>
              </a:rPr>
              <a:t>Scale: any box on Earth, not only the Bay; 6 other regions measured, under 0.4 s cached. Next: marine heatwaves, oil-spill drift.</a:t>
            </a:r>
          </a:p>
        </p:txBody>
      </p:sp>
      <p:grpSp>
        <p:nvGrpSpPr>
          <p:cNvPr id="102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03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04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05" name="Group 10"/>
          <p:cNvGrpSpPr/>
          <p:nvPr/>
        </p:nvGrpSpPr>
        <p:grpSpPr>
          <a:xfrm>
            <a:off x="3000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06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Team Null · K26125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36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37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28046" y="378371"/>
            <a:ext cx="1210999" cy="1210999"/>
            <a:chOff x="0" y="0"/>
            <a:chExt cx="1614665" cy="1614665"/>
          </a:xfrm>
        </p:grpSpPr>
        <p:sp>
          <p:nvSpPr>
            <p:cNvPr id="16" name="Freeform 16" descr="logo.png"/>
            <p:cNvSpPr/>
            <p:nvPr/>
          </p:nvSpPr>
          <p:spPr>
            <a:xfrm>
              <a:off x="0" y="0"/>
              <a:ext cx="1614678" cy="1614678"/>
            </a:xfrm>
            <a:custGeom>
              <a:avLst/>
              <a:gdLst/>
              <a:ahLst/>
              <a:cxnLst/>
              <a:rect l="l" t="t" r="r" b="b"/>
              <a:pathLst>
                <a:path w="1614678" h="1614678">
                  <a:moveTo>
                    <a:pt x="0" y="0"/>
                  </a:moveTo>
                  <a:lnTo>
                    <a:pt x="1614678" y="0"/>
                  </a:lnTo>
                  <a:lnTo>
                    <a:pt x="1614678" y="1614678"/>
                  </a:lnTo>
                  <a:lnTo>
                    <a:pt x="0" y="16146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02920" y="1869948"/>
            <a:ext cx="17282160" cy="503987"/>
            <a:chOff x="0" y="0"/>
            <a:chExt cx="23042880" cy="67198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3042880" cy="671957"/>
            </a:xfrm>
            <a:custGeom>
              <a:avLst/>
              <a:gdLst/>
              <a:ahLst/>
              <a:cxnLst/>
              <a:rect l="l" t="t" r="r" b="b"/>
              <a:pathLst>
                <a:path w="23042880" h="671957">
                  <a:moveTo>
                    <a:pt x="0" y="0"/>
                  </a:moveTo>
                  <a:lnTo>
                    <a:pt x="23042880" y="0"/>
                  </a:lnTo>
                  <a:lnTo>
                    <a:pt x="23042880" y="671957"/>
                  </a:lnTo>
                  <a:lnTo>
                    <a:pt x="0" y="671957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658368" y="1949167"/>
            <a:ext cx="4276725" cy="303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Source code, docs and every measured number: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993405" y="1941405"/>
            <a:ext cx="4340666" cy="284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725" u="sng">
                <a:solidFill>
                  <a:srgbClr val="9ED8FF"/>
                </a:solidFill>
                <a:latin typeface="Courier New"/>
                <a:ea typeface="Courier New"/>
                <a:cs typeface="Courier New"/>
                <a:sym typeface="Courier New"/>
                <a:hlinkClick r:id="rId6" tooltip="https://github.com/Kukyos/VVater"/>
              </a:rPr>
              <a:t>https://github.com/Kukyos/VVater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02920" y="2469071"/>
            <a:ext cx="5908081" cy="31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5"/>
              </a:lnSpc>
            </a:pPr>
            <a:r>
              <a:rPr lang="en-US" sz="1575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DATA, EACH SOURCE PROBED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502920" y="2825277"/>
            <a:ext cx="5736003" cy="9144"/>
            <a:chOff x="0" y="0"/>
            <a:chExt cx="7648004" cy="1219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647940" cy="12192"/>
            </a:xfrm>
            <a:custGeom>
              <a:avLst/>
              <a:gdLst/>
              <a:ahLst/>
              <a:cxnLst/>
              <a:rect l="l" t="t" r="r" b="b"/>
              <a:pathLst>
                <a:path w="7647940" h="12192">
                  <a:moveTo>
                    <a:pt x="0" y="0"/>
                  </a:moveTo>
                  <a:lnTo>
                    <a:pt x="7647940" y="0"/>
                  </a:lnTo>
                  <a:lnTo>
                    <a:pt x="764794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502920" y="2906811"/>
            <a:ext cx="457200" cy="238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5528" y="2902229"/>
            <a:ext cx="5606691" cy="44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Copernicus Marine GLORYS12 and global analysis &amp; forecast, physics and biogeochemistry, as ARCO stores.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The cube.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95528" y="3350085"/>
            <a:ext cx="5606691" cy="19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7" tooltip="https://data.marine.copernicus.eu/product/GLOBAL_MULTIYEAR_PHY_001_030"/>
              </a:rPr>
              <a:t>data.marine.copernicus.eu/product/GLOBAL_MULTIYEAR_PHY_001_030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02920" y="3675174"/>
            <a:ext cx="5736003" cy="9144"/>
            <a:chOff x="0" y="0"/>
            <a:chExt cx="7648004" cy="1219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647940" cy="12192"/>
            </a:xfrm>
            <a:custGeom>
              <a:avLst/>
              <a:gdLst/>
              <a:ahLst/>
              <a:cxnLst/>
              <a:rect l="l" t="t" r="r" b="b"/>
              <a:pathLst>
                <a:path w="7647940" h="12192">
                  <a:moveTo>
                    <a:pt x="0" y="0"/>
                  </a:moveTo>
                  <a:lnTo>
                    <a:pt x="7647940" y="0"/>
                  </a:lnTo>
                  <a:lnTo>
                    <a:pt x="764794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502920" y="3756708"/>
            <a:ext cx="457200" cy="238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2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5528" y="3752117"/>
            <a:ext cx="5606691" cy="475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INCOIS ERDDAP, Argo 10-day variational analysis with per-cell error.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The Bay volume.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95528" y="4199973"/>
            <a:ext cx="5606691" cy="19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8" tooltip="https://erddap.incois.gov.in/erddap"/>
              </a:rPr>
              <a:t>erddap.incois.gov.in/erddap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502920" y="4525061"/>
            <a:ext cx="5736003" cy="9144"/>
            <a:chOff x="0" y="0"/>
            <a:chExt cx="7648004" cy="1219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647940" cy="12192"/>
            </a:xfrm>
            <a:custGeom>
              <a:avLst/>
              <a:gdLst/>
              <a:ahLst/>
              <a:cxnLst/>
              <a:rect l="l" t="t" r="r" b="b"/>
              <a:pathLst>
                <a:path w="7647940" h="12192">
                  <a:moveTo>
                    <a:pt x="0" y="0"/>
                  </a:moveTo>
                  <a:lnTo>
                    <a:pt x="7647940" y="0"/>
                  </a:lnTo>
                  <a:lnTo>
                    <a:pt x="764794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502920" y="4606595"/>
            <a:ext cx="457200" cy="238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5528" y="4602013"/>
            <a:ext cx="5606691" cy="25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Ifremer Argo ERDDAP, core and synthetic BGC floats.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Floats anywhere.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5528" y="4826622"/>
            <a:ext cx="5606691" cy="19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9" tooltip="https://erddap.ifremer.fr/erddap"/>
              </a:rPr>
              <a:t>erddap.ifremer.fr/erddap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502920" y="5151711"/>
            <a:ext cx="5736003" cy="9144"/>
            <a:chOff x="0" y="0"/>
            <a:chExt cx="7648004" cy="1219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7647940" cy="12192"/>
            </a:xfrm>
            <a:custGeom>
              <a:avLst/>
              <a:gdLst/>
              <a:ahLst/>
              <a:cxnLst/>
              <a:rect l="l" t="t" r="r" b="b"/>
              <a:pathLst>
                <a:path w="7647940" h="12192">
                  <a:moveTo>
                    <a:pt x="0" y="0"/>
                  </a:moveTo>
                  <a:lnTo>
                    <a:pt x="7647940" y="0"/>
                  </a:lnTo>
                  <a:lnTo>
                    <a:pt x="764794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502920" y="5233245"/>
            <a:ext cx="457200" cy="238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4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5528" y="5228663"/>
            <a:ext cx="5606691" cy="25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Argo GDAC, HTTPS mirror.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Float files, QC flags, data mode.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95528" y="5453272"/>
            <a:ext cx="5606691" cy="19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10" tooltip="https://data-argo.ifremer.fr"/>
              </a:rPr>
              <a:t>data-argo.ifremer.fr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502920" y="5778360"/>
            <a:ext cx="5736003" cy="9144"/>
            <a:chOff x="0" y="0"/>
            <a:chExt cx="7648004" cy="1219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7647940" cy="12192"/>
            </a:xfrm>
            <a:custGeom>
              <a:avLst/>
              <a:gdLst/>
              <a:ahLst/>
              <a:cxnLst/>
              <a:rect l="l" t="t" r="r" b="b"/>
              <a:pathLst>
                <a:path w="7647940" h="12192">
                  <a:moveTo>
                    <a:pt x="0" y="0"/>
                  </a:moveTo>
                  <a:lnTo>
                    <a:pt x="7647940" y="0"/>
                  </a:lnTo>
                  <a:lnTo>
                    <a:pt x="764794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502920" y="5859894"/>
            <a:ext cx="457200" cy="238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5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95528" y="5855313"/>
            <a:ext cx="5606691" cy="25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U.S. IOOS Glider DAC, Rutgers </a:t>
            </a:r>
            <a:r>
              <a:rPr lang="en-US" sz="1350" i="1">
                <a:solidFill>
                  <a:srgbClr val="16202B"/>
                </a:solidFill>
                <a:latin typeface="Arial Italics"/>
                <a:ea typeface="Arial Italics"/>
                <a:cs typeface="Arial Italics"/>
                <a:sym typeface="Arial Italics"/>
              </a:rPr>
              <a:t>ru29</a:t>
            </a: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The independent check.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95528" y="6079922"/>
            <a:ext cx="5606691" cy="19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11" tooltip="https://gliders.ioos.us/erddap"/>
              </a:rPr>
              <a:t>gliders.ioos.us/erddap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502920" y="6405010"/>
            <a:ext cx="5736003" cy="9144"/>
            <a:chOff x="0" y="0"/>
            <a:chExt cx="7648004" cy="1219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7647940" cy="12192"/>
            </a:xfrm>
            <a:custGeom>
              <a:avLst/>
              <a:gdLst/>
              <a:ahLst/>
              <a:cxnLst/>
              <a:rect l="l" t="t" r="r" b="b"/>
              <a:pathLst>
                <a:path w="7647940" h="12192">
                  <a:moveTo>
                    <a:pt x="0" y="0"/>
                  </a:moveTo>
                  <a:lnTo>
                    <a:pt x="7647940" y="0"/>
                  </a:lnTo>
                  <a:lnTo>
                    <a:pt x="764794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502920" y="6486544"/>
            <a:ext cx="457200" cy="238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6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95528" y="6481963"/>
            <a:ext cx="5606691" cy="25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INCOIS Potential Fishing Zone advisories.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Read as published.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95528" y="6706572"/>
            <a:ext cx="5606691" cy="19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12" tooltip="https://incois.gov.in/MarineFisheries/TextDataHome?mfid=1"/>
              </a:rPr>
              <a:t>incois.gov.in/MarineFisheries/TextDataHome?mfid=1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502920" y="7031660"/>
            <a:ext cx="5736003" cy="9144"/>
            <a:chOff x="0" y="0"/>
            <a:chExt cx="7648004" cy="12192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7647940" cy="12192"/>
            </a:xfrm>
            <a:custGeom>
              <a:avLst/>
              <a:gdLst/>
              <a:ahLst/>
              <a:cxnLst/>
              <a:rect l="l" t="t" r="r" b="b"/>
              <a:pathLst>
                <a:path w="7647940" h="12192">
                  <a:moveTo>
                    <a:pt x="0" y="0"/>
                  </a:moveTo>
                  <a:lnTo>
                    <a:pt x="7647940" y="0"/>
                  </a:lnTo>
                  <a:lnTo>
                    <a:pt x="764794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502920" y="7113194"/>
            <a:ext cx="457200" cy="238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7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95528" y="7108612"/>
            <a:ext cx="5606691" cy="25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NCEP GFS 10 m wind via UCAR THREDDS.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Wind forecast.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95528" y="7333221"/>
            <a:ext cx="5606691" cy="19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13" tooltip="https://thredds.ucar.edu"/>
              </a:rPr>
              <a:t>thredds.ucar.edu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502920" y="7658310"/>
            <a:ext cx="5736003" cy="9144"/>
            <a:chOff x="0" y="0"/>
            <a:chExt cx="7648004" cy="12192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7647940" cy="12192"/>
            </a:xfrm>
            <a:custGeom>
              <a:avLst/>
              <a:gdLst/>
              <a:ahLst/>
              <a:cxnLst/>
              <a:rect l="l" t="t" r="r" b="b"/>
              <a:pathLst>
                <a:path w="7647940" h="12192">
                  <a:moveTo>
                    <a:pt x="0" y="0"/>
                  </a:moveTo>
                  <a:lnTo>
                    <a:pt x="7647940" y="0"/>
                  </a:lnTo>
                  <a:lnTo>
                    <a:pt x="764794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502920" y="7739844"/>
            <a:ext cx="457200" cy="238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8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95528" y="7735262"/>
            <a:ext cx="5606691" cy="25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NASA GIBS Blue Marble relief.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Land.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95528" y="7959871"/>
            <a:ext cx="5606691" cy="19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14" tooltip="https://gibs.earthdata.nasa.gov"/>
              </a:rPr>
              <a:t>gibs.earthdata.nasa.gov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502920" y="8284959"/>
            <a:ext cx="5736003" cy="9144"/>
            <a:chOff x="0" y="0"/>
            <a:chExt cx="7648004" cy="12192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7647940" cy="12192"/>
            </a:xfrm>
            <a:custGeom>
              <a:avLst/>
              <a:gdLst/>
              <a:ahLst/>
              <a:cxnLst/>
              <a:rect l="l" t="t" r="r" b="b"/>
              <a:pathLst>
                <a:path w="7647940" h="12192">
                  <a:moveTo>
                    <a:pt x="0" y="0"/>
                  </a:moveTo>
                  <a:lnTo>
                    <a:pt x="7647940" y="0"/>
                  </a:lnTo>
                  <a:lnTo>
                    <a:pt x="764794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6558963" y="2469071"/>
            <a:ext cx="5616626" cy="31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5"/>
              </a:lnSpc>
            </a:pPr>
            <a:r>
              <a:rPr lang="en-US" sz="1575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STANDARDS AND METHODS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6558963" y="2825277"/>
            <a:ext cx="5453034" cy="9144"/>
            <a:chOff x="0" y="0"/>
            <a:chExt cx="7270712" cy="12192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7270750" cy="12192"/>
            </a:xfrm>
            <a:custGeom>
              <a:avLst/>
              <a:gdLst/>
              <a:ahLst/>
              <a:cxnLst/>
              <a:rect l="l" t="t" r="r" b="b"/>
              <a:pathLst>
                <a:path w="7270750" h="12192">
                  <a:moveTo>
                    <a:pt x="0" y="0"/>
                  </a:moveTo>
                  <a:lnTo>
                    <a:pt x="7270750" y="0"/>
                  </a:lnTo>
                  <a:lnTo>
                    <a:pt x="727075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6558963" y="2906811"/>
            <a:ext cx="190723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10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851571" y="2902229"/>
            <a:ext cx="5315245" cy="25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Wong et al., Argo Quality Control Manual.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QC flags, range test.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6851571" y="3126838"/>
            <a:ext cx="5315245" cy="19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15" tooltip="https://doi.org/10.13155/33951"/>
              </a:rPr>
              <a:t>doi.org/10.13155/33951</a:t>
            </a:r>
          </a:p>
        </p:txBody>
      </p:sp>
      <p:grpSp>
        <p:nvGrpSpPr>
          <p:cNvPr id="70" name="Group 70"/>
          <p:cNvGrpSpPr/>
          <p:nvPr/>
        </p:nvGrpSpPr>
        <p:grpSpPr>
          <a:xfrm>
            <a:off x="6558963" y="3451927"/>
            <a:ext cx="5453034" cy="9144"/>
            <a:chOff x="0" y="0"/>
            <a:chExt cx="7270712" cy="12192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7270750" cy="12192"/>
            </a:xfrm>
            <a:custGeom>
              <a:avLst/>
              <a:gdLst/>
              <a:ahLst/>
              <a:cxnLst/>
              <a:rect l="l" t="t" r="r" b="b"/>
              <a:pathLst>
                <a:path w="7270750" h="12192">
                  <a:moveTo>
                    <a:pt x="0" y="0"/>
                  </a:moveTo>
                  <a:lnTo>
                    <a:pt x="7270750" y="0"/>
                  </a:lnTo>
                  <a:lnTo>
                    <a:pt x="727075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2" name="TextBox 72"/>
          <p:cNvSpPr txBox="1"/>
          <p:nvPr/>
        </p:nvSpPr>
        <p:spPr>
          <a:xfrm>
            <a:off x="6558963" y="3533461"/>
            <a:ext cx="190723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11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6851571" y="3528879"/>
            <a:ext cx="5315245" cy="25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U.S. IOOS QARTOD manuals.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Glider QC.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6851571" y="3753488"/>
            <a:ext cx="5315245" cy="19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16" tooltip="https://ioos.noaa.gov/project/qartod"/>
              </a:rPr>
              <a:t>ioos.noaa.gov/project/qartod</a:t>
            </a:r>
          </a:p>
        </p:txBody>
      </p:sp>
      <p:grpSp>
        <p:nvGrpSpPr>
          <p:cNvPr id="75" name="Group 75"/>
          <p:cNvGrpSpPr/>
          <p:nvPr/>
        </p:nvGrpSpPr>
        <p:grpSpPr>
          <a:xfrm>
            <a:off x="6558963" y="4078576"/>
            <a:ext cx="5453034" cy="9144"/>
            <a:chOff x="0" y="0"/>
            <a:chExt cx="7270712" cy="12192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7270750" cy="12192"/>
            </a:xfrm>
            <a:custGeom>
              <a:avLst/>
              <a:gdLst/>
              <a:ahLst/>
              <a:cxnLst/>
              <a:rect l="l" t="t" r="r" b="b"/>
              <a:pathLst>
                <a:path w="7270750" h="12192">
                  <a:moveTo>
                    <a:pt x="0" y="0"/>
                  </a:moveTo>
                  <a:lnTo>
                    <a:pt x="7270750" y="0"/>
                  </a:lnTo>
                  <a:lnTo>
                    <a:pt x="727075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6558963" y="4160110"/>
            <a:ext cx="190723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12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6851571" y="4155529"/>
            <a:ext cx="5315245" cy="25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CF Conventions for NetCDF.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Read defensively.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6851571" y="4380138"/>
            <a:ext cx="5315245" cy="19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17" tooltip="https://cfconventions.org"/>
              </a:rPr>
              <a:t>cfconventions.org</a:t>
            </a:r>
          </a:p>
        </p:txBody>
      </p:sp>
      <p:grpSp>
        <p:nvGrpSpPr>
          <p:cNvPr id="80" name="Group 80"/>
          <p:cNvGrpSpPr/>
          <p:nvPr/>
        </p:nvGrpSpPr>
        <p:grpSpPr>
          <a:xfrm>
            <a:off x="6558963" y="4705226"/>
            <a:ext cx="5453034" cy="9144"/>
            <a:chOff x="0" y="0"/>
            <a:chExt cx="7270712" cy="12192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7270750" cy="12192"/>
            </a:xfrm>
            <a:custGeom>
              <a:avLst/>
              <a:gdLst/>
              <a:ahLst/>
              <a:cxnLst/>
              <a:rect l="l" t="t" r="r" b="b"/>
              <a:pathLst>
                <a:path w="7270750" h="12192">
                  <a:moveTo>
                    <a:pt x="0" y="0"/>
                  </a:moveTo>
                  <a:lnTo>
                    <a:pt x="7270750" y="0"/>
                  </a:lnTo>
                  <a:lnTo>
                    <a:pt x="727075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82" name="TextBox 82"/>
          <p:cNvSpPr txBox="1"/>
          <p:nvPr/>
        </p:nvSpPr>
        <p:spPr>
          <a:xfrm>
            <a:off x="6558963" y="4786760"/>
            <a:ext cx="190723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13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6851571" y="4782179"/>
            <a:ext cx="5315245" cy="25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OGC Web Map Service 1.3.0.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The WMS endpoint.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6851571" y="5006788"/>
            <a:ext cx="5315245" cy="19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18" tooltip="https://ogc.org/standards/wms"/>
              </a:rPr>
              <a:t>ogc.org/standards/wms</a:t>
            </a:r>
          </a:p>
        </p:txBody>
      </p:sp>
      <p:grpSp>
        <p:nvGrpSpPr>
          <p:cNvPr id="85" name="Group 85"/>
          <p:cNvGrpSpPr/>
          <p:nvPr/>
        </p:nvGrpSpPr>
        <p:grpSpPr>
          <a:xfrm>
            <a:off x="6558963" y="5331876"/>
            <a:ext cx="5453034" cy="9144"/>
            <a:chOff x="0" y="0"/>
            <a:chExt cx="7270712" cy="12192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7270750" cy="12192"/>
            </a:xfrm>
            <a:custGeom>
              <a:avLst/>
              <a:gdLst/>
              <a:ahLst/>
              <a:cxnLst/>
              <a:rect l="l" t="t" r="r" b="b"/>
              <a:pathLst>
                <a:path w="7270750" h="12192">
                  <a:moveTo>
                    <a:pt x="0" y="0"/>
                  </a:moveTo>
                  <a:lnTo>
                    <a:pt x="7270750" y="0"/>
                  </a:lnTo>
                  <a:lnTo>
                    <a:pt x="727075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87" name="TextBox 87"/>
          <p:cNvSpPr txBox="1"/>
          <p:nvPr/>
        </p:nvSpPr>
        <p:spPr>
          <a:xfrm>
            <a:off x="6558963" y="5413410"/>
            <a:ext cx="190723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14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6851571" y="5408828"/>
            <a:ext cx="5315245" cy="25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IOC, SCOR, IAPSO (2010), TEOS-10.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Density, sound speed.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6851571" y="5633437"/>
            <a:ext cx="5315245" cy="19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19" tooltip="https://teos-10.org"/>
              </a:rPr>
              <a:t>teos-10.org</a:t>
            </a:r>
          </a:p>
        </p:txBody>
      </p:sp>
      <p:grpSp>
        <p:nvGrpSpPr>
          <p:cNvPr id="90" name="Group 90"/>
          <p:cNvGrpSpPr/>
          <p:nvPr/>
        </p:nvGrpSpPr>
        <p:grpSpPr>
          <a:xfrm>
            <a:off x="6558963" y="5958526"/>
            <a:ext cx="5453034" cy="9144"/>
            <a:chOff x="0" y="0"/>
            <a:chExt cx="7270712" cy="12192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7270750" cy="12192"/>
            </a:xfrm>
            <a:custGeom>
              <a:avLst/>
              <a:gdLst/>
              <a:ahLst/>
              <a:cxnLst/>
              <a:rect l="l" t="t" r="r" b="b"/>
              <a:pathLst>
                <a:path w="7270750" h="12192">
                  <a:moveTo>
                    <a:pt x="0" y="0"/>
                  </a:moveTo>
                  <a:lnTo>
                    <a:pt x="7270750" y="0"/>
                  </a:lnTo>
                  <a:lnTo>
                    <a:pt x="727075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92" name="TextBox 92"/>
          <p:cNvSpPr txBox="1"/>
          <p:nvPr/>
        </p:nvSpPr>
        <p:spPr>
          <a:xfrm>
            <a:off x="6558963" y="6040060"/>
            <a:ext cx="190723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15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6851571" y="6035478"/>
            <a:ext cx="5315245" cy="25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Leipper &amp; Volgenau (1972), J. Phys. Oceanogr. 2.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Heat above 26 °C.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6851571" y="6260087"/>
            <a:ext cx="5315245" cy="19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20" tooltip="https://doi.org/10.1175/1520-0485(1972)002%3C0218:HHPOTG%3E2.0.CO;2"/>
              </a:rPr>
              <a:t>doi.org/10.1175/1520-0485(1972)002&lt;0218:HHPOTG&gt;2.0.CO;2</a:t>
            </a:r>
          </a:p>
        </p:txBody>
      </p:sp>
      <p:grpSp>
        <p:nvGrpSpPr>
          <p:cNvPr id="95" name="Group 95"/>
          <p:cNvGrpSpPr/>
          <p:nvPr/>
        </p:nvGrpSpPr>
        <p:grpSpPr>
          <a:xfrm>
            <a:off x="6558963" y="6585175"/>
            <a:ext cx="5453034" cy="9144"/>
            <a:chOff x="0" y="0"/>
            <a:chExt cx="7270712" cy="12192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7270750" cy="12192"/>
            </a:xfrm>
            <a:custGeom>
              <a:avLst/>
              <a:gdLst/>
              <a:ahLst/>
              <a:cxnLst/>
              <a:rect l="l" t="t" r="r" b="b"/>
              <a:pathLst>
                <a:path w="7270750" h="12192">
                  <a:moveTo>
                    <a:pt x="0" y="0"/>
                  </a:moveTo>
                  <a:lnTo>
                    <a:pt x="7270750" y="0"/>
                  </a:lnTo>
                  <a:lnTo>
                    <a:pt x="727075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97" name="TextBox 97"/>
          <p:cNvSpPr txBox="1"/>
          <p:nvPr/>
        </p:nvSpPr>
        <p:spPr>
          <a:xfrm>
            <a:off x="6558963" y="6666709"/>
            <a:ext cx="190723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16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6851571" y="6662128"/>
            <a:ext cx="5315245" cy="25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Thyng et al. (2016), Oceanography 29(3).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cmocean palettes.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6851571" y="6886737"/>
            <a:ext cx="5315245" cy="19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21" tooltip="https://doi.org/10.5670/oceanog.2016.66"/>
              </a:rPr>
              <a:t>doi.org/10.5670/oceanog.2016.66</a:t>
            </a:r>
          </a:p>
        </p:txBody>
      </p:sp>
      <p:grpSp>
        <p:nvGrpSpPr>
          <p:cNvPr id="100" name="Group 100"/>
          <p:cNvGrpSpPr/>
          <p:nvPr/>
        </p:nvGrpSpPr>
        <p:grpSpPr>
          <a:xfrm>
            <a:off x="6558963" y="7211825"/>
            <a:ext cx="5453034" cy="9144"/>
            <a:chOff x="0" y="0"/>
            <a:chExt cx="7270712" cy="12192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7270750" cy="12192"/>
            </a:xfrm>
            <a:custGeom>
              <a:avLst/>
              <a:gdLst/>
              <a:ahLst/>
              <a:cxnLst/>
              <a:rect l="l" t="t" r="r" b="b"/>
              <a:pathLst>
                <a:path w="7270750" h="12192">
                  <a:moveTo>
                    <a:pt x="0" y="0"/>
                  </a:moveTo>
                  <a:lnTo>
                    <a:pt x="7270750" y="0"/>
                  </a:lnTo>
                  <a:lnTo>
                    <a:pt x="727075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02" name="TextBox 102"/>
          <p:cNvSpPr txBox="1"/>
          <p:nvPr/>
        </p:nvSpPr>
        <p:spPr>
          <a:xfrm>
            <a:off x="6558963" y="7293359"/>
            <a:ext cx="190723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17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6851571" y="7288778"/>
            <a:ext cx="5315245" cy="25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CesiumJS.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The globe and renderer.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6851571" y="7513387"/>
            <a:ext cx="5315245" cy="19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22" tooltip="https://cesium.com/platform/cesiumjs"/>
              </a:rPr>
              <a:t>cesium.com/platform/cesiumjs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12332037" y="2469071"/>
            <a:ext cx="5616626" cy="31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5"/>
              </a:lnSpc>
            </a:pPr>
            <a:r>
              <a:rPr lang="en-US" sz="1575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WHAT THE COURSE CITES</a:t>
            </a:r>
          </a:p>
        </p:txBody>
      </p:sp>
      <p:grpSp>
        <p:nvGrpSpPr>
          <p:cNvPr id="106" name="Group 106"/>
          <p:cNvGrpSpPr/>
          <p:nvPr/>
        </p:nvGrpSpPr>
        <p:grpSpPr>
          <a:xfrm>
            <a:off x="12332037" y="2825277"/>
            <a:ext cx="5453034" cy="9144"/>
            <a:chOff x="0" y="0"/>
            <a:chExt cx="7270712" cy="12192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7270750" cy="12192"/>
            </a:xfrm>
            <a:custGeom>
              <a:avLst/>
              <a:gdLst/>
              <a:ahLst/>
              <a:cxnLst/>
              <a:rect l="l" t="t" r="r" b="b"/>
              <a:pathLst>
                <a:path w="7270750" h="12192">
                  <a:moveTo>
                    <a:pt x="0" y="0"/>
                  </a:moveTo>
                  <a:lnTo>
                    <a:pt x="7270750" y="0"/>
                  </a:lnTo>
                  <a:lnTo>
                    <a:pt x="727075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08" name="TextBox 108"/>
          <p:cNvSpPr txBox="1"/>
          <p:nvPr/>
        </p:nvSpPr>
        <p:spPr>
          <a:xfrm>
            <a:off x="12332037" y="2906811"/>
            <a:ext cx="190723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19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12624645" y="2902229"/>
            <a:ext cx="5315245" cy="475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Gray (1968), Mon. Weather Rev. 96, 669–700.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Cyclones need water above ~26 °C.</a:t>
            </a:r>
          </a:p>
        </p:txBody>
      </p:sp>
      <p:grpSp>
        <p:nvGrpSpPr>
          <p:cNvPr id="110" name="Group 110"/>
          <p:cNvGrpSpPr/>
          <p:nvPr/>
        </p:nvGrpSpPr>
        <p:grpSpPr>
          <a:xfrm>
            <a:off x="12332037" y="3482073"/>
            <a:ext cx="5453034" cy="9144"/>
            <a:chOff x="0" y="0"/>
            <a:chExt cx="7270712" cy="12192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7270750" cy="12192"/>
            </a:xfrm>
            <a:custGeom>
              <a:avLst/>
              <a:gdLst/>
              <a:ahLst/>
              <a:cxnLst/>
              <a:rect l="l" t="t" r="r" b="b"/>
              <a:pathLst>
                <a:path w="7270750" h="12192">
                  <a:moveTo>
                    <a:pt x="0" y="0"/>
                  </a:moveTo>
                  <a:lnTo>
                    <a:pt x="7270750" y="0"/>
                  </a:lnTo>
                  <a:lnTo>
                    <a:pt x="727075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12" name="TextBox 112"/>
          <p:cNvSpPr txBox="1"/>
          <p:nvPr/>
        </p:nvSpPr>
        <p:spPr>
          <a:xfrm>
            <a:off x="12332037" y="3563607"/>
            <a:ext cx="190723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20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2624645" y="3559026"/>
            <a:ext cx="5315245" cy="475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Price (1981), J. Phys. Oceanogr. 11, 153–175.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A cyclone cools the sea.</a:t>
            </a:r>
          </a:p>
        </p:txBody>
      </p:sp>
      <p:grpSp>
        <p:nvGrpSpPr>
          <p:cNvPr id="114" name="Group 114"/>
          <p:cNvGrpSpPr/>
          <p:nvPr/>
        </p:nvGrpSpPr>
        <p:grpSpPr>
          <a:xfrm>
            <a:off x="12332037" y="4138870"/>
            <a:ext cx="5453034" cy="9144"/>
            <a:chOff x="0" y="0"/>
            <a:chExt cx="7270712" cy="12192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7270750" cy="12192"/>
            </a:xfrm>
            <a:custGeom>
              <a:avLst/>
              <a:gdLst/>
              <a:ahLst/>
              <a:cxnLst/>
              <a:rect l="l" t="t" r="r" b="b"/>
              <a:pathLst>
                <a:path w="7270750" h="12192">
                  <a:moveTo>
                    <a:pt x="0" y="0"/>
                  </a:moveTo>
                  <a:lnTo>
                    <a:pt x="7270750" y="0"/>
                  </a:lnTo>
                  <a:lnTo>
                    <a:pt x="727075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16" name="TextBox 116"/>
          <p:cNvSpPr txBox="1"/>
          <p:nvPr/>
        </p:nvSpPr>
        <p:spPr>
          <a:xfrm>
            <a:off x="12332037" y="4220404"/>
            <a:ext cx="190723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21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12624645" y="4215822"/>
            <a:ext cx="5315245" cy="475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Schott &amp; McCreary (2001), Prog. Oceanogr. 51, 1–123.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The monsoon current reverses.</a:t>
            </a:r>
          </a:p>
        </p:txBody>
      </p:sp>
      <p:grpSp>
        <p:nvGrpSpPr>
          <p:cNvPr id="118" name="Group 118"/>
          <p:cNvGrpSpPr/>
          <p:nvPr/>
        </p:nvGrpSpPr>
        <p:grpSpPr>
          <a:xfrm>
            <a:off x="12332037" y="4795666"/>
            <a:ext cx="5453034" cy="9144"/>
            <a:chOff x="0" y="0"/>
            <a:chExt cx="7270712" cy="12192"/>
          </a:xfrm>
        </p:grpSpPr>
        <p:sp>
          <p:nvSpPr>
            <p:cNvPr id="119" name="Freeform 119"/>
            <p:cNvSpPr/>
            <p:nvPr/>
          </p:nvSpPr>
          <p:spPr>
            <a:xfrm>
              <a:off x="0" y="0"/>
              <a:ext cx="7270750" cy="12192"/>
            </a:xfrm>
            <a:custGeom>
              <a:avLst/>
              <a:gdLst/>
              <a:ahLst/>
              <a:cxnLst/>
              <a:rect l="l" t="t" r="r" b="b"/>
              <a:pathLst>
                <a:path w="7270750" h="12192">
                  <a:moveTo>
                    <a:pt x="0" y="0"/>
                  </a:moveTo>
                  <a:lnTo>
                    <a:pt x="7270750" y="0"/>
                  </a:lnTo>
                  <a:lnTo>
                    <a:pt x="727075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20" name="TextBox 120"/>
          <p:cNvSpPr txBox="1"/>
          <p:nvPr/>
        </p:nvSpPr>
        <p:spPr>
          <a:xfrm>
            <a:off x="12332037" y="4877200"/>
            <a:ext cx="190723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22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12624645" y="4872619"/>
            <a:ext cx="5315245" cy="475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India Meteorological Department, report on Super Cyclonic Storm Amphan (2020).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Landfall, 20 May.</a:t>
            </a:r>
          </a:p>
        </p:txBody>
      </p:sp>
      <p:grpSp>
        <p:nvGrpSpPr>
          <p:cNvPr id="122" name="Group 122"/>
          <p:cNvGrpSpPr/>
          <p:nvPr/>
        </p:nvGrpSpPr>
        <p:grpSpPr>
          <a:xfrm>
            <a:off x="12332037" y="5452462"/>
            <a:ext cx="5453034" cy="9144"/>
            <a:chOff x="0" y="0"/>
            <a:chExt cx="7270712" cy="12192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7270750" cy="12192"/>
            </a:xfrm>
            <a:custGeom>
              <a:avLst/>
              <a:gdLst/>
              <a:ahLst/>
              <a:cxnLst/>
              <a:rect l="l" t="t" r="r" b="b"/>
              <a:pathLst>
                <a:path w="7270750" h="12192">
                  <a:moveTo>
                    <a:pt x="0" y="0"/>
                  </a:moveTo>
                  <a:lnTo>
                    <a:pt x="7270750" y="0"/>
                  </a:lnTo>
                  <a:lnTo>
                    <a:pt x="727075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24" name="TextBox 124"/>
          <p:cNvSpPr txBox="1"/>
          <p:nvPr/>
        </p:nvSpPr>
        <p:spPr>
          <a:xfrm>
            <a:off x="12332037" y="5533996"/>
            <a:ext cx="190723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23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12624645" y="5529415"/>
            <a:ext cx="5315245" cy="475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WMO Guide to Wave Analysis and Forecasting (WMO-No. 702).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Wind makes waves.</a:t>
            </a:r>
          </a:p>
        </p:txBody>
      </p:sp>
      <p:grpSp>
        <p:nvGrpSpPr>
          <p:cNvPr id="126" name="Group 126"/>
          <p:cNvGrpSpPr/>
          <p:nvPr/>
        </p:nvGrpSpPr>
        <p:grpSpPr>
          <a:xfrm>
            <a:off x="12332037" y="6109259"/>
            <a:ext cx="5453034" cy="9144"/>
            <a:chOff x="0" y="0"/>
            <a:chExt cx="7270712" cy="12192"/>
          </a:xfrm>
        </p:grpSpPr>
        <p:sp>
          <p:nvSpPr>
            <p:cNvPr id="127" name="Freeform 127"/>
            <p:cNvSpPr/>
            <p:nvPr/>
          </p:nvSpPr>
          <p:spPr>
            <a:xfrm>
              <a:off x="0" y="0"/>
              <a:ext cx="7270750" cy="12192"/>
            </a:xfrm>
            <a:custGeom>
              <a:avLst/>
              <a:gdLst/>
              <a:ahLst/>
              <a:cxnLst/>
              <a:rect l="l" t="t" r="r" b="b"/>
              <a:pathLst>
                <a:path w="7270750" h="12192">
                  <a:moveTo>
                    <a:pt x="0" y="0"/>
                  </a:moveTo>
                  <a:lnTo>
                    <a:pt x="7270750" y="0"/>
                  </a:lnTo>
                  <a:lnTo>
                    <a:pt x="727075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28" name="TextBox 128"/>
          <p:cNvSpPr txBox="1"/>
          <p:nvPr/>
        </p:nvSpPr>
        <p:spPr>
          <a:xfrm>
            <a:off x="12332037" y="6190793"/>
            <a:ext cx="190723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24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12624645" y="6186211"/>
            <a:ext cx="5315245" cy="25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Argo Program, "How Argo floats work".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Floats.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12624645" y="6410820"/>
            <a:ext cx="5315245" cy="19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23" tooltip="https://argo.ucsd.edu"/>
              </a:rPr>
              <a:t>argo.ucsd.edu</a:t>
            </a:r>
          </a:p>
        </p:txBody>
      </p:sp>
      <p:grpSp>
        <p:nvGrpSpPr>
          <p:cNvPr id="131" name="Group 131"/>
          <p:cNvGrpSpPr/>
          <p:nvPr/>
        </p:nvGrpSpPr>
        <p:grpSpPr>
          <a:xfrm>
            <a:off x="12332037" y="6735909"/>
            <a:ext cx="5453034" cy="9144"/>
            <a:chOff x="0" y="0"/>
            <a:chExt cx="7270712" cy="12192"/>
          </a:xfrm>
        </p:grpSpPr>
        <p:sp>
          <p:nvSpPr>
            <p:cNvPr id="132" name="Freeform 132"/>
            <p:cNvSpPr/>
            <p:nvPr/>
          </p:nvSpPr>
          <p:spPr>
            <a:xfrm>
              <a:off x="0" y="0"/>
              <a:ext cx="7270750" cy="12192"/>
            </a:xfrm>
            <a:custGeom>
              <a:avLst/>
              <a:gdLst/>
              <a:ahLst/>
              <a:cxnLst/>
              <a:rect l="l" t="t" r="r" b="b"/>
              <a:pathLst>
                <a:path w="7270750" h="12192">
                  <a:moveTo>
                    <a:pt x="0" y="0"/>
                  </a:moveTo>
                  <a:lnTo>
                    <a:pt x="7270750" y="0"/>
                  </a:lnTo>
                  <a:lnTo>
                    <a:pt x="727075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33" name="TextBox 133"/>
          <p:cNvSpPr txBox="1"/>
          <p:nvPr/>
        </p:nvSpPr>
        <p:spPr>
          <a:xfrm>
            <a:off x="12332037" y="6817443"/>
            <a:ext cx="190723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25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12624645" y="6812861"/>
            <a:ext cx="5315245" cy="25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SIH 2026 problem statement 26067, quoted verbatim.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12624645" y="7037470"/>
            <a:ext cx="5315245" cy="388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24" tooltip="https://github.com/Kukyos/VVater/blob/main/docs/01-problem-statement.md"/>
              </a:rPr>
              <a:t>github.com/Kukyos/VVater/blob/main/docs/01-problem-statement.md</a:t>
            </a:r>
          </a:p>
        </p:txBody>
      </p:sp>
      <p:grpSp>
        <p:nvGrpSpPr>
          <p:cNvPr id="138" name="Group 10"/>
          <p:cNvGrpSpPr/>
          <p:nvPr/>
        </p:nvGrpSpPr>
        <p:grpSpPr>
          <a:xfrm>
            <a:off x="3000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Team Null · K26125</a:t>
              </a:r>
            </a:p>
          </p:txBody>
        </p:sp>
      </p:grpSp>
      <p:sp>
        <p:nvSpPr>
          <p:cNvPr id="10004" name="TextBox 24"/>
          <p:cNvSpPr txBox="1"/>
          <p:nvPr/>
        </p:nvSpPr>
        <p:spPr>
          <a:xfrm>
            <a:off x="502920" y="8365779"/>
            <a:ext cx="457200" cy="238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9</a:t>
            </a:r>
          </a:p>
        </p:txBody>
      </p:sp>
      <p:sp>
        <p:nvSpPr>
          <p:cNvPr id="10005" name="TextBox 25"/>
          <p:cNvSpPr txBox="1"/>
          <p:nvPr/>
        </p:nvSpPr>
        <p:spPr>
          <a:xfrm>
            <a:off x="795528" y="8361197"/>
            <a:ext cx="5606691" cy="44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Copernicus Marine In Situ TAC and MULTIOBS 3D BGC.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Moorings, CTD, ADCP, HF-radar; the ML products.</a:t>
            </a:r>
          </a:p>
        </p:txBody>
      </p:sp>
      <p:sp>
        <p:nvSpPr>
          <p:cNvPr id="10006" name="TextBox 26"/>
          <p:cNvSpPr txBox="1"/>
          <p:nvPr/>
        </p:nvSpPr>
        <p:spPr>
          <a:xfrm>
            <a:off x="795528" y="8809053"/>
            <a:ext cx="5606691" cy="19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25"/>
              </a:rPr>
              <a:t>data.marine.copernicus.eu/product/INSITU_GLO_PHYBGCWAV_DISCRETE_MYNRT_013_030</a:t>
            </a:r>
          </a:p>
        </p:txBody>
      </p:sp>
      <p:grpSp>
        <p:nvGrpSpPr>
          <p:cNvPr id="10007" name="Group 27"/>
          <p:cNvGrpSpPr/>
          <p:nvPr/>
        </p:nvGrpSpPr>
        <p:grpSpPr>
          <a:xfrm>
            <a:off x="502920" y="9253014"/>
            <a:ext cx="5736003" cy="9144"/>
            <a:chOff x="0" y="0"/>
            <a:chExt cx="7648004" cy="12192"/>
          </a:xfrm>
        </p:grpSpPr>
        <p:sp>
          <p:nvSpPr>
            <p:cNvPr id="10008" name="Freeform 28"/>
            <p:cNvSpPr/>
            <p:nvPr/>
          </p:nvSpPr>
          <p:spPr>
            <a:xfrm>
              <a:off x="0" y="0"/>
              <a:ext cx="7647940" cy="12192"/>
            </a:xfrm>
            <a:custGeom>
              <a:avLst/>
              <a:gdLst/>
              <a:ahLst/>
              <a:cxnLst/>
              <a:rect l="l" t="t" r="r" b="b"/>
              <a:pathLst>
                <a:path w="7647940" h="12192">
                  <a:moveTo>
                    <a:pt x="0" y="0"/>
                  </a:moveTo>
                  <a:lnTo>
                    <a:pt x="7647940" y="0"/>
                  </a:lnTo>
                  <a:lnTo>
                    <a:pt x="764794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0009" name="TextBox 102"/>
          <p:cNvSpPr txBox="1"/>
          <p:nvPr/>
        </p:nvSpPr>
        <p:spPr>
          <a:xfrm>
            <a:off x="6558963" y="7915150"/>
            <a:ext cx="190723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18</a:t>
            </a:r>
          </a:p>
        </p:txBody>
      </p:sp>
      <p:sp>
        <p:nvSpPr>
          <p:cNvPr id="10010" name="TextBox 103"/>
          <p:cNvSpPr txBox="1"/>
          <p:nvPr/>
        </p:nvSpPr>
        <p:spPr>
          <a:xfrm>
            <a:off x="6851571" y="7910569"/>
            <a:ext cx="5315245" cy="25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Sauzède et al. (2016), J. Geophys. Res. Oceans.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The ML method.</a:t>
            </a:r>
          </a:p>
        </p:txBody>
      </p:sp>
      <p:sp>
        <p:nvSpPr>
          <p:cNvPr id="10011" name="TextBox 104"/>
          <p:cNvSpPr txBox="1"/>
          <p:nvPr/>
        </p:nvSpPr>
        <p:spPr>
          <a:xfrm>
            <a:off x="6851571" y="8135178"/>
            <a:ext cx="5315245" cy="19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26"/>
              </a:rPr>
              <a:t>doi.org/10.1002/2015JC011408</a:t>
            </a:r>
          </a:p>
        </p:txBody>
      </p:sp>
      <p:grpSp>
        <p:nvGrpSpPr>
          <p:cNvPr id="10012" name="Group 100"/>
          <p:cNvGrpSpPr/>
          <p:nvPr/>
        </p:nvGrpSpPr>
        <p:grpSpPr>
          <a:xfrm>
            <a:off x="6558963" y="8464552"/>
            <a:ext cx="5453034" cy="9144"/>
            <a:chOff x="0" y="0"/>
            <a:chExt cx="7270712" cy="12192"/>
          </a:xfrm>
        </p:grpSpPr>
        <p:sp>
          <p:nvSpPr>
            <p:cNvPr id="10013" name="Freeform 101"/>
            <p:cNvSpPr/>
            <p:nvPr/>
          </p:nvSpPr>
          <p:spPr>
            <a:xfrm>
              <a:off x="0" y="0"/>
              <a:ext cx="7270750" cy="12192"/>
            </a:xfrm>
            <a:custGeom>
              <a:avLst/>
              <a:gdLst/>
              <a:ahLst/>
              <a:cxnLst/>
              <a:rect l="l" t="t" r="r" b="b"/>
              <a:pathLst>
                <a:path w="7270750" h="12192">
                  <a:moveTo>
                    <a:pt x="0" y="0"/>
                  </a:moveTo>
                  <a:lnTo>
                    <a:pt x="7270750" y="0"/>
                  </a:lnTo>
                  <a:lnTo>
                    <a:pt x="727075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2241</Words>
  <Application>Microsoft Office PowerPoint</Application>
  <PresentationFormat>Custom</PresentationFormat>
  <Paragraphs>316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Times New Roman Bold</vt:lpstr>
      <vt:lpstr>Garamond Bold</vt:lpstr>
      <vt:lpstr>Courier New</vt:lpstr>
      <vt:lpstr>Arial</vt:lpstr>
      <vt:lpstr>Arial Italics</vt:lpstr>
      <vt:lpstr>Arimo</vt:lpstr>
      <vt:lpstr>Arial Bold</vt:lpstr>
      <vt:lpstr>Calibri</vt:lpstr>
      <vt:lpstr>Arimo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VVater-SIH2026-canva.pptx</dc:title>
  <cp:lastModifiedBy>cleo charia</cp:lastModifiedBy>
  <cp:revision>2</cp:revision>
  <dcterms:created xsi:type="dcterms:W3CDTF">2006-08-16T00:00:00Z</dcterms:created>
  <dcterms:modified xsi:type="dcterms:W3CDTF">2026-09-30T05:08:30Z</dcterms:modified>
  <dc:identifier>DAHWRt4zvS8</dc:identifier>
</cp:coreProperties>
</file>