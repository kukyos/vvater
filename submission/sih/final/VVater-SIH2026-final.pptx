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4.svg" ContentType="image/svg+xml"/>
  <Override PartName="/ppt/media/image17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2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Arimo Bold" charset="1" panose="020B0704020202020204"/>
      <p:regular r:id="rId18"/>
    </p:embeddedFont>
    <p:embeddedFont>
      <p:font typeface="Arial" charset="1" panose="020B0604020202020204"/>
      <p:regular r:id="rId19"/>
    </p:embeddedFont>
    <p:embeddedFont>
      <p:font typeface="Arimo" charset="1" panose="020B0604020202020204"/>
      <p:regular r:id="rId24"/>
    </p:embeddedFont>
    <p:embeddedFont>
      <p:font typeface="Courier New" charset="1" panose="02070309020205020404"/>
      <p:regular r:id="rId25"/>
    </p:embeddedFont>
    <p:embeddedFont>
      <p:font typeface="Arial Italics" charset="1" panose="020B060402020209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font12.fntdata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notesMaster" Target="notesMasters/notesMaster1.xml"/><Relationship Id="rId16" Type="http://schemas.openxmlformats.org/officeDocument/2006/relationships/theme" Target="theme/theme2.xml"/><Relationship Id="rId17" Type="http://schemas.openxmlformats.org/officeDocument/2006/relationships/notesSlide" Target="notesSlides/notesSlide1.xml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notesSlide" Target="notesSlides/notesSlide2.xml"/><Relationship Id="rId21" Type="http://schemas.openxmlformats.org/officeDocument/2006/relationships/notesSlide" Target="notesSlides/notesSlide3.xml"/><Relationship Id="rId22" Type="http://schemas.openxmlformats.org/officeDocument/2006/relationships/notesSlide" Target="notesSlides/notesSlide4.xml"/><Relationship Id="rId23" Type="http://schemas.openxmlformats.org/officeDocument/2006/relationships/notesSlide" Target="notesSlides/notesSlide5.xml"/><Relationship Id="rId24" Type="http://schemas.openxmlformats.org/officeDocument/2006/relationships/font" Target="fonts/font24.fntdata"/><Relationship Id="rId25" Type="http://schemas.openxmlformats.org/officeDocument/2006/relationships/font" Target="fonts/font25.fntdata"/><Relationship Id="rId26" Type="http://schemas.openxmlformats.org/officeDocument/2006/relationships/font" Target="fonts/font26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jpe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jpeg"/><Relationship Id="rId7" Type="http://schemas.openxmlformats.org/officeDocument/2006/relationships/image" Target="../media/image8.png"/><Relationship Id="rId8" Type="http://schemas.openxmlformats.org/officeDocument/2006/relationships/image" Target="../media/image9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eg"/><Relationship Id="rId4" Type="http://schemas.openxmlformats.org/officeDocument/2006/relationships/image" Target="../media/image4.jpe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sv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svg"/><Relationship Id="rId12" Type="http://schemas.openxmlformats.org/officeDocument/2006/relationships/image" Target="../media/image18.png"/><Relationship Id="rId13" Type="http://schemas.openxmlformats.org/officeDocument/2006/relationships/image" Target="../media/image19.svg"/><Relationship Id="rId14" Type="http://schemas.openxmlformats.org/officeDocument/2006/relationships/image" Target="../media/image20.png"/><Relationship Id="rId15" Type="http://schemas.openxmlformats.org/officeDocument/2006/relationships/image" Target="../media/image21.svg"/><Relationship Id="rId16" Type="http://schemas.openxmlformats.org/officeDocument/2006/relationships/image" Target="../media/image22.png"/><Relationship Id="rId17" Type="http://schemas.openxmlformats.org/officeDocument/2006/relationships/image" Target="../media/image2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24.jpeg"/><Relationship Id="rId7" Type="http://schemas.openxmlformats.org/officeDocument/2006/relationships/image" Target="../media/image25.jpeg"/><Relationship Id="rId8" Type="http://schemas.openxmlformats.org/officeDocument/2006/relationships/image" Target="../media/image26.jpeg"/><Relationship Id="rId9" Type="http://schemas.openxmlformats.org/officeDocument/2006/relationships/image" Target="../media/image27.jpeg"/><Relationship Id="rId10" Type="http://schemas.openxmlformats.org/officeDocument/2006/relationships/image" Target="../media/image28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github.com/Kukyos/VVater" TargetMode="External"/><Relationship Id="rId7" Type="http://schemas.openxmlformats.org/officeDocument/2006/relationships/hyperlink" Target="https://data.marine.copernicus.eu/product/GLOBAL_MULTIYEAR_PHY_001_030" TargetMode="External"/><Relationship Id="rId8" Type="http://schemas.openxmlformats.org/officeDocument/2006/relationships/hyperlink" Target="https://erddap.incois.gov.in/erddap" TargetMode="External"/><Relationship Id="rId9" Type="http://schemas.openxmlformats.org/officeDocument/2006/relationships/hyperlink" Target="https://erddap.ifremer.fr/erddap" TargetMode="External"/><Relationship Id="rId10" Type="http://schemas.openxmlformats.org/officeDocument/2006/relationships/hyperlink" Target="https://data-argo.ifremer.fr" TargetMode="External"/><Relationship Id="rId11" Type="http://schemas.openxmlformats.org/officeDocument/2006/relationships/hyperlink" Target="https://gliders.ioos.us/erddap" TargetMode="External"/><Relationship Id="rId12" Type="http://schemas.openxmlformats.org/officeDocument/2006/relationships/hyperlink" Target="https://incois.gov.in/MarineFisheries/TextDataHome?mfid=1" TargetMode="External"/><Relationship Id="rId13" Type="http://schemas.openxmlformats.org/officeDocument/2006/relationships/hyperlink" Target="https://thredds.ucar.edu" TargetMode="External"/><Relationship Id="rId14" Type="http://schemas.openxmlformats.org/officeDocument/2006/relationships/hyperlink" Target="https://gibs.earthdata.nasa.gov" TargetMode="External"/><Relationship Id="rId15" Type="http://schemas.openxmlformats.org/officeDocument/2006/relationships/hyperlink" Target="https://doi.org/10.13155/33951" TargetMode="External"/><Relationship Id="rId16" Type="http://schemas.openxmlformats.org/officeDocument/2006/relationships/hyperlink" Target="https://ioos.noaa.gov/project/qartod" TargetMode="External"/><Relationship Id="rId17" Type="http://schemas.openxmlformats.org/officeDocument/2006/relationships/hyperlink" Target="https://cfconventions.org" TargetMode="External"/><Relationship Id="rId18" Type="http://schemas.openxmlformats.org/officeDocument/2006/relationships/hyperlink" Target="https://ogc.org/standards/wms" TargetMode="External"/><Relationship Id="rId19" Type="http://schemas.openxmlformats.org/officeDocument/2006/relationships/hyperlink" Target="https://teos-10.org" TargetMode="External"/><Relationship Id="rId20" Type="http://schemas.openxmlformats.org/officeDocument/2006/relationships/hyperlink" Target="https://doi.org/10.1175/1520-0485(1972)002%3C0218:HHPOTG%3E2.0.CO;2" TargetMode="External"/><Relationship Id="rId21" Type="http://schemas.openxmlformats.org/officeDocument/2006/relationships/hyperlink" Target="https://doi.org/10.5670/oceanog.2016.66" TargetMode="External"/><Relationship Id="rId22" Type="http://schemas.openxmlformats.org/officeDocument/2006/relationships/hyperlink" Target="https://cesium.com/platform/cesiumjs" TargetMode="External"/><Relationship Id="rId23" Type="http://schemas.openxmlformats.org/officeDocument/2006/relationships/hyperlink" Target="https://argo.ucsd.edu" TargetMode="External"/><Relationship Id="rId24" Type="http://schemas.openxmlformats.org/officeDocument/2006/relationships/hyperlink" Target="https://github.com/Kukyos/VVater/blob/main/docs/01-problem-statement.md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65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2333" y="2573817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959969" y="990067"/>
            <a:ext cx="12618720" cy="256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468630" y="2589886"/>
            <a:ext cx="8703945" cy="641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- SIH26067</a:t>
            </a:r>
          </a:p>
          <a:p>
            <a:pPr algn="l">
              <a:lnSpc>
                <a:spcPts val="3600"/>
              </a:lnSpc>
            </a:pP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 - Develop a web-based interactive 3D visualization platform that integrates numerical ocean model outputs and in-situ observations.</a:t>
            </a:r>
          </a:p>
          <a:p>
            <a:pPr algn="l">
              <a:lnSpc>
                <a:spcPts val="3600"/>
              </a:lnSpc>
            </a:pP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 - Disaster Management</a:t>
            </a:r>
          </a:p>
          <a:p>
            <a:pPr algn="l">
              <a:lnSpc>
                <a:spcPts val="3600"/>
              </a:lnSpc>
            </a:pP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 - Software</a:t>
            </a:r>
          </a:p>
          <a:p>
            <a:pPr algn="l">
              <a:lnSpc>
                <a:spcPts val="3600"/>
              </a:lnSpc>
            </a:pP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 - K26125</a:t>
            </a:r>
          </a:p>
          <a:p>
            <a:pPr algn="l">
              <a:lnSpc>
                <a:spcPts val="3600"/>
              </a:lnSpc>
            </a:pP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- Team Null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274501" y="0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  <p:txBody>
            <a:bodyPr/>
            <a:p/>
          </p:txBody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VVater: Ocean in 3D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512064" y="264490"/>
            <a:ext cx="1210999" cy="1210999"/>
            <a:chOff x="0" y="0"/>
            <a:chExt cx="1614665" cy="1614665"/>
          </a:xfrm>
        </p:grpSpPr>
        <p:sp>
          <p:nvSpPr>
            <p:cNvPr name="Freeform 13" id="13" descr="logo.png"/>
            <p:cNvSpPr/>
            <p:nvPr/>
          </p:nvSpPr>
          <p:spPr>
            <a:xfrm flipH="false" flipV="false" rot="0">
              <a:off x="0" y="0"/>
              <a:ext cx="1614678" cy="1614678"/>
            </a:xfrm>
            <a:custGeom>
              <a:avLst/>
              <a:gdLst/>
              <a:ahLst/>
              <a:cxnLst/>
              <a:rect r="r" b="b" t="t" l="l"/>
              <a:pathLst>
                <a:path h="1614678" w="1614678">
                  <a:moveTo>
                    <a:pt x="0" y="0"/>
                  </a:moveTo>
                  <a:lnTo>
                    <a:pt x="1614678" y="0"/>
                  </a:lnTo>
                  <a:lnTo>
                    <a:pt x="1614678" y="1614678"/>
                  </a:lnTo>
                  <a:lnTo>
                    <a:pt x="0" y="1614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502920" y="2778490"/>
            <a:ext cx="7150608" cy="3767328"/>
            <a:chOff x="0" y="0"/>
            <a:chExt cx="9534144" cy="5023104"/>
          </a:xfrm>
        </p:grpSpPr>
        <p:sp>
          <p:nvSpPr>
            <p:cNvPr name="Freeform 15" id="15" descr="crop-hero.jpg"/>
            <p:cNvSpPr/>
            <p:nvPr/>
          </p:nvSpPr>
          <p:spPr>
            <a:xfrm flipH="false" flipV="false" rot="0">
              <a:off x="0" y="0"/>
              <a:ext cx="9534144" cy="5023104"/>
            </a:xfrm>
            <a:custGeom>
              <a:avLst/>
              <a:gdLst/>
              <a:ahLst/>
              <a:cxnLst/>
              <a:rect r="r" b="b" t="t" l="l"/>
              <a:pathLst>
                <a:path h="5023104" w="9534144">
                  <a:moveTo>
                    <a:pt x="0" y="0"/>
                  </a:moveTo>
                  <a:lnTo>
                    <a:pt x="9534144" y="0"/>
                  </a:lnTo>
                  <a:lnTo>
                    <a:pt x="9534144" y="5023104"/>
                  </a:lnTo>
                  <a:lnTo>
                    <a:pt x="0" y="5023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90" t="0" r="-1990" b="0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502920" y="2778490"/>
            <a:ext cx="7150608" cy="9144"/>
            <a:chOff x="0" y="0"/>
            <a:chExt cx="9534144" cy="121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534144" cy="12192"/>
            </a:xfrm>
            <a:custGeom>
              <a:avLst/>
              <a:gdLst/>
              <a:ahLst/>
              <a:cxnLst/>
              <a:rect r="r" b="b" t="t" l="l"/>
              <a:pathLst>
                <a:path h="12192" w="9534144">
                  <a:moveTo>
                    <a:pt x="0" y="0"/>
                  </a:moveTo>
                  <a:lnTo>
                    <a:pt x="9534144" y="0"/>
                  </a:lnTo>
                  <a:lnTo>
                    <a:pt x="9534144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44384" y="2778490"/>
            <a:ext cx="9144" cy="3767328"/>
            <a:chOff x="0" y="0"/>
            <a:chExt cx="12192" cy="502310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192" cy="5023104"/>
            </a:xfrm>
            <a:custGeom>
              <a:avLst/>
              <a:gdLst/>
              <a:ahLst/>
              <a:cxnLst/>
              <a:rect r="r" b="b" t="t" l="l"/>
              <a:pathLst>
                <a:path h="5023104" w="12192">
                  <a:moveTo>
                    <a:pt x="0" y="0"/>
                  </a:moveTo>
                  <a:lnTo>
                    <a:pt x="12192" y="0"/>
                  </a:lnTo>
                  <a:lnTo>
                    <a:pt x="12192" y="5023104"/>
                  </a:lnTo>
                  <a:lnTo>
                    <a:pt x="0" y="50231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p/>
          </p:txBody>
        </p:sp>
      </p:grpSp>
      <p:grpSp>
        <p:nvGrpSpPr>
          <p:cNvPr name="Group 20" id="20"/>
          <p:cNvGrpSpPr/>
          <p:nvPr/>
        </p:nvGrpSpPr>
        <p:grpSpPr>
          <a:xfrm rot="0">
            <a:off x="502920" y="6536674"/>
            <a:ext cx="7150608" cy="9144"/>
            <a:chOff x="0" y="0"/>
            <a:chExt cx="9534144" cy="121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534144" cy="12192"/>
            </a:xfrm>
            <a:custGeom>
              <a:avLst/>
              <a:gdLst/>
              <a:ahLst/>
              <a:cxnLst/>
              <a:rect r="r" b="b" t="t" l="l"/>
              <a:pathLst>
                <a:path h="12192" w="9534144">
                  <a:moveTo>
                    <a:pt x="0" y="0"/>
                  </a:moveTo>
                  <a:lnTo>
                    <a:pt x="9534144" y="0"/>
                  </a:lnTo>
                  <a:lnTo>
                    <a:pt x="9534144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p/>
          </p:txBody>
        </p:sp>
      </p:grpSp>
      <p:grpSp>
        <p:nvGrpSpPr>
          <p:cNvPr name="Group 22" id="22"/>
          <p:cNvGrpSpPr/>
          <p:nvPr/>
        </p:nvGrpSpPr>
        <p:grpSpPr>
          <a:xfrm rot="0">
            <a:off x="502920" y="2778490"/>
            <a:ext cx="9144" cy="3767328"/>
            <a:chOff x="0" y="0"/>
            <a:chExt cx="12192" cy="502310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192" cy="5023104"/>
            </a:xfrm>
            <a:custGeom>
              <a:avLst/>
              <a:gdLst/>
              <a:ahLst/>
              <a:cxnLst/>
              <a:rect r="r" b="b" t="t" l="l"/>
              <a:pathLst>
                <a:path h="5023104" w="12192">
                  <a:moveTo>
                    <a:pt x="0" y="0"/>
                  </a:moveTo>
                  <a:lnTo>
                    <a:pt x="12192" y="0"/>
                  </a:lnTo>
                  <a:lnTo>
                    <a:pt x="12192" y="5023104"/>
                  </a:lnTo>
                  <a:lnTo>
                    <a:pt x="0" y="50231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502920" y="7607017"/>
            <a:ext cx="7132320" cy="9144"/>
            <a:chOff x="0" y="0"/>
            <a:chExt cx="9509760" cy="121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509760" cy="12192"/>
            </a:xfrm>
            <a:custGeom>
              <a:avLst/>
              <a:gdLst/>
              <a:ahLst/>
              <a:cxnLst/>
              <a:rect r="r" b="b" t="t" l="l"/>
              <a:pathLst>
                <a:path h="1219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502920" y="8147371"/>
            <a:ext cx="5967754" cy="9144"/>
            <a:chOff x="0" y="0"/>
            <a:chExt cx="7957005" cy="121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957005" cy="12192"/>
            </a:xfrm>
            <a:custGeom>
              <a:avLst/>
              <a:gdLst/>
              <a:ahLst/>
              <a:cxnLst/>
              <a:rect r="r" b="b" t="t" l="l"/>
              <a:pathLst>
                <a:path h="12192" w="7957005">
                  <a:moveTo>
                    <a:pt x="0" y="0"/>
                  </a:moveTo>
                  <a:lnTo>
                    <a:pt x="7957005" y="0"/>
                  </a:lnTo>
                  <a:lnTo>
                    <a:pt x="7957005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p/>
          </p:txBody>
        </p:sp>
      </p:grpSp>
      <p:grpSp>
        <p:nvGrpSpPr>
          <p:cNvPr name="Group 28" id="28"/>
          <p:cNvGrpSpPr/>
          <p:nvPr/>
        </p:nvGrpSpPr>
        <p:grpSpPr>
          <a:xfrm rot="0">
            <a:off x="502920" y="8687724"/>
            <a:ext cx="5967754" cy="9144"/>
            <a:chOff x="0" y="0"/>
            <a:chExt cx="7957005" cy="1219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957005" cy="12192"/>
            </a:xfrm>
            <a:custGeom>
              <a:avLst/>
              <a:gdLst/>
              <a:ahLst/>
              <a:cxnLst/>
              <a:rect r="r" b="b" t="t" l="l"/>
              <a:pathLst>
                <a:path h="12192" w="7957005">
                  <a:moveTo>
                    <a:pt x="0" y="0"/>
                  </a:moveTo>
                  <a:lnTo>
                    <a:pt x="7957005" y="0"/>
                  </a:lnTo>
                  <a:lnTo>
                    <a:pt x="7957005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p/>
          </p:txBody>
        </p:sp>
      </p:grpSp>
      <p:grpSp>
        <p:nvGrpSpPr>
          <p:cNvPr name="Group 30" id="30"/>
          <p:cNvGrpSpPr/>
          <p:nvPr/>
        </p:nvGrpSpPr>
        <p:grpSpPr>
          <a:xfrm rot="0">
            <a:off x="7955280" y="2490026"/>
            <a:ext cx="5394960" cy="9144"/>
            <a:chOff x="0" y="0"/>
            <a:chExt cx="7193280" cy="121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193280" cy="12192"/>
            </a:xfrm>
            <a:custGeom>
              <a:avLst/>
              <a:gdLst/>
              <a:ahLst/>
              <a:cxnLst/>
              <a:rect r="r" b="b" t="t" l="l"/>
              <a:pathLst>
                <a:path h="12192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p/>
          </p:txBody>
        </p:sp>
      </p:grpSp>
      <p:grpSp>
        <p:nvGrpSpPr>
          <p:cNvPr name="Group 32" id="32"/>
          <p:cNvGrpSpPr/>
          <p:nvPr/>
        </p:nvGrpSpPr>
        <p:grpSpPr>
          <a:xfrm rot="0">
            <a:off x="7955280" y="3496723"/>
            <a:ext cx="5394960" cy="9144"/>
            <a:chOff x="0" y="0"/>
            <a:chExt cx="7193280" cy="121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193280" cy="12192"/>
            </a:xfrm>
            <a:custGeom>
              <a:avLst/>
              <a:gdLst/>
              <a:ahLst/>
              <a:cxnLst/>
              <a:rect r="r" b="b" t="t" l="l"/>
              <a:pathLst>
                <a:path h="12192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7955280" y="4503420"/>
            <a:ext cx="5394960" cy="9144"/>
            <a:chOff x="0" y="0"/>
            <a:chExt cx="7193280" cy="1219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193280" cy="12192"/>
            </a:xfrm>
            <a:custGeom>
              <a:avLst/>
              <a:gdLst/>
              <a:ahLst/>
              <a:cxnLst/>
              <a:rect r="r" b="b" t="t" l="l"/>
              <a:pathLst>
                <a:path h="12192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p/>
          </p:txBody>
        </p:sp>
      </p:grpSp>
      <p:grpSp>
        <p:nvGrpSpPr>
          <p:cNvPr name="Group 36" id="36"/>
          <p:cNvGrpSpPr/>
          <p:nvPr/>
        </p:nvGrpSpPr>
        <p:grpSpPr>
          <a:xfrm rot="0">
            <a:off x="7955280" y="5474698"/>
            <a:ext cx="5394960" cy="9144"/>
            <a:chOff x="0" y="0"/>
            <a:chExt cx="7193280" cy="1219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193280" cy="12192"/>
            </a:xfrm>
            <a:custGeom>
              <a:avLst/>
              <a:gdLst/>
              <a:ahLst/>
              <a:cxnLst/>
              <a:rect r="r" b="b" t="t" l="l"/>
              <a:pathLst>
                <a:path h="12192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p/>
          </p:txBody>
        </p:sp>
      </p:grpSp>
      <p:grpSp>
        <p:nvGrpSpPr>
          <p:cNvPr name="Group 38" id="38"/>
          <p:cNvGrpSpPr/>
          <p:nvPr/>
        </p:nvGrpSpPr>
        <p:grpSpPr>
          <a:xfrm rot="0">
            <a:off x="7955280" y="6353699"/>
            <a:ext cx="5394960" cy="47625"/>
            <a:chOff x="0" y="0"/>
            <a:chExt cx="7193280" cy="635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193280" cy="63500"/>
            </a:xfrm>
            <a:custGeom>
              <a:avLst/>
              <a:gdLst/>
              <a:ahLst/>
              <a:cxnLst/>
              <a:rect r="r" b="b" t="t" l="l"/>
              <a:pathLst>
                <a:path h="6350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p/>
          </p:txBody>
        </p:sp>
      </p:grpSp>
      <p:grpSp>
        <p:nvGrpSpPr>
          <p:cNvPr name="Group 40" id="40"/>
          <p:cNvGrpSpPr/>
          <p:nvPr/>
        </p:nvGrpSpPr>
        <p:grpSpPr>
          <a:xfrm rot="0">
            <a:off x="7955280" y="8148161"/>
            <a:ext cx="5394960" cy="1247299"/>
            <a:chOff x="0" y="0"/>
            <a:chExt cx="7193280" cy="166306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193280" cy="1663065"/>
            </a:xfrm>
            <a:custGeom>
              <a:avLst/>
              <a:gdLst/>
              <a:ahLst/>
              <a:cxnLst/>
              <a:rect r="r" b="b" t="t" l="l"/>
              <a:pathLst>
                <a:path h="1663065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663065"/>
                  </a:lnTo>
                  <a:lnTo>
                    <a:pt x="0" y="1663065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/>
            <a:p/>
          </p:txBody>
        </p:sp>
      </p:grpSp>
      <p:grpSp>
        <p:nvGrpSpPr>
          <p:cNvPr name="Group 42" id="42"/>
          <p:cNvGrpSpPr/>
          <p:nvPr/>
        </p:nvGrpSpPr>
        <p:grpSpPr>
          <a:xfrm rot="0">
            <a:off x="7955280" y="8148161"/>
            <a:ext cx="5394960" cy="36576"/>
            <a:chOff x="0" y="0"/>
            <a:chExt cx="7193280" cy="4876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193280" cy="48768"/>
            </a:xfrm>
            <a:custGeom>
              <a:avLst/>
              <a:gdLst/>
              <a:ahLst/>
              <a:cxnLst/>
              <a:rect r="r" b="b" t="t" l="l"/>
              <a:pathLst>
                <a:path h="48768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A9B2BE"/>
            </a:solidFill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670280" y="2211562"/>
            <a:ext cx="4114800" cy="9144"/>
            <a:chOff x="0" y="0"/>
            <a:chExt cx="5486400" cy="121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486400" cy="12192"/>
            </a:xfrm>
            <a:custGeom>
              <a:avLst/>
              <a:gdLst/>
              <a:ahLst/>
              <a:cxnLst/>
              <a:rect r="r" b="b" t="t" l="l"/>
              <a:pathLst>
                <a:path h="1219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p/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647420" y="2973943"/>
            <a:ext cx="4114800" cy="9144"/>
            <a:chOff x="0" y="0"/>
            <a:chExt cx="5486400" cy="1219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486400" cy="12192"/>
            </a:xfrm>
            <a:custGeom>
              <a:avLst/>
              <a:gdLst/>
              <a:ahLst/>
              <a:cxnLst/>
              <a:rect r="r" b="b" t="t" l="l"/>
              <a:pathLst>
                <a:path h="1219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p/>
          </p:txBody>
        </p:sp>
      </p:grpSp>
      <p:sp>
        <p:nvSpPr>
          <p:cNvPr name="TextBox 48" id="48"/>
          <p:cNvSpPr txBox="true"/>
          <p:nvPr/>
        </p:nvSpPr>
        <p:spPr>
          <a:xfrm rot="0">
            <a:off x="13670280" y="3229404"/>
            <a:ext cx="4238244" cy="44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reads only the chunks a box needs from Copernicus's cloud stores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3679424" y="3656743"/>
            <a:ext cx="4114800" cy="9144"/>
            <a:chOff x="0" y="0"/>
            <a:chExt cx="5486400" cy="1219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486400" cy="12192"/>
            </a:xfrm>
            <a:custGeom>
              <a:avLst/>
              <a:gdLst/>
              <a:ahLst/>
              <a:cxnLst/>
              <a:rect r="r" b="b" t="t" l="l"/>
              <a:pathLst>
                <a:path h="1219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p/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679424" y="4347639"/>
            <a:ext cx="4114800" cy="9144"/>
            <a:chOff x="0" y="0"/>
            <a:chExt cx="5486400" cy="1219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486400" cy="12192"/>
            </a:xfrm>
            <a:custGeom>
              <a:avLst/>
              <a:gdLst/>
              <a:ahLst/>
              <a:cxnLst/>
              <a:rect r="r" b="b" t="t" l="l"/>
              <a:pathLst>
                <a:path h="1219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p/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679424" y="5086587"/>
            <a:ext cx="4114800" cy="9144"/>
            <a:chOff x="0" y="0"/>
            <a:chExt cx="5486400" cy="121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486400" cy="12192"/>
            </a:xfrm>
            <a:custGeom>
              <a:avLst/>
              <a:gdLst/>
              <a:ahLst/>
              <a:cxnLst/>
              <a:rect r="r" b="b" t="t" l="l"/>
              <a:pathLst>
                <a:path h="1219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p/>
          </p:txBody>
        </p:sp>
      </p:grpSp>
      <p:grpSp>
        <p:nvGrpSpPr>
          <p:cNvPr name="Group 55" id="55"/>
          <p:cNvGrpSpPr/>
          <p:nvPr/>
        </p:nvGrpSpPr>
        <p:grpSpPr>
          <a:xfrm rot="0">
            <a:off x="13670280" y="6596110"/>
            <a:ext cx="2034540" cy="2395728"/>
            <a:chOff x="0" y="0"/>
            <a:chExt cx="2712720" cy="319430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712720" cy="3194304"/>
            </a:xfrm>
            <a:custGeom>
              <a:avLst/>
              <a:gdLst/>
              <a:ahLst/>
              <a:cxnLst/>
              <a:rect r="r" b="b" t="t" l="l"/>
              <a:pathLst>
                <a:path h="3194304" w="2712720">
                  <a:moveTo>
                    <a:pt x="0" y="0"/>
                  </a:moveTo>
                  <a:lnTo>
                    <a:pt x="2712720" y="0"/>
                  </a:lnTo>
                  <a:lnTo>
                    <a:pt x="2712720" y="3194304"/>
                  </a:lnTo>
                  <a:lnTo>
                    <a:pt x="0" y="3194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8121" t="0" r="-8121" b="0"/>
              </a:stretch>
            </a:blipFill>
          </p:spPr>
          <p:txBody>
            <a:bodyPr/>
            <a:p/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670280" y="6596110"/>
            <a:ext cx="2034540" cy="9144"/>
            <a:chOff x="0" y="0"/>
            <a:chExt cx="2712720" cy="1219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712720" cy="12192"/>
            </a:xfrm>
            <a:custGeom>
              <a:avLst/>
              <a:gdLst/>
              <a:ahLst/>
              <a:cxnLst/>
              <a:rect r="r" b="b" t="t" l="l"/>
              <a:pathLst>
                <a:path h="12192" w="2712720">
                  <a:moveTo>
                    <a:pt x="0" y="0"/>
                  </a:moveTo>
                  <a:lnTo>
                    <a:pt x="2712720" y="0"/>
                  </a:lnTo>
                  <a:lnTo>
                    <a:pt x="271272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p/>
          </p:txBody>
        </p:sp>
      </p:grpSp>
      <p:grpSp>
        <p:nvGrpSpPr>
          <p:cNvPr name="Group 59" id="59"/>
          <p:cNvGrpSpPr/>
          <p:nvPr/>
        </p:nvGrpSpPr>
        <p:grpSpPr>
          <a:xfrm rot="0">
            <a:off x="15695676" y="6596110"/>
            <a:ext cx="9144" cy="2395728"/>
            <a:chOff x="0" y="0"/>
            <a:chExt cx="12192" cy="319430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192" cy="3194304"/>
            </a:xfrm>
            <a:custGeom>
              <a:avLst/>
              <a:gdLst/>
              <a:ahLst/>
              <a:cxnLst/>
              <a:rect r="r" b="b" t="t" l="l"/>
              <a:pathLst>
                <a:path h="3194304" w="12192">
                  <a:moveTo>
                    <a:pt x="0" y="0"/>
                  </a:moveTo>
                  <a:lnTo>
                    <a:pt x="12192" y="0"/>
                  </a:lnTo>
                  <a:lnTo>
                    <a:pt x="12192" y="3194304"/>
                  </a:lnTo>
                  <a:lnTo>
                    <a:pt x="0" y="31943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p/>
          </p:txBody>
        </p:sp>
      </p:grpSp>
      <p:grpSp>
        <p:nvGrpSpPr>
          <p:cNvPr name="Group 61" id="61"/>
          <p:cNvGrpSpPr/>
          <p:nvPr/>
        </p:nvGrpSpPr>
        <p:grpSpPr>
          <a:xfrm rot="0">
            <a:off x="13670280" y="8982694"/>
            <a:ext cx="2034540" cy="9144"/>
            <a:chOff x="0" y="0"/>
            <a:chExt cx="2712720" cy="1219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712720" cy="12192"/>
            </a:xfrm>
            <a:custGeom>
              <a:avLst/>
              <a:gdLst/>
              <a:ahLst/>
              <a:cxnLst/>
              <a:rect r="r" b="b" t="t" l="l"/>
              <a:pathLst>
                <a:path h="12192" w="2712720">
                  <a:moveTo>
                    <a:pt x="0" y="0"/>
                  </a:moveTo>
                  <a:lnTo>
                    <a:pt x="2712720" y="0"/>
                  </a:lnTo>
                  <a:lnTo>
                    <a:pt x="271272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p/>
          </p:txBody>
        </p:sp>
      </p:grpSp>
      <p:grpSp>
        <p:nvGrpSpPr>
          <p:cNvPr name="Group 63" id="63"/>
          <p:cNvGrpSpPr/>
          <p:nvPr/>
        </p:nvGrpSpPr>
        <p:grpSpPr>
          <a:xfrm rot="0">
            <a:off x="13670280" y="6596110"/>
            <a:ext cx="9144" cy="2395728"/>
            <a:chOff x="0" y="0"/>
            <a:chExt cx="12192" cy="319430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2192" cy="3194304"/>
            </a:xfrm>
            <a:custGeom>
              <a:avLst/>
              <a:gdLst/>
              <a:ahLst/>
              <a:cxnLst/>
              <a:rect r="r" b="b" t="t" l="l"/>
              <a:pathLst>
                <a:path h="3194304" w="12192">
                  <a:moveTo>
                    <a:pt x="0" y="0"/>
                  </a:moveTo>
                  <a:lnTo>
                    <a:pt x="12192" y="0"/>
                  </a:lnTo>
                  <a:lnTo>
                    <a:pt x="12192" y="3194304"/>
                  </a:lnTo>
                  <a:lnTo>
                    <a:pt x="0" y="31943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p/>
          </p:txBody>
        </p:sp>
      </p:grpSp>
      <p:grpSp>
        <p:nvGrpSpPr>
          <p:cNvPr name="Group 65" id="65"/>
          <p:cNvGrpSpPr/>
          <p:nvPr/>
        </p:nvGrpSpPr>
        <p:grpSpPr>
          <a:xfrm rot="0">
            <a:off x="15768828" y="6596110"/>
            <a:ext cx="2034540" cy="2395728"/>
            <a:chOff x="0" y="0"/>
            <a:chExt cx="2712720" cy="3194304"/>
          </a:xfrm>
        </p:grpSpPr>
        <p:sp>
          <p:nvSpPr>
            <p:cNvPr name="Freeform 66" id="66" descr="crop-assistant.jpg"/>
            <p:cNvSpPr/>
            <p:nvPr/>
          </p:nvSpPr>
          <p:spPr>
            <a:xfrm flipH="false" flipV="false" rot="0">
              <a:off x="0" y="0"/>
              <a:ext cx="2712720" cy="3194304"/>
            </a:xfrm>
            <a:custGeom>
              <a:avLst/>
              <a:gdLst/>
              <a:ahLst/>
              <a:cxnLst/>
              <a:rect r="r" b="b" t="t" l="l"/>
              <a:pathLst>
                <a:path h="3194304" w="2712720">
                  <a:moveTo>
                    <a:pt x="0" y="0"/>
                  </a:moveTo>
                  <a:lnTo>
                    <a:pt x="2712720" y="0"/>
                  </a:lnTo>
                  <a:lnTo>
                    <a:pt x="2712720" y="3194304"/>
                  </a:lnTo>
                  <a:lnTo>
                    <a:pt x="0" y="3194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57048" t="0" r="-57047" b="0"/>
              </a:stretch>
            </a:blipFill>
          </p:spPr>
          <p:txBody>
            <a:bodyPr/>
            <a:p/>
          </p:txBody>
        </p:sp>
      </p:grpSp>
      <p:grpSp>
        <p:nvGrpSpPr>
          <p:cNvPr name="Group 67" id="67"/>
          <p:cNvGrpSpPr/>
          <p:nvPr/>
        </p:nvGrpSpPr>
        <p:grpSpPr>
          <a:xfrm rot="0">
            <a:off x="15768828" y="6596110"/>
            <a:ext cx="2034540" cy="9144"/>
            <a:chOff x="0" y="0"/>
            <a:chExt cx="2712720" cy="1219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712720" cy="12192"/>
            </a:xfrm>
            <a:custGeom>
              <a:avLst/>
              <a:gdLst/>
              <a:ahLst/>
              <a:cxnLst/>
              <a:rect r="r" b="b" t="t" l="l"/>
              <a:pathLst>
                <a:path h="12192" w="2712720">
                  <a:moveTo>
                    <a:pt x="0" y="0"/>
                  </a:moveTo>
                  <a:lnTo>
                    <a:pt x="2712720" y="0"/>
                  </a:lnTo>
                  <a:lnTo>
                    <a:pt x="271272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p/>
          </p:txBody>
        </p:sp>
      </p:grpSp>
      <p:grpSp>
        <p:nvGrpSpPr>
          <p:cNvPr name="Group 69" id="69"/>
          <p:cNvGrpSpPr/>
          <p:nvPr/>
        </p:nvGrpSpPr>
        <p:grpSpPr>
          <a:xfrm rot="0">
            <a:off x="17794224" y="6596110"/>
            <a:ext cx="9144" cy="2395728"/>
            <a:chOff x="0" y="0"/>
            <a:chExt cx="12192" cy="319430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2192" cy="3194304"/>
            </a:xfrm>
            <a:custGeom>
              <a:avLst/>
              <a:gdLst/>
              <a:ahLst/>
              <a:cxnLst/>
              <a:rect r="r" b="b" t="t" l="l"/>
              <a:pathLst>
                <a:path h="3194304" w="12192">
                  <a:moveTo>
                    <a:pt x="0" y="0"/>
                  </a:moveTo>
                  <a:lnTo>
                    <a:pt x="12192" y="0"/>
                  </a:lnTo>
                  <a:lnTo>
                    <a:pt x="12192" y="3194304"/>
                  </a:lnTo>
                  <a:lnTo>
                    <a:pt x="0" y="31943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p/>
          </p:txBody>
        </p:sp>
      </p:grpSp>
      <p:grpSp>
        <p:nvGrpSpPr>
          <p:cNvPr name="Group 71" id="71"/>
          <p:cNvGrpSpPr/>
          <p:nvPr/>
        </p:nvGrpSpPr>
        <p:grpSpPr>
          <a:xfrm rot="0">
            <a:off x="15768828" y="8982694"/>
            <a:ext cx="2034540" cy="9144"/>
            <a:chOff x="0" y="0"/>
            <a:chExt cx="2712720" cy="1219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712720" cy="12192"/>
            </a:xfrm>
            <a:custGeom>
              <a:avLst/>
              <a:gdLst/>
              <a:ahLst/>
              <a:cxnLst/>
              <a:rect r="r" b="b" t="t" l="l"/>
              <a:pathLst>
                <a:path h="12192" w="2712720">
                  <a:moveTo>
                    <a:pt x="0" y="0"/>
                  </a:moveTo>
                  <a:lnTo>
                    <a:pt x="2712720" y="0"/>
                  </a:lnTo>
                  <a:lnTo>
                    <a:pt x="271272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p/>
          </p:txBody>
        </p:sp>
      </p:grpSp>
      <p:grpSp>
        <p:nvGrpSpPr>
          <p:cNvPr name="Group 73" id="73"/>
          <p:cNvGrpSpPr/>
          <p:nvPr/>
        </p:nvGrpSpPr>
        <p:grpSpPr>
          <a:xfrm rot="0">
            <a:off x="15768828" y="6596110"/>
            <a:ext cx="9144" cy="2395728"/>
            <a:chOff x="0" y="0"/>
            <a:chExt cx="12192" cy="319430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2192" cy="3194304"/>
            </a:xfrm>
            <a:custGeom>
              <a:avLst/>
              <a:gdLst/>
              <a:ahLst/>
              <a:cxnLst/>
              <a:rect r="r" b="b" t="t" l="l"/>
              <a:pathLst>
                <a:path h="3194304" w="12192">
                  <a:moveTo>
                    <a:pt x="0" y="0"/>
                  </a:moveTo>
                  <a:lnTo>
                    <a:pt x="12192" y="0"/>
                  </a:lnTo>
                  <a:lnTo>
                    <a:pt x="12192" y="3194304"/>
                  </a:lnTo>
                  <a:lnTo>
                    <a:pt x="0" y="31943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p/>
          </p:txBody>
        </p:sp>
      </p:grpSp>
      <p:grpSp>
        <p:nvGrpSpPr>
          <p:cNvPr name="Group 75" id="75"/>
          <p:cNvGrpSpPr/>
          <p:nvPr/>
        </p:nvGrpSpPr>
        <p:grpSpPr>
          <a:xfrm rot="0">
            <a:off x="13704570" y="5779255"/>
            <a:ext cx="4114800" cy="9144"/>
            <a:chOff x="0" y="0"/>
            <a:chExt cx="5486400" cy="1219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486400" cy="12192"/>
            </a:xfrm>
            <a:custGeom>
              <a:avLst/>
              <a:gdLst/>
              <a:ahLst/>
              <a:cxnLst/>
              <a:rect r="r" b="b" t="t" l="l"/>
              <a:pathLst>
                <a:path h="1219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p/>
          </p:txBody>
        </p:sp>
      </p:grpSp>
      <p:sp>
        <p:nvSpPr>
          <p:cNvPr name="TextBox 77" id="77"/>
          <p:cNvSpPr txBox="true"/>
          <p:nvPr/>
        </p:nvSpPr>
        <p:spPr>
          <a:xfrm rot="0">
            <a:off x="502920" y="1827914"/>
            <a:ext cx="7346290" cy="315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5"/>
              </a:lnSpc>
            </a:pPr>
            <a:r>
              <a:rPr lang="en-US" sz="1575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502920" y="2192512"/>
            <a:ext cx="7346290" cy="502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575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A browser platform that cuts a </a:t>
            </a:r>
            <a:r>
              <a:rPr lang="en-US" sz="1575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3D block out of the ocean model, anywhere, on any day from 1993 to the forecast</a:t>
            </a:r>
            <a:r>
              <a:rPr lang="en-US" sz="1575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, and stands the real Argo floats inside it.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502920" y="6549095"/>
            <a:ext cx="7346290" cy="666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9"/>
              </a:lnSpc>
            </a:pPr>
            <a:r>
              <a:rPr lang="en-US" sz="1299" b="true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Working prototype, captured.</a:t>
            </a:r>
            <a:r>
              <a:rPr lang="en-US" sz="129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 The Bay of Bengal on 2020-05-14, before Cyclone Amphan, cut open to 1,000 m on the model's 35 native depth levels; each dashed stick is one of 17 Argo floats within two days.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502920" y="7264165"/>
            <a:ext cx="7346290" cy="277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7"/>
              </a:lnSpc>
            </a:pPr>
            <a:r>
              <a:rPr lang="en-US" sz="1350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DETAILED EXPLANATION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502920" y="7621267"/>
            <a:ext cx="6915706" cy="572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3"/>
              </a:lnSpc>
            </a:pPr>
            <a:r>
              <a:rPr lang="en-US" sz="1749" b="true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Model:</a:t>
            </a:r>
            <a:r>
              <a:rPr lang="en-US" sz="1749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 Copernicus GLORYS12 and PISCES, read from the cloud; the INCOIS Argo analysis for the Bay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502920" y="8161620"/>
            <a:ext cx="6915706" cy="572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3"/>
              </a:lnSpc>
            </a:pPr>
            <a:r>
              <a:rPr lang="en-US" sz="1749" b="true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Instruments:</a:t>
            </a:r>
            <a:r>
              <a:rPr lang="en-US" sz="1749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 Argo core and BGC floats, gliders, your own CSV casts, each with its QC state and source file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502920" y="8701973"/>
            <a:ext cx="7346290" cy="572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3"/>
              </a:lnSpc>
            </a:pPr>
            <a:r>
              <a:rPr lang="en-US" sz="1749" b="true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Views:</a:t>
            </a:r>
            <a:r>
              <a:rPr lang="en-US" sz="1749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 Region 3D, Map 2D, Globe, Fly, immersive; winds, waves, currents, fishing zones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7955280" y="1818389"/>
            <a:ext cx="5556809" cy="310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3"/>
              </a:lnSpc>
            </a:pPr>
            <a:r>
              <a:rPr lang="en-US" sz="1774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HOW IT ADDRESSES THE PROBLEM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7955280" y="2171357"/>
            <a:ext cx="5556809" cy="252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9"/>
              </a:lnSpc>
            </a:pPr>
            <a:r>
              <a:rPr lang="en-US" sz="120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The five gaps the problem statement lists, and our answer to each.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7955280" y="2626042"/>
            <a:ext cx="5556809" cy="266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425" b="true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No browser-based 3D, depth-resolved view of model fields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7955280" y="2860891"/>
            <a:ext cx="5556809" cy="554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6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a block of any box and day, cut open, in any browser; the INCOIS analysis as a true 3D volume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7955280" y="3591744"/>
            <a:ext cx="5556809" cy="266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425" b="true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Argo and glider profiles not shown alongside model fields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7955280" y="3867588"/>
            <a:ext cx="5556809" cy="554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6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floats stand inside the model as sticks; click one for its profile against the model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7955280" y="4588916"/>
            <a:ext cx="5556809" cy="266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425" b="true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No controls for variable, depth slice, time step, colour bar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7955280" y="4893335"/>
            <a:ext cx="5556809" cy="49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7"/>
              </a:lnSpc>
            </a:pPr>
            <a:r>
              <a:rPr lang="en-US" sz="15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23 variables, cut planes, a day-by-day timeline, palette, range and log scale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7955280" y="5538464"/>
            <a:ext cx="5556809" cy="266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425" b="true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New data streams need re-engineering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7955280" y="5807909"/>
            <a:ext cx="5724144" cy="49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7"/>
              </a:lnSpc>
            </a:pPr>
            <a:r>
              <a:rPr lang="en-US" sz="15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a new variable is one catalogue line; CSV casts drop onto the globe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7955280" y="6432947"/>
            <a:ext cx="5556809" cy="266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425" b="true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No tools for rapid understanding and decisions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7955280" y="6686845"/>
            <a:ext cx="5556809" cy="1241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7"/>
              </a:lnSpc>
            </a:pPr>
            <a:r>
              <a:rPr lang="en-US" sz="15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an AI assistant builds the view you ask for; fishing advisories; cyclone heat potential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8092440" y="8263318"/>
            <a:ext cx="5274259" cy="303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1500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Also asked for by name, and built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8092440" y="8562565"/>
            <a:ext cx="5013960" cy="6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2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Isosurface (the 20 °C isotherm, Bay volume) · layer opacity · vertical exaggeration · NetCDF and text parsers · REST API · OGC WMS for the Bay layers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3670280" y="1827914"/>
            <a:ext cx="4238244" cy="315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5"/>
              </a:lnSpc>
            </a:pPr>
            <a:r>
              <a:rPr lang="en-US" sz="1575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INNOVATION AND UNIQUENESS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3670280" y="2283571"/>
            <a:ext cx="4238244" cy="236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425" b="true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Floats inside the model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3670280" y="2529316"/>
            <a:ext cx="4238244" cy="44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where model and float disagree, the colours differ on the same wall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3670280" y="2983659"/>
            <a:ext cx="4238244" cy="236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425" b="true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No archive to build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3674852" y="3674031"/>
            <a:ext cx="4238244" cy="266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425" b="true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The model is checked too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3679424" y="3894630"/>
            <a:ext cx="4238244" cy="41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impossible values masked and counted; INCOIS error drawn faint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3679424" y="4394883"/>
            <a:ext cx="4238244" cy="236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425" b="true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An assistant that acts (AI Chatbot)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3674852" y="4633579"/>
            <a:ext cx="4238244" cy="41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data only via our API tools; untraceable numbers flagged; built the asked-for cube 5 of 5 times, median 4.6 s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3658850" y="5114925"/>
            <a:ext cx="4238244" cy="236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425" b="true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A course on live data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3654278" y="5345297"/>
            <a:ext cx="4238244" cy="41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six lessons, class 8–12; quiz answers read from the cube on screen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3670280" y="8979932"/>
            <a:ext cx="1935767" cy="521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sz="149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a float's profile vs model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5768828" y="8979932"/>
            <a:ext cx="2076736" cy="521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sz="149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Arabian Sea, built by the assistant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3683996" y="5807593"/>
            <a:ext cx="4238244" cy="236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425" b="true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A flight view (surface through the sky)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3679424" y="6037965"/>
            <a:ext cx="4238244" cy="41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fly a few kilometres above the sea and coast, as a pilot sees it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000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Team Null · K26125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26" r="0" b="-136926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-92869"/>
            <a:ext cx="16459200" cy="1735931"/>
            <a:chOff x="0" y="0"/>
            <a:chExt cx="21945600" cy="23145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2314575"/>
            </a:xfrm>
            <a:custGeom>
              <a:avLst/>
              <a:gdLst/>
              <a:ahLst/>
              <a:cxnLst/>
              <a:rect r="r" b="b" t="t" l="l"/>
              <a:pathLst>
                <a:path h="231457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314575"/>
                  </a:lnTo>
                  <a:lnTo>
                    <a:pt x="0" y="23145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747" r="0" b="-134747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1945600" cy="2343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483247" y="9639300"/>
            <a:ext cx="4267200" cy="547688"/>
            <a:chOff x="0" y="0"/>
            <a:chExt cx="5689600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07" r="0" b="-101709"/>
              </a:stretch>
            </a:blipFill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483247" y="9625012"/>
            <a:ext cx="4267200" cy="561975"/>
            <a:chOff x="0" y="0"/>
            <a:chExt cx="5689600" cy="7493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89600" cy="749301"/>
            </a:xfrm>
            <a:custGeom>
              <a:avLst/>
              <a:gdLst/>
              <a:ahLst/>
              <a:cxnLst/>
              <a:rect r="r" b="b" t="t" l="l"/>
              <a:pathLst>
                <a:path h="74930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7954" r="0" b="-97954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41000" y="9596247"/>
            <a:ext cx="4806001" cy="547688"/>
            <a:chOff x="0" y="0"/>
            <a:chExt cx="6408001" cy="730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08039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39">
                  <a:moveTo>
                    <a:pt x="0" y="0"/>
                  </a:moveTo>
                  <a:lnTo>
                    <a:pt x="6408039" y="0"/>
                  </a:lnTo>
                  <a:lnTo>
                    <a:pt x="6408039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864" r="0" b="-120862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803" cy="1593532"/>
            <a:chOff x="0" y="0"/>
            <a:chExt cx="4499737" cy="21247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2" r="0" b="-21"/>
              </a:stretch>
            </a:blip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8046" y="378371"/>
            <a:ext cx="1211008" cy="1211008"/>
            <a:chOff x="0" y="0"/>
            <a:chExt cx="1614678" cy="1614678"/>
          </a:xfrm>
        </p:grpSpPr>
        <p:sp>
          <p:nvSpPr>
            <p:cNvPr name="Freeform 19" id="19" descr="logo.png"/>
            <p:cNvSpPr/>
            <p:nvPr/>
          </p:nvSpPr>
          <p:spPr>
            <a:xfrm flipH="false" flipV="false" rot="0">
              <a:off x="0" y="0"/>
              <a:ext cx="1614678" cy="1614678"/>
            </a:xfrm>
            <a:custGeom>
              <a:avLst/>
              <a:gdLst/>
              <a:ahLst/>
              <a:cxnLst/>
              <a:rect r="r" b="b" t="t" l="l"/>
              <a:pathLst>
                <a:path h="1614678" w="1614678">
                  <a:moveTo>
                    <a:pt x="0" y="0"/>
                  </a:moveTo>
                  <a:lnTo>
                    <a:pt x="1614678" y="0"/>
                  </a:lnTo>
                  <a:lnTo>
                    <a:pt x="1614678" y="1614678"/>
                  </a:lnTo>
                  <a:lnTo>
                    <a:pt x="0" y="1614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20" id="20"/>
          <p:cNvGrpSpPr/>
          <p:nvPr/>
        </p:nvGrpSpPr>
        <p:grpSpPr>
          <a:xfrm rot="0">
            <a:off x="493395" y="2185035"/>
            <a:ext cx="2030730" cy="3603117"/>
            <a:chOff x="0" y="0"/>
            <a:chExt cx="2707640" cy="48041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07640" cy="4804156"/>
            </a:xfrm>
            <a:custGeom>
              <a:avLst/>
              <a:gdLst/>
              <a:ahLst/>
              <a:cxnLst/>
              <a:rect r="r" b="b" t="t" l="l"/>
              <a:pathLst>
                <a:path h="4804156" w="2707640">
                  <a:moveTo>
                    <a:pt x="0" y="0"/>
                  </a:moveTo>
                  <a:lnTo>
                    <a:pt x="2707640" y="0"/>
                  </a:lnTo>
                  <a:lnTo>
                    <a:pt x="2707640" y="4804156"/>
                  </a:lnTo>
                  <a:lnTo>
                    <a:pt x="0" y="480415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2" id="22"/>
          <p:cNvGrpSpPr/>
          <p:nvPr/>
        </p:nvGrpSpPr>
        <p:grpSpPr>
          <a:xfrm rot="0">
            <a:off x="3190875" y="2185035"/>
            <a:ext cx="4499610" cy="6126861"/>
            <a:chOff x="0" y="0"/>
            <a:chExt cx="5999480" cy="816914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999480" cy="8169148"/>
            </a:xfrm>
            <a:custGeom>
              <a:avLst/>
              <a:gdLst/>
              <a:ahLst/>
              <a:cxnLst/>
              <a:rect r="r" b="b" t="t" l="l"/>
              <a:pathLst>
                <a:path h="8169148" w="5999480">
                  <a:moveTo>
                    <a:pt x="0" y="0"/>
                  </a:moveTo>
                  <a:lnTo>
                    <a:pt x="5999480" y="0"/>
                  </a:lnTo>
                  <a:lnTo>
                    <a:pt x="5999480" y="8169148"/>
                  </a:lnTo>
                  <a:lnTo>
                    <a:pt x="0" y="8169148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3378517" y="3287078"/>
            <a:ext cx="4124325" cy="667893"/>
            <a:chOff x="0" y="0"/>
            <a:chExt cx="5499100" cy="89052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499100" cy="890524"/>
            </a:xfrm>
            <a:custGeom>
              <a:avLst/>
              <a:gdLst/>
              <a:ahLst/>
              <a:cxnLst/>
              <a:rect r="r" b="b" t="t" l="l"/>
              <a:pathLst>
                <a:path h="890524" w="5499100">
                  <a:moveTo>
                    <a:pt x="0" y="0"/>
                  </a:moveTo>
                  <a:lnTo>
                    <a:pt x="5499100" y="0"/>
                  </a:lnTo>
                  <a:lnTo>
                    <a:pt x="5499100" y="890524"/>
                  </a:lnTo>
                  <a:lnTo>
                    <a:pt x="0" y="89052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3378517" y="4110038"/>
            <a:ext cx="4124325" cy="923925"/>
            <a:chOff x="0" y="0"/>
            <a:chExt cx="5499100" cy="12319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99100" cy="1231900"/>
            </a:xfrm>
            <a:custGeom>
              <a:avLst/>
              <a:gdLst/>
              <a:ahLst/>
              <a:cxnLst/>
              <a:rect r="r" b="b" t="t" l="l"/>
              <a:pathLst>
                <a:path h="1231900" w="5499100">
                  <a:moveTo>
                    <a:pt x="0" y="0"/>
                  </a:moveTo>
                  <a:lnTo>
                    <a:pt x="5499100" y="0"/>
                  </a:lnTo>
                  <a:lnTo>
                    <a:pt x="5499100" y="1231900"/>
                  </a:lnTo>
                  <a:lnTo>
                    <a:pt x="0" y="12319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8" id="28"/>
          <p:cNvGrpSpPr/>
          <p:nvPr/>
        </p:nvGrpSpPr>
        <p:grpSpPr>
          <a:xfrm rot="0">
            <a:off x="3378517" y="5189030"/>
            <a:ext cx="4124325" cy="923925"/>
            <a:chOff x="0" y="0"/>
            <a:chExt cx="5499100" cy="12319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499100" cy="1231900"/>
            </a:xfrm>
            <a:custGeom>
              <a:avLst/>
              <a:gdLst/>
              <a:ahLst/>
              <a:cxnLst/>
              <a:rect r="r" b="b" t="t" l="l"/>
              <a:pathLst>
                <a:path h="1231900" w="5499100">
                  <a:moveTo>
                    <a:pt x="0" y="0"/>
                  </a:moveTo>
                  <a:lnTo>
                    <a:pt x="5499100" y="0"/>
                  </a:lnTo>
                  <a:lnTo>
                    <a:pt x="5499100" y="1231900"/>
                  </a:lnTo>
                  <a:lnTo>
                    <a:pt x="0" y="12319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0" id="30"/>
          <p:cNvGrpSpPr/>
          <p:nvPr/>
        </p:nvGrpSpPr>
        <p:grpSpPr>
          <a:xfrm rot="0">
            <a:off x="3378517" y="6268021"/>
            <a:ext cx="4124325" cy="923925"/>
            <a:chOff x="0" y="0"/>
            <a:chExt cx="5499100" cy="12319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499100" cy="1231900"/>
            </a:xfrm>
            <a:custGeom>
              <a:avLst/>
              <a:gdLst/>
              <a:ahLst/>
              <a:cxnLst/>
              <a:rect r="r" b="b" t="t" l="l"/>
              <a:pathLst>
                <a:path h="1231900" w="5499100">
                  <a:moveTo>
                    <a:pt x="0" y="0"/>
                  </a:moveTo>
                  <a:lnTo>
                    <a:pt x="5499100" y="0"/>
                  </a:lnTo>
                  <a:lnTo>
                    <a:pt x="5499100" y="1231900"/>
                  </a:lnTo>
                  <a:lnTo>
                    <a:pt x="0" y="12319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2" id="32"/>
          <p:cNvGrpSpPr/>
          <p:nvPr/>
        </p:nvGrpSpPr>
        <p:grpSpPr>
          <a:xfrm rot="0">
            <a:off x="3378518" y="7347014"/>
            <a:ext cx="4124325" cy="809435"/>
            <a:chOff x="0" y="0"/>
            <a:chExt cx="5499100" cy="107924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499100" cy="1079246"/>
            </a:xfrm>
            <a:custGeom>
              <a:avLst/>
              <a:gdLst/>
              <a:ahLst/>
              <a:cxnLst/>
              <a:rect r="r" b="b" t="t" l="l"/>
              <a:pathLst>
                <a:path h="1079246" w="5499100">
                  <a:moveTo>
                    <a:pt x="0" y="0"/>
                  </a:moveTo>
                  <a:lnTo>
                    <a:pt x="5499100" y="0"/>
                  </a:lnTo>
                  <a:lnTo>
                    <a:pt x="5499100" y="1079246"/>
                  </a:lnTo>
                  <a:lnTo>
                    <a:pt x="0" y="107924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8357235" y="2185035"/>
            <a:ext cx="5414010" cy="6602730"/>
            <a:chOff x="0" y="0"/>
            <a:chExt cx="7218680" cy="8803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18680" cy="8803640"/>
            </a:xfrm>
            <a:custGeom>
              <a:avLst/>
              <a:gdLst/>
              <a:ahLst/>
              <a:cxnLst/>
              <a:rect r="r" b="b" t="t" l="l"/>
              <a:pathLst>
                <a:path h="8803640" w="7218680">
                  <a:moveTo>
                    <a:pt x="0" y="0"/>
                  </a:moveTo>
                  <a:lnTo>
                    <a:pt x="7218680" y="0"/>
                  </a:lnTo>
                  <a:lnTo>
                    <a:pt x="7218680" y="8803640"/>
                  </a:lnTo>
                  <a:lnTo>
                    <a:pt x="0" y="880364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6" id="36"/>
          <p:cNvGrpSpPr/>
          <p:nvPr/>
        </p:nvGrpSpPr>
        <p:grpSpPr>
          <a:xfrm rot="0">
            <a:off x="8544878" y="3287078"/>
            <a:ext cx="5038725" cy="923925"/>
            <a:chOff x="0" y="0"/>
            <a:chExt cx="6718300" cy="12319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718300" cy="1231900"/>
            </a:xfrm>
            <a:custGeom>
              <a:avLst/>
              <a:gdLst/>
              <a:ahLst/>
              <a:cxnLst/>
              <a:rect r="r" b="b" t="t" l="l"/>
              <a:pathLst>
                <a:path h="1231900" w="6718300">
                  <a:moveTo>
                    <a:pt x="0" y="0"/>
                  </a:moveTo>
                  <a:lnTo>
                    <a:pt x="6718300" y="0"/>
                  </a:lnTo>
                  <a:lnTo>
                    <a:pt x="6718300" y="1231900"/>
                  </a:lnTo>
                  <a:lnTo>
                    <a:pt x="0" y="12319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p/>
          </p:txBody>
        </p:sp>
      </p:grpSp>
      <p:sp>
        <p:nvSpPr>
          <p:cNvPr name="AutoShape 38" id="38"/>
          <p:cNvSpPr/>
          <p:nvPr/>
        </p:nvSpPr>
        <p:spPr>
          <a:xfrm rot="5098380">
            <a:off x="8824817" y="4283774"/>
            <a:ext cx="181166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9" id="39"/>
          <p:cNvGrpSpPr/>
          <p:nvPr/>
        </p:nvGrpSpPr>
        <p:grpSpPr>
          <a:xfrm rot="0">
            <a:off x="8544878" y="4366070"/>
            <a:ext cx="5038725" cy="923925"/>
            <a:chOff x="0" y="0"/>
            <a:chExt cx="6718300" cy="12319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718300" cy="1231900"/>
            </a:xfrm>
            <a:custGeom>
              <a:avLst/>
              <a:gdLst/>
              <a:ahLst/>
              <a:cxnLst/>
              <a:rect r="r" b="b" t="t" l="l"/>
              <a:pathLst>
                <a:path h="1231900" w="6718300">
                  <a:moveTo>
                    <a:pt x="0" y="0"/>
                  </a:moveTo>
                  <a:lnTo>
                    <a:pt x="6718300" y="0"/>
                  </a:lnTo>
                  <a:lnTo>
                    <a:pt x="6718300" y="1231900"/>
                  </a:lnTo>
                  <a:lnTo>
                    <a:pt x="0" y="12319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p/>
          </p:txBody>
        </p:sp>
      </p:grpSp>
      <p:sp>
        <p:nvSpPr>
          <p:cNvPr name="AutoShape 41" id="41"/>
          <p:cNvSpPr/>
          <p:nvPr/>
        </p:nvSpPr>
        <p:spPr>
          <a:xfrm rot="5098380">
            <a:off x="8824817" y="5362766"/>
            <a:ext cx="181166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2" id="42"/>
          <p:cNvGrpSpPr/>
          <p:nvPr/>
        </p:nvGrpSpPr>
        <p:grpSpPr>
          <a:xfrm rot="0">
            <a:off x="8544878" y="5445062"/>
            <a:ext cx="5038725" cy="923925"/>
            <a:chOff x="0" y="0"/>
            <a:chExt cx="6718300" cy="12319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718300" cy="1231900"/>
            </a:xfrm>
            <a:custGeom>
              <a:avLst/>
              <a:gdLst/>
              <a:ahLst/>
              <a:cxnLst/>
              <a:rect r="r" b="b" t="t" l="l"/>
              <a:pathLst>
                <a:path h="1231900" w="6718300">
                  <a:moveTo>
                    <a:pt x="0" y="0"/>
                  </a:moveTo>
                  <a:lnTo>
                    <a:pt x="6718300" y="0"/>
                  </a:lnTo>
                  <a:lnTo>
                    <a:pt x="6718300" y="1231900"/>
                  </a:lnTo>
                  <a:lnTo>
                    <a:pt x="0" y="12319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p/>
          </p:txBody>
        </p:sp>
      </p:grpSp>
      <p:sp>
        <p:nvSpPr>
          <p:cNvPr name="AutoShape 44" id="44"/>
          <p:cNvSpPr/>
          <p:nvPr/>
        </p:nvSpPr>
        <p:spPr>
          <a:xfrm rot="5098380">
            <a:off x="8824817" y="6441758"/>
            <a:ext cx="181166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5" id="45"/>
          <p:cNvGrpSpPr/>
          <p:nvPr/>
        </p:nvGrpSpPr>
        <p:grpSpPr>
          <a:xfrm rot="0">
            <a:off x="8544878" y="6524054"/>
            <a:ext cx="5038725" cy="923925"/>
            <a:chOff x="0" y="0"/>
            <a:chExt cx="6718300" cy="12319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718300" cy="1231900"/>
            </a:xfrm>
            <a:custGeom>
              <a:avLst/>
              <a:gdLst/>
              <a:ahLst/>
              <a:cxnLst/>
              <a:rect r="r" b="b" t="t" l="l"/>
              <a:pathLst>
                <a:path h="1231900" w="6718300">
                  <a:moveTo>
                    <a:pt x="0" y="0"/>
                  </a:moveTo>
                  <a:lnTo>
                    <a:pt x="6718300" y="0"/>
                  </a:lnTo>
                  <a:lnTo>
                    <a:pt x="6718300" y="1231900"/>
                  </a:lnTo>
                  <a:lnTo>
                    <a:pt x="0" y="12319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7" id="47"/>
          <p:cNvGrpSpPr/>
          <p:nvPr/>
        </p:nvGrpSpPr>
        <p:grpSpPr>
          <a:xfrm rot="0">
            <a:off x="8544878" y="7694486"/>
            <a:ext cx="5038725" cy="923925"/>
            <a:chOff x="0" y="0"/>
            <a:chExt cx="6718300" cy="12319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718300" cy="1231900"/>
            </a:xfrm>
            <a:custGeom>
              <a:avLst/>
              <a:gdLst/>
              <a:ahLst/>
              <a:cxnLst/>
              <a:rect r="r" b="b" t="t" l="l"/>
              <a:pathLst>
                <a:path h="1231900" w="6718300">
                  <a:moveTo>
                    <a:pt x="0" y="0"/>
                  </a:moveTo>
                  <a:lnTo>
                    <a:pt x="6718300" y="0"/>
                  </a:lnTo>
                  <a:lnTo>
                    <a:pt x="6718300" y="1231900"/>
                  </a:lnTo>
                  <a:lnTo>
                    <a:pt x="0" y="12319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9" id="49"/>
          <p:cNvGrpSpPr/>
          <p:nvPr/>
        </p:nvGrpSpPr>
        <p:grpSpPr>
          <a:xfrm rot="0">
            <a:off x="14483715" y="2185035"/>
            <a:ext cx="3310890" cy="6602730"/>
            <a:chOff x="0" y="0"/>
            <a:chExt cx="4414520" cy="8803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414520" cy="8803640"/>
            </a:xfrm>
            <a:custGeom>
              <a:avLst/>
              <a:gdLst/>
              <a:ahLst/>
              <a:cxnLst/>
              <a:rect r="r" b="b" t="t" l="l"/>
              <a:pathLst>
                <a:path h="8803640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8803640"/>
                  </a:lnTo>
                  <a:lnTo>
                    <a:pt x="0" y="880364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51" id="51"/>
          <p:cNvGrpSpPr/>
          <p:nvPr/>
        </p:nvGrpSpPr>
        <p:grpSpPr>
          <a:xfrm rot="0">
            <a:off x="14671357" y="3287078"/>
            <a:ext cx="2935605" cy="576453"/>
            <a:chOff x="0" y="0"/>
            <a:chExt cx="3914140" cy="76860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914140" cy="768604"/>
            </a:xfrm>
            <a:custGeom>
              <a:avLst/>
              <a:gdLst/>
              <a:ahLst/>
              <a:cxnLst/>
              <a:rect r="r" b="b" t="t" l="l"/>
              <a:pathLst>
                <a:path h="768604" w="3914140">
                  <a:moveTo>
                    <a:pt x="0" y="0"/>
                  </a:moveTo>
                  <a:lnTo>
                    <a:pt x="3914140" y="0"/>
                  </a:lnTo>
                  <a:lnTo>
                    <a:pt x="3914140" y="768604"/>
                  </a:lnTo>
                  <a:lnTo>
                    <a:pt x="0" y="76860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53" id="53"/>
          <p:cNvGrpSpPr/>
          <p:nvPr/>
        </p:nvGrpSpPr>
        <p:grpSpPr>
          <a:xfrm rot="0">
            <a:off x="14671357" y="3945446"/>
            <a:ext cx="2935605" cy="576453"/>
            <a:chOff x="0" y="0"/>
            <a:chExt cx="3914140" cy="76860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14140" cy="768604"/>
            </a:xfrm>
            <a:custGeom>
              <a:avLst/>
              <a:gdLst/>
              <a:ahLst/>
              <a:cxnLst/>
              <a:rect r="r" b="b" t="t" l="l"/>
              <a:pathLst>
                <a:path h="768604" w="3914140">
                  <a:moveTo>
                    <a:pt x="0" y="0"/>
                  </a:moveTo>
                  <a:lnTo>
                    <a:pt x="3914140" y="0"/>
                  </a:lnTo>
                  <a:lnTo>
                    <a:pt x="3914140" y="768604"/>
                  </a:lnTo>
                  <a:lnTo>
                    <a:pt x="0" y="76860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55" id="55"/>
          <p:cNvGrpSpPr/>
          <p:nvPr/>
        </p:nvGrpSpPr>
        <p:grpSpPr>
          <a:xfrm rot="0">
            <a:off x="14671357" y="4603814"/>
            <a:ext cx="2935605" cy="576453"/>
            <a:chOff x="0" y="0"/>
            <a:chExt cx="3914140" cy="76860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914140" cy="768604"/>
            </a:xfrm>
            <a:custGeom>
              <a:avLst/>
              <a:gdLst/>
              <a:ahLst/>
              <a:cxnLst/>
              <a:rect r="r" b="b" t="t" l="l"/>
              <a:pathLst>
                <a:path h="768604" w="3914140">
                  <a:moveTo>
                    <a:pt x="0" y="0"/>
                  </a:moveTo>
                  <a:lnTo>
                    <a:pt x="3914140" y="0"/>
                  </a:lnTo>
                  <a:lnTo>
                    <a:pt x="3914140" y="768604"/>
                  </a:lnTo>
                  <a:lnTo>
                    <a:pt x="0" y="76860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57" id="57"/>
          <p:cNvGrpSpPr/>
          <p:nvPr/>
        </p:nvGrpSpPr>
        <p:grpSpPr>
          <a:xfrm rot="0">
            <a:off x="14671357" y="5262182"/>
            <a:ext cx="2935605" cy="576453"/>
            <a:chOff x="0" y="0"/>
            <a:chExt cx="3914140" cy="76860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914140" cy="768604"/>
            </a:xfrm>
            <a:custGeom>
              <a:avLst/>
              <a:gdLst/>
              <a:ahLst/>
              <a:cxnLst/>
              <a:rect r="r" b="b" t="t" l="l"/>
              <a:pathLst>
                <a:path h="768604" w="3914140">
                  <a:moveTo>
                    <a:pt x="0" y="0"/>
                  </a:moveTo>
                  <a:lnTo>
                    <a:pt x="3914140" y="0"/>
                  </a:lnTo>
                  <a:lnTo>
                    <a:pt x="3914140" y="768604"/>
                  </a:lnTo>
                  <a:lnTo>
                    <a:pt x="0" y="76860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59" id="59"/>
          <p:cNvGrpSpPr/>
          <p:nvPr/>
        </p:nvGrpSpPr>
        <p:grpSpPr>
          <a:xfrm rot="0">
            <a:off x="14671357" y="5920550"/>
            <a:ext cx="2935605" cy="576453"/>
            <a:chOff x="0" y="0"/>
            <a:chExt cx="3914140" cy="76860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914140" cy="768604"/>
            </a:xfrm>
            <a:custGeom>
              <a:avLst/>
              <a:gdLst/>
              <a:ahLst/>
              <a:cxnLst/>
              <a:rect r="r" b="b" t="t" l="l"/>
              <a:pathLst>
                <a:path h="768604" w="3914140">
                  <a:moveTo>
                    <a:pt x="0" y="0"/>
                  </a:moveTo>
                  <a:lnTo>
                    <a:pt x="3914140" y="0"/>
                  </a:lnTo>
                  <a:lnTo>
                    <a:pt x="3914140" y="768604"/>
                  </a:lnTo>
                  <a:lnTo>
                    <a:pt x="0" y="76860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61" id="61"/>
          <p:cNvGrpSpPr/>
          <p:nvPr/>
        </p:nvGrpSpPr>
        <p:grpSpPr>
          <a:xfrm rot="0">
            <a:off x="14671357" y="7694486"/>
            <a:ext cx="2935605" cy="923925"/>
            <a:chOff x="0" y="0"/>
            <a:chExt cx="3914140" cy="12319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914140" cy="1231900"/>
            </a:xfrm>
            <a:custGeom>
              <a:avLst/>
              <a:gdLst/>
              <a:ahLst/>
              <a:cxnLst/>
              <a:rect r="r" b="b" t="t" l="l"/>
              <a:pathLst>
                <a:path h="1231900" w="3914140">
                  <a:moveTo>
                    <a:pt x="0" y="0"/>
                  </a:moveTo>
                  <a:lnTo>
                    <a:pt x="3914140" y="0"/>
                  </a:lnTo>
                  <a:lnTo>
                    <a:pt x="3914140" y="1231900"/>
                  </a:lnTo>
                  <a:lnTo>
                    <a:pt x="0" y="12319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p/>
          </p:txBody>
        </p:sp>
      </p:grpSp>
      <p:sp>
        <p:nvSpPr>
          <p:cNvPr name="AutoShape 63" id="63"/>
          <p:cNvSpPr/>
          <p:nvPr/>
        </p:nvSpPr>
        <p:spPr>
          <a:xfrm rot="77760">
            <a:off x="2506570" y="5207318"/>
            <a:ext cx="701859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4" id="64"/>
          <p:cNvGrpSpPr/>
          <p:nvPr/>
        </p:nvGrpSpPr>
        <p:grpSpPr>
          <a:xfrm rot="0">
            <a:off x="2423160" y="4828032"/>
            <a:ext cx="868680" cy="347472"/>
            <a:chOff x="0" y="0"/>
            <a:chExt cx="1158240" cy="46329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58240" cy="463296"/>
            </a:xfrm>
            <a:custGeom>
              <a:avLst/>
              <a:gdLst/>
              <a:ahLst/>
              <a:cxnLst/>
              <a:rect r="r" b="b" t="t" l="l"/>
              <a:pathLst>
                <a:path h="463296" w="1158240">
                  <a:moveTo>
                    <a:pt x="0" y="0"/>
                  </a:moveTo>
                  <a:lnTo>
                    <a:pt x="1158240" y="0"/>
                  </a:lnTo>
                  <a:lnTo>
                    <a:pt x="1158240" y="463296"/>
                  </a:lnTo>
                  <a:lnTo>
                    <a:pt x="0" y="4632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21" t="0" r="-1321" b="0"/>
              </a:stretch>
            </a:blipFill>
          </p:spPr>
          <p:txBody>
            <a:bodyPr/>
            <a:p/>
          </p:txBody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1158240" cy="46329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199"/>
                </a:lnSpc>
              </a:pPr>
              <a:r>
                <a:rPr lang="en-US" sz="9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uses</a:t>
              </a:r>
            </a:p>
          </p:txBody>
        </p:sp>
      </p:grpSp>
      <p:sp>
        <p:nvSpPr>
          <p:cNvPr name="AutoShape 67" id="67"/>
          <p:cNvSpPr/>
          <p:nvPr/>
        </p:nvSpPr>
        <p:spPr>
          <a:xfrm rot="77760">
            <a:off x="7672930" y="5207318"/>
            <a:ext cx="701859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triangle" len="med" w="lg"/>
            <a:tailEnd type="triangle" len="med" w="lg"/>
          </a:ln>
        </p:spPr>
      </p:sp>
      <p:grpSp>
        <p:nvGrpSpPr>
          <p:cNvPr name="Group 68" id="68"/>
          <p:cNvGrpSpPr/>
          <p:nvPr/>
        </p:nvGrpSpPr>
        <p:grpSpPr>
          <a:xfrm rot="0">
            <a:off x="7589520" y="4828032"/>
            <a:ext cx="868680" cy="347472"/>
            <a:chOff x="0" y="0"/>
            <a:chExt cx="1158240" cy="46329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158240" cy="463296"/>
            </a:xfrm>
            <a:custGeom>
              <a:avLst/>
              <a:gdLst/>
              <a:ahLst/>
              <a:cxnLst/>
              <a:rect r="r" b="b" t="t" l="l"/>
              <a:pathLst>
                <a:path h="463296" w="1158240">
                  <a:moveTo>
                    <a:pt x="0" y="0"/>
                  </a:moveTo>
                  <a:lnTo>
                    <a:pt x="1158240" y="0"/>
                  </a:lnTo>
                  <a:lnTo>
                    <a:pt x="1158240" y="463296"/>
                  </a:lnTo>
                  <a:lnTo>
                    <a:pt x="0" y="4632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21" t="0" r="-1321" b="0"/>
              </a:stretch>
            </a:blipFill>
          </p:spPr>
          <p:txBody>
            <a:bodyPr/>
            <a:p/>
          </p:txBody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1158240" cy="46329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199"/>
                </a:lnSpc>
              </a:pPr>
              <a:r>
                <a:rPr lang="en-US" sz="9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request</a:t>
              </a:r>
            </a:p>
          </p:txBody>
        </p:sp>
      </p:grpSp>
      <p:sp>
        <p:nvSpPr>
          <p:cNvPr name="AutoShape 71" id="71"/>
          <p:cNvSpPr/>
          <p:nvPr/>
        </p:nvSpPr>
        <p:spPr>
          <a:xfrm rot="73020">
            <a:off x="13753700" y="3744278"/>
            <a:ext cx="747560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triangle" len="med" w="lg"/>
            <a:tailEnd type="triangle" len="med" w="lg"/>
          </a:ln>
        </p:spPr>
      </p:sp>
      <p:grpSp>
        <p:nvGrpSpPr>
          <p:cNvPr name="Group 72" id="72"/>
          <p:cNvGrpSpPr/>
          <p:nvPr/>
        </p:nvGrpSpPr>
        <p:grpSpPr>
          <a:xfrm rot="0">
            <a:off x="13670280" y="3364992"/>
            <a:ext cx="914400" cy="347472"/>
            <a:chOff x="0" y="0"/>
            <a:chExt cx="1219200" cy="46329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219199" cy="463296"/>
            </a:xfrm>
            <a:custGeom>
              <a:avLst/>
              <a:gdLst/>
              <a:ahLst/>
              <a:cxnLst/>
              <a:rect r="r" b="b" t="t" l="l"/>
              <a:pathLst>
                <a:path h="463296" w="1219199">
                  <a:moveTo>
                    <a:pt x="0" y="0"/>
                  </a:moveTo>
                  <a:lnTo>
                    <a:pt x="1219199" y="0"/>
                  </a:lnTo>
                  <a:lnTo>
                    <a:pt x="1219199" y="463296"/>
                  </a:lnTo>
                  <a:lnTo>
                    <a:pt x="0" y="4632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76" r="0" b="-1276"/>
              </a:stretch>
            </a:blipFill>
          </p:spPr>
          <p:txBody>
            <a:bodyPr/>
            <a:p/>
          </p:txBody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1219200" cy="46329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199"/>
                </a:lnSpc>
              </a:pPr>
              <a:r>
                <a:rPr lang="en-US" sz="9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box only</a:t>
              </a:r>
            </a:p>
          </p:txBody>
        </p:sp>
      </p:grpSp>
      <p:sp>
        <p:nvSpPr>
          <p:cNvPr name="AutoShape 75" id="75"/>
          <p:cNvSpPr/>
          <p:nvPr/>
        </p:nvSpPr>
        <p:spPr>
          <a:xfrm rot="73020">
            <a:off x="13753700" y="8151686"/>
            <a:ext cx="747560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triangle" len="med" w="lg"/>
            <a:tailEnd type="triangle" len="med" w="lg"/>
          </a:ln>
        </p:spPr>
      </p:sp>
      <p:grpSp>
        <p:nvGrpSpPr>
          <p:cNvPr name="Group 76" id="76"/>
          <p:cNvGrpSpPr/>
          <p:nvPr/>
        </p:nvGrpSpPr>
        <p:grpSpPr>
          <a:xfrm rot="0">
            <a:off x="13670280" y="7772400"/>
            <a:ext cx="914400" cy="347472"/>
            <a:chOff x="0" y="0"/>
            <a:chExt cx="1219200" cy="46329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219199" cy="463296"/>
            </a:xfrm>
            <a:custGeom>
              <a:avLst/>
              <a:gdLst/>
              <a:ahLst/>
              <a:cxnLst/>
              <a:rect r="r" b="b" t="t" l="l"/>
              <a:pathLst>
                <a:path h="463296" w="1219199">
                  <a:moveTo>
                    <a:pt x="0" y="0"/>
                  </a:moveTo>
                  <a:lnTo>
                    <a:pt x="1219199" y="0"/>
                  </a:lnTo>
                  <a:lnTo>
                    <a:pt x="1219199" y="463296"/>
                  </a:lnTo>
                  <a:lnTo>
                    <a:pt x="0" y="4632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76" r="0" b="-1276"/>
              </a:stretch>
            </a:blipFill>
          </p:spPr>
          <p:txBody>
            <a:bodyPr/>
            <a:p/>
          </p:txBody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1219200" cy="46329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199"/>
                </a:lnSpc>
              </a:pPr>
              <a:r>
                <a:rPr lang="en-US" sz="9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questions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502920" y="8942832"/>
            <a:ext cx="17282160" cy="320040"/>
            <a:chOff x="0" y="0"/>
            <a:chExt cx="23042880" cy="4267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3042880" cy="426720"/>
            </a:xfrm>
            <a:custGeom>
              <a:avLst/>
              <a:gdLst/>
              <a:ahLst/>
              <a:cxnLst/>
              <a:rect r="r" b="b" t="t" l="l"/>
              <a:pathLst>
                <a:path h="426720" w="23042880">
                  <a:moveTo>
                    <a:pt x="0" y="0"/>
                  </a:moveTo>
                  <a:lnTo>
                    <a:pt x="23042880" y="0"/>
                  </a:lnTo>
                  <a:lnTo>
                    <a:pt x="23042880" y="426720"/>
                  </a:lnTo>
                  <a:lnTo>
                    <a:pt x="0" y="426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02192" r="0" b="-1002192"/>
              </a:stretch>
            </a:blipFill>
          </p:spPr>
          <p:txBody>
            <a:bodyPr/>
            <a:p/>
          </p:txBody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23042880" cy="445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59"/>
                </a:lnSpc>
              </a:pPr>
              <a:r>
                <a:rPr lang="en-US" sz="1299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What is calculated at each position:   </a:t>
              </a:r>
              <a:r>
                <a:rPr lang="en-US" sz="12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Longitude, latitude → where it sits on the globe      Depth → how far down (can be stretched)      Value → its colour on the colour bar</a:t>
              </a:r>
            </a:p>
          </p:txBody>
        </p:sp>
      </p:grpSp>
      <p:sp>
        <p:nvSpPr>
          <p:cNvPr name="Freeform 82" id="82"/>
          <p:cNvSpPr/>
          <p:nvPr/>
        </p:nvSpPr>
        <p:spPr>
          <a:xfrm flipH="false" flipV="false" rot="0">
            <a:off x="2120778" y="2246473"/>
            <a:ext cx="302382" cy="339755"/>
          </a:xfrm>
          <a:custGeom>
            <a:avLst/>
            <a:gdLst/>
            <a:ahLst/>
            <a:cxnLst/>
            <a:rect r="r" b="b" t="t" l="l"/>
            <a:pathLst>
              <a:path h="339755" w="302382">
                <a:moveTo>
                  <a:pt x="0" y="0"/>
                </a:moveTo>
                <a:lnTo>
                  <a:pt x="302382" y="0"/>
                </a:lnTo>
                <a:lnTo>
                  <a:pt x="302382" y="339755"/>
                </a:lnTo>
                <a:lnTo>
                  <a:pt x="0" y="3397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0">
            <a:off x="11463465" y="2372036"/>
            <a:ext cx="747891" cy="747891"/>
          </a:xfrm>
          <a:custGeom>
            <a:avLst/>
            <a:gdLst/>
            <a:ahLst/>
            <a:cxnLst/>
            <a:rect r="r" b="b" t="t" l="l"/>
            <a:pathLst>
              <a:path h="747891" w="747891">
                <a:moveTo>
                  <a:pt x="0" y="0"/>
                </a:moveTo>
                <a:lnTo>
                  <a:pt x="747891" y="0"/>
                </a:lnTo>
                <a:lnTo>
                  <a:pt x="747891" y="747891"/>
                </a:lnTo>
                <a:lnTo>
                  <a:pt x="0" y="74789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84" id="84"/>
          <p:cNvSpPr/>
          <p:nvPr/>
        </p:nvSpPr>
        <p:spPr>
          <a:xfrm flipH="false" flipV="false" rot="0">
            <a:off x="6962865" y="2272755"/>
            <a:ext cx="626655" cy="626655"/>
          </a:xfrm>
          <a:custGeom>
            <a:avLst/>
            <a:gdLst/>
            <a:ahLst/>
            <a:cxnLst/>
            <a:rect r="r" b="b" t="t" l="l"/>
            <a:pathLst>
              <a:path h="626655" w="626655">
                <a:moveTo>
                  <a:pt x="0" y="0"/>
                </a:moveTo>
                <a:lnTo>
                  <a:pt x="626655" y="0"/>
                </a:lnTo>
                <a:lnTo>
                  <a:pt x="626655" y="626655"/>
                </a:lnTo>
                <a:lnTo>
                  <a:pt x="0" y="62665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5" id="85"/>
          <p:cNvSpPr/>
          <p:nvPr/>
        </p:nvSpPr>
        <p:spPr>
          <a:xfrm flipH="false" flipV="false" rot="0">
            <a:off x="12513745" y="2339162"/>
            <a:ext cx="763695" cy="795516"/>
          </a:xfrm>
          <a:custGeom>
            <a:avLst/>
            <a:gdLst/>
            <a:ahLst/>
            <a:cxnLst/>
            <a:rect r="r" b="b" t="t" l="l"/>
            <a:pathLst>
              <a:path h="795516" w="763695">
                <a:moveTo>
                  <a:pt x="0" y="0"/>
                </a:moveTo>
                <a:lnTo>
                  <a:pt x="763695" y="0"/>
                </a:lnTo>
                <a:lnTo>
                  <a:pt x="763695" y="795515"/>
                </a:lnTo>
                <a:lnTo>
                  <a:pt x="0" y="7955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6" id="86"/>
          <p:cNvSpPr/>
          <p:nvPr/>
        </p:nvSpPr>
        <p:spPr>
          <a:xfrm flipH="false" flipV="false" rot="0">
            <a:off x="17100346" y="2283365"/>
            <a:ext cx="546508" cy="803688"/>
          </a:xfrm>
          <a:custGeom>
            <a:avLst/>
            <a:gdLst/>
            <a:ahLst/>
            <a:cxnLst/>
            <a:rect r="r" b="b" t="t" l="l"/>
            <a:pathLst>
              <a:path h="803688" w="546508">
                <a:moveTo>
                  <a:pt x="0" y="0"/>
                </a:moveTo>
                <a:lnTo>
                  <a:pt x="546508" y="0"/>
                </a:lnTo>
                <a:lnTo>
                  <a:pt x="546508" y="803687"/>
                </a:lnTo>
                <a:lnTo>
                  <a:pt x="0" y="80368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7" id="87"/>
          <p:cNvSpPr/>
          <p:nvPr/>
        </p:nvSpPr>
        <p:spPr>
          <a:xfrm flipH="false" flipV="false" rot="0">
            <a:off x="6041502" y="2272755"/>
            <a:ext cx="768963" cy="626655"/>
          </a:xfrm>
          <a:custGeom>
            <a:avLst/>
            <a:gdLst/>
            <a:ahLst/>
            <a:cxnLst/>
            <a:rect r="r" b="b" t="t" l="l"/>
            <a:pathLst>
              <a:path h="626655" w="768963">
                <a:moveTo>
                  <a:pt x="0" y="0"/>
                </a:moveTo>
                <a:lnTo>
                  <a:pt x="768963" y="0"/>
                </a:lnTo>
                <a:lnTo>
                  <a:pt x="768963" y="626655"/>
                </a:lnTo>
                <a:lnTo>
                  <a:pt x="0" y="62665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8" id="88"/>
          <p:cNvSpPr txBox="true"/>
          <p:nvPr/>
        </p:nvSpPr>
        <p:spPr>
          <a:xfrm rot="0">
            <a:off x="493395" y="1699260"/>
            <a:ext cx="1728216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Software architecture: three layers, end to end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685800" y="2312670"/>
            <a:ext cx="164592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User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685800" y="2605278"/>
            <a:ext cx="164592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scientist, forecaster, fisheries officer or student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685800" y="3364230"/>
            <a:ext cx="1645920" cy="3676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Draws a box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the map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Picks a day and a variable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1993 up to the forecast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Clicks a float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see its readings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Asks the assistant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plain words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3383280" y="2312670"/>
            <a:ext cx="41148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1. Presentation layer: website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3383280" y="2605278"/>
            <a:ext cx="41148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runs in the browser, hosted on Vercel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3383280" y="2861310"/>
            <a:ext cx="41148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Tech: </a:t>
            </a: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TypeScript, Vite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3520440" y="3364230"/>
            <a:ext cx="384048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Controls and timeline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3520440" y="3638550"/>
            <a:ext cx="384048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box, day, variable, colour bar, depth stretch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3520440" y="4187190"/>
            <a:ext cx="384048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3D cube on the globe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3520440" y="4461510"/>
            <a:ext cx="384048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cells coloured by value; floats as upright lines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3520440" y="4708398"/>
            <a:ext cx="384048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Tech: 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CesiumJS, WebGL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3520440" y="5266182"/>
            <a:ext cx="384048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Float profile chart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3520440" y="5540502"/>
            <a:ext cx="384048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a float's readings next to the model's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3520440" y="5787390"/>
            <a:ext cx="384048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Tech: 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Canvas 2D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3520440" y="6345174"/>
            <a:ext cx="384048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Currents and winds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3520440" y="6619494"/>
            <a:ext cx="384048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moving particles drawn over the map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3520440" y="6866382"/>
            <a:ext cx="384048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Tech: 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Canvas 2D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3520440" y="7424166"/>
            <a:ext cx="384048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Assistant chat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3520440" y="7698486"/>
            <a:ext cx="384048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ask in plain words; it can control panel properties and interact</a:t>
            </a:r>
          </a:p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with the viewer. 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8549640" y="2312670"/>
            <a:ext cx="50292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2. Application layer: server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8549640" y="2605278"/>
            <a:ext cx="256542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Python API, on Render or run locally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8549640" y="2861310"/>
            <a:ext cx="2405439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Tech: </a:t>
            </a: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Python, FastAPI, Uvicorn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8686800" y="3364230"/>
            <a:ext cx="475488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Step 1: fetch only the chosen box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8686800" y="3638550"/>
            <a:ext cx="475488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never the whole ocean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8686800" y="3885438"/>
            <a:ext cx="475488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Tech: 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Copernicus Marine toolbox, Requests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8686800" y="4443222"/>
            <a:ext cx="475488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Step 2: save a copy on disk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8686800" y="4717542"/>
            <a:ext cx="475488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the same view opens instantly next time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8686800" y="4964430"/>
            <a:ext cx="475488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Tech: 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disk cache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8686800" y="5522214"/>
            <a:ext cx="475488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Step 3: check quality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8686800" y="5796534"/>
            <a:ext cx="475488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hide impossible values; keep each float's QC flag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8686800" y="6043422"/>
            <a:ext cx="475488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Tech: 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Argo QC rules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8686800" y="6601206"/>
            <a:ext cx="475488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Step 4: build the 3D block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8686800" y="6875526"/>
            <a:ext cx="475488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only the model's real depths; adds density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8686800" y="7122414"/>
            <a:ext cx="475488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Tech: 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xarray, NumPy, SciPy, GSW (seawater)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8686800" y="7771638"/>
            <a:ext cx="475488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AI assistant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8686800" y="8045958"/>
            <a:ext cx="475488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it can only call our own API, so it sees what the user sees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8686800" y="8292846"/>
            <a:ext cx="475488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Tech: 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 calling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14676120" y="2312670"/>
            <a:ext cx="292608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3. Data layer (API’s)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14676120" y="2605278"/>
            <a:ext cx="292608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public sources, read over the internet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14813280" y="3336798"/>
            <a:ext cx="27432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Copernicus Marine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ocean model, 1993 to forecast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14813280" y="3995166"/>
            <a:ext cx="27432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INCOIS</a:t>
            </a:r>
          </a:p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Bay of Bengal analysis, fishing advisories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14813280" y="4653534"/>
            <a:ext cx="27432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Ifremer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Argo floats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14813280" y="5311902"/>
            <a:ext cx="27432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IOOS</a:t>
            </a:r>
          </a:p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ocean gliders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14813280" y="5970270"/>
            <a:ext cx="27432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NOAA</a:t>
            </a:r>
          </a:p>
          <a:p>
            <a:pPr algn="l">
              <a:lnSpc>
                <a:spcPts val="1679"/>
              </a:lnSpc>
            </a:pPr>
            <a:r>
              <a:rPr lang="en-US" sz="1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wind forecast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14813280" y="7789926"/>
            <a:ext cx="2743200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Open-source AI model</a:t>
            </a:r>
          </a:p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Llama 3.1 on Ollama</a:t>
            </a:r>
          </a:p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free, no API cost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7589520" y="5266944"/>
            <a:ext cx="86868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"/>
              </a:lnSpc>
            </a:pPr>
            <a:r>
              <a:rPr lang="en-US" sz="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3D data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281632" y="5995067"/>
            <a:ext cx="2454255" cy="693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1"/>
              </a:lnSpc>
            </a:pPr>
            <a:r>
              <a:rPr lang="en-US" sz="1425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Only the site link is needed to access the viewer. </a:t>
            </a:r>
          </a:p>
          <a:p>
            <a:pPr algn="ctr">
              <a:lnSpc>
                <a:spcPts val="1871"/>
              </a:lnSpc>
              <a:spcBef>
                <a:spcPct val="0"/>
              </a:spcBef>
            </a:pPr>
            <a:r>
              <a:rPr lang="en-US" b="true" sz="142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And it works multiplatform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000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Team Null · K26125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  <p:txBody>
            <a:bodyPr/>
            <a:p/>
          </p:txBody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8046" y="378371"/>
            <a:ext cx="1210999" cy="1210999"/>
            <a:chOff x="0" y="0"/>
            <a:chExt cx="1614665" cy="1614665"/>
          </a:xfrm>
        </p:grpSpPr>
        <p:sp>
          <p:nvSpPr>
            <p:cNvPr name="Freeform 13" id="13" descr="logo.png"/>
            <p:cNvSpPr/>
            <p:nvPr/>
          </p:nvSpPr>
          <p:spPr>
            <a:xfrm flipH="false" flipV="false" rot="0">
              <a:off x="0" y="0"/>
              <a:ext cx="1614678" cy="1614678"/>
            </a:xfrm>
            <a:custGeom>
              <a:avLst/>
              <a:gdLst/>
              <a:ahLst/>
              <a:cxnLst/>
              <a:rect r="r" b="b" t="t" l="l"/>
              <a:pathLst>
                <a:path h="1614678" w="1614678">
                  <a:moveTo>
                    <a:pt x="0" y="0"/>
                  </a:moveTo>
                  <a:lnTo>
                    <a:pt x="1614678" y="0"/>
                  </a:lnTo>
                  <a:lnTo>
                    <a:pt x="1614678" y="1614678"/>
                  </a:lnTo>
                  <a:lnTo>
                    <a:pt x="0" y="1614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14" id="14"/>
          <p:cNvSpPr txBox="true"/>
          <p:nvPr/>
        </p:nvSpPr>
        <p:spPr>
          <a:xfrm rot="0">
            <a:off x="502920" y="1827914"/>
            <a:ext cx="17800625" cy="276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5"/>
              </a:lnSpc>
            </a:pPr>
            <a:r>
              <a:rPr lang="en-US" sz="1575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ANALYSIS OF FEASIBILITY: MEASURED BY A TEST RUN 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02920" y="2284714"/>
            <a:ext cx="4114800" cy="27432"/>
            <a:chOff x="0" y="0"/>
            <a:chExt cx="5486400" cy="365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86400" cy="36576"/>
            </a:xfrm>
            <a:custGeom>
              <a:avLst/>
              <a:gdLst/>
              <a:ahLst/>
              <a:cxnLst/>
              <a:rect r="r" b="b" t="t" l="l"/>
              <a:pathLst>
                <a:path h="3657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p/>
          </p:txBody>
        </p:sp>
      </p:grpSp>
      <p:sp>
        <p:nvSpPr>
          <p:cNvPr name="TextBox 17" id="17"/>
          <p:cNvSpPr txBox="true"/>
          <p:nvPr/>
        </p:nvSpPr>
        <p:spPr>
          <a:xfrm rot="0">
            <a:off x="502920" y="2402824"/>
            <a:ext cx="4238244" cy="364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6"/>
              </a:lnSpc>
            </a:pPr>
            <a:r>
              <a:rPr lang="en-US" sz="3150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23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02920" y="2776204"/>
            <a:ext cx="4238244" cy="44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variables to 2026-10-04, forecast days labelled; 17 of them every day from 1993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892040" y="2284714"/>
            <a:ext cx="4114800" cy="27432"/>
            <a:chOff x="0" y="0"/>
            <a:chExt cx="5486400" cy="3657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86400" cy="36576"/>
            </a:xfrm>
            <a:custGeom>
              <a:avLst/>
              <a:gdLst/>
              <a:ahLst/>
              <a:cxnLst/>
              <a:rect r="r" b="b" t="t" l="l"/>
              <a:pathLst>
                <a:path h="3657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p/>
          </p:txBody>
        </p:sp>
      </p:grpSp>
      <p:sp>
        <p:nvSpPr>
          <p:cNvPr name="TextBox 21" id="21"/>
          <p:cNvSpPr txBox="true"/>
          <p:nvPr/>
        </p:nvSpPr>
        <p:spPr>
          <a:xfrm rot="0">
            <a:off x="4892040" y="2402824"/>
            <a:ext cx="4238244" cy="364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6"/>
              </a:lnSpc>
            </a:pPr>
            <a:r>
              <a:rPr lang="en-US" sz="3150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0.08 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892040" y="2776204"/>
            <a:ext cx="4238244" cy="44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to open the Amphan cube from the disk cache (1.15 MB to the browser)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281160" y="2284714"/>
            <a:ext cx="4114800" cy="27432"/>
            <a:chOff x="0" y="0"/>
            <a:chExt cx="5486400" cy="3657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86400" cy="36576"/>
            </a:xfrm>
            <a:custGeom>
              <a:avLst/>
              <a:gdLst/>
              <a:ahLst/>
              <a:cxnLst/>
              <a:rect r="r" b="b" t="t" l="l"/>
              <a:pathLst>
                <a:path h="3657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p/>
          </p:txBody>
        </p:sp>
      </p:grpSp>
      <p:sp>
        <p:nvSpPr>
          <p:cNvPr name="TextBox 25" id="25"/>
          <p:cNvSpPr txBox="true"/>
          <p:nvPr/>
        </p:nvSpPr>
        <p:spPr>
          <a:xfrm rot="0">
            <a:off x="9281160" y="2402824"/>
            <a:ext cx="4238244" cy="364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6"/>
              </a:lnSpc>
            </a:pPr>
            <a:r>
              <a:rPr lang="en-US" sz="3150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639 MB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281160" y="2776204"/>
            <a:ext cx="4238244" cy="44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peak memory over a full cold session: 97 of 97 requests answered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3670280" y="2284714"/>
            <a:ext cx="4114800" cy="27432"/>
            <a:chOff x="0" y="0"/>
            <a:chExt cx="5486400" cy="3657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486400" cy="36576"/>
            </a:xfrm>
            <a:custGeom>
              <a:avLst/>
              <a:gdLst/>
              <a:ahLst/>
              <a:cxnLst/>
              <a:rect r="r" b="b" t="t" l="l"/>
              <a:pathLst>
                <a:path h="3657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p/>
          </p:txBody>
        </p:sp>
      </p:grpSp>
      <p:sp>
        <p:nvSpPr>
          <p:cNvPr name="TextBox 29" id="29"/>
          <p:cNvSpPr txBox="true"/>
          <p:nvPr/>
        </p:nvSpPr>
        <p:spPr>
          <a:xfrm rot="0">
            <a:off x="13670280" y="2402824"/>
            <a:ext cx="4238244" cy="364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6"/>
              </a:lnSpc>
            </a:pPr>
            <a:r>
              <a:rPr lang="en-US" sz="3150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29 + 98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670280" y="2776204"/>
            <a:ext cx="4238244" cy="44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Argo profiles and glider casts co-located with the INCOIS model, level by level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02920" y="3320024"/>
            <a:ext cx="8947404" cy="242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7"/>
              </a:lnSpc>
            </a:pPr>
            <a:r>
              <a:rPr lang="en-US" sz="1350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WHAT THE PLATFORM FOUND: INCOIS MODEL ERROR BY DEPTH</a:t>
            </a:r>
          </a:p>
        </p:txBody>
      </p:sp>
      <p:sp>
        <p:nvSpPr>
          <p:cNvPr name="AutoShape 32" id="32"/>
          <p:cNvSpPr/>
          <p:nvPr/>
        </p:nvSpPr>
        <p:spPr>
          <a:xfrm rot="3780">
            <a:off x="909828" y="7946660"/>
            <a:ext cx="8284474" cy="0"/>
          </a:xfrm>
          <a:prstGeom prst="line">
            <a:avLst/>
          </a:prstGeom>
          <a:ln cap="rnd" w="9525">
            <a:solidFill>
              <a:srgbClr val="D5DC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3" id="33"/>
          <p:cNvSpPr txBox="true"/>
          <p:nvPr/>
        </p:nvSpPr>
        <p:spPr>
          <a:xfrm rot="0">
            <a:off x="571852" y="7845504"/>
            <a:ext cx="269386" cy="192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7A859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name="AutoShape 34" id="34"/>
          <p:cNvSpPr/>
          <p:nvPr/>
        </p:nvSpPr>
        <p:spPr>
          <a:xfrm rot="3780">
            <a:off x="909828" y="6569116"/>
            <a:ext cx="8284474" cy="0"/>
          </a:xfrm>
          <a:prstGeom prst="line">
            <a:avLst/>
          </a:prstGeom>
          <a:ln cap="rnd" w="9525">
            <a:solidFill>
              <a:srgbClr val="D5DC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5" id="35"/>
          <p:cNvSpPr txBox="true"/>
          <p:nvPr/>
        </p:nvSpPr>
        <p:spPr>
          <a:xfrm rot="0">
            <a:off x="571852" y="6467961"/>
            <a:ext cx="269386" cy="192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7A859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name="AutoShape 36" id="36"/>
          <p:cNvSpPr/>
          <p:nvPr/>
        </p:nvSpPr>
        <p:spPr>
          <a:xfrm rot="3780">
            <a:off x="909828" y="5191582"/>
            <a:ext cx="8284474" cy="0"/>
          </a:xfrm>
          <a:prstGeom prst="line">
            <a:avLst/>
          </a:prstGeom>
          <a:ln cap="rnd" w="9525">
            <a:solidFill>
              <a:srgbClr val="D5DC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7" id="37"/>
          <p:cNvSpPr txBox="true"/>
          <p:nvPr/>
        </p:nvSpPr>
        <p:spPr>
          <a:xfrm rot="0">
            <a:off x="571852" y="5090427"/>
            <a:ext cx="269386" cy="192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7A859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298448" y="6221101"/>
            <a:ext cx="877824" cy="1730321"/>
            <a:chOff x="0" y="0"/>
            <a:chExt cx="1170432" cy="230709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70432" cy="2307082"/>
            </a:xfrm>
            <a:custGeom>
              <a:avLst/>
              <a:gdLst/>
              <a:ahLst/>
              <a:cxnLst/>
              <a:rect r="r" b="b" t="t" l="l"/>
              <a:pathLst>
                <a:path h="230708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2307082"/>
                  </a:lnTo>
                  <a:lnTo>
                    <a:pt x="0" y="2307082"/>
                  </a:lnTo>
                  <a:close/>
                </a:path>
              </a:pathLst>
            </a:custGeom>
            <a:solidFill>
              <a:srgbClr val="A9B2BE"/>
            </a:solidFill>
          </p:spPr>
          <p:txBody>
            <a:bodyPr/>
            <a:p/>
          </p:txBody>
        </p:sp>
      </p:grpSp>
      <p:sp>
        <p:nvSpPr>
          <p:cNvPr name="TextBox 40" id="40"/>
          <p:cNvSpPr txBox="true"/>
          <p:nvPr/>
        </p:nvSpPr>
        <p:spPr>
          <a:xfrm rot="0">
            <a:off x="1476823" y="5991739"/>
            <a:ext cx="521065" cy="21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1.26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2231136" y="3973782"/>
            <a:ext cx="877824" cy="3977640"/>
            <a:chOff x="0" y="0"/>
            <a:chExt cx="1170432" cy="5303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70432" cy="5303520"/>
            </a:xfrm>
            <a:custGeom>
              <a:avLst/>
              <a:gdLst/>
              <a:ahLst/>
              <a:cxnLst/>
              <a:rect r="r" b="b" t="t" l="l"/>
              <a:pathLst>
                <a:path h="5303520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5303520"/>
                  </a:lnTo>
                  <a:lnTo>
                    <a:pt x="0" y="530352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p/>
          </p:txBody>
        </p:sp>
      </p:grpSp>
      <p:sp>
        <p:nvSpPr>
          <p:cNvPr name="TextBox 43" id="43"/>
          <p:cNvSpPr txBox="true"/>
          <p:nvPr/>
        </p:nvSpPr>
        <p:spPr>
          <a:xfrm rot="0">
            <a:off x="2409511" y="3744420"/>
            <a:ext cx="521065" cy="21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2.89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810331" y="8010096"/>
            <a:ext cx="786736" cy="206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0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0-300 m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4041648" y="7464600"/>
            <a:ext cx="877824" cy="486823"/>
            <a:chOff x="0" y="0"/>
            <a:chExt cx="1170432" cy="64909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70432" cy="649097"/>
            </a:xfrm>
            <a:custGeom>
              <a:avLst/>
              <a:gdLst/>
              <a:ahLst/>
              <a:cxnLst/>
              <a:rect r="r" b="b" t="t" l="l"/>
              <a:pathLst>
                <a:path h="649097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649097"/>
                  </a:lnTo>
                  <a:lnTo>
                    <a:pt x="0" y="649097"/>
                  </a:lnTo>
                  <a:close/>
                </a:path>
              </a:pathLst>
            </a:custGeom>
            <a:solidFill>
              <a:srgbClr val="A9B2BE"/>
            </a:solidFill>
          </p:spPr>
          <p:txBody>
            <a:bodyPr/>
            <a:p/>
          </p:txBody>
        </p:sp>
      </p:grpSp>
      <p:sp>
        <p:nvSpPr>
          <p:cNvPr name="TextBox 47" id="47"/>
          <p:cNvSpPr txBox="true"/>
          <p:nvPr/>
        </p:nvSpPr>
        <p:spPr>
          <a:xfrm rot="0">
            <a:off x="4220023" y="7235238"/>
            <a:ext cx="521065" cy="21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0.35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4974336" y="7527693"/>
            <a:ext cx="877824" cy="423729"/>
            <a:chOff x="0" y="0"/>
            <a:chExt cx="1170432" cy="56497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70432" cy="565023"/>
            </a:xfrm>
            <a:custGeom>
              <a:avLst/>
              <a:gdLst/>
              <a:ahLst/>
              <a:cxnLst/>
              <a:rect r="r" b="b" t="t" l="l"/>
              <a:pathLst>
                <a:path h="565023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565023"/>
                  </a:lnTo>
                  <a:lnTo>
                    <a:pt x="0" y="565023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p/>
          </p:txBody>
        </p:sp>
      </p:grpSp>
      <p:sp>
        <p:nvSpPr>
          <p:cNvPr name="TextBox 50" id="50"/>
          <p:cNvSpPr txBox="true"/>
          <p:nvPr/>
        </p:nvSpPr>
        <p:spPr>
          <a:xfrm rot="0">
            <a:off x="5152711" y="7298331"/>
            <a:ext cx="521065" cy="21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0.31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462024" y="8010096"/>
            <a:ext cx="969759" cy="206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0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300-950 m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6784848" y="7690104"/>
            <a:ext cx="877824" cy="261318"/>
            <a:chOff x="0" y="0"/>
            <a:chExt cx="1170432" cy="34842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170432" cy="348361"/>
            </a:xfrm>
            <a:custGeom>
              <a:avLst/>
              <a:gdLst/>
              <a:ahLst/>
              <a:cxnLst/>
              <a:rect r="r" b="b" t="t" l="l"/>
              <a:pathLst>
                <a:path h="348361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348361"/>
                  </a:lnTo>
                  <a:lnTo>
                    <a:pt x="0" y="348361"/>
                  </a:lnTo>
                  <a:close/>
                </a:path>
              </a:pathLst>
            </a:custGeom>
            <a:solidFill>
              <a:srgbClr val="A9B2BE"/>
            </a:solidFill>
          </p:spPr>
          <p:txBody>
            <a:bodyPr/>
            <a:p/>
          </p:txBody>
        </p:sp>
      </p:grpSp>
      <p:sp>
        <p:nvSpPr>
          <p:cNvPr name="TextBox 54" id="54"/>
          <p:cNvSpPr txBox="true"/>
          <p:nvPr/>
        </p:nvSpPr>
        <p:spPr>
          <a:xfrm rot="0">
            <a:off x="6963223" y="7460742"/>
            <a:ext cx="521065" cy="21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0.19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7717536" y="7631973"/>
            <a:ext cx="877824" cy="319449"/>
            <a:chOff x="0" y="0"/>
            <a:chExt cx="1170432" cy="425933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70432" cy="425958"/>
            </a:xfrm>
            <a:custGeom>
              <a:avLst/>
              <a:gdLst/>
              <a:ahLst/>
              <a:cxnLst/>
              <a:rect r="r" b="b" t="t" l="l"/>
              <a:pathLst>
                <a:path h="42595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425958"/>
                  </a:lnTo>
                  <a:lnTo>
                    <a:pt x="0" y="425958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p/>
          </p:txBody>
        </p:sp>
      </p:grpSp>
      <p:sp>
        <p:nvSpPr>
          <p:cNvPr name="TextBox 57" id="57"/>
          <p:cNvSpPr txBox="true"/>
          <p:nvPr/>
        </p:nvSpPr>
        <p:spPr>
          <a:xfrm rot="0">
            <a:off x="7895911" y="7402611"/>
            <a:ext cx="521065" cy="21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0.23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159428" y="8010096"/>
            <a:ext cx="1061342" cy="206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0"/>
              </a:lnSpc>
            </a:pP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950-2000 m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483918" y="3630120"/>
            <a:ext cx="357330" cy="192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7A8594"/>
                </a:solidFill>
                <a:latin typeface="Arial"/>
                <a:ea typeface="Arial"/>
                <a:cs typeface="Arial"/>
                <a:sym typeface="Arial"/>
              </a:rPr>
              <a:t>°C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49808" y="8325564"/>
            <a:ext cx="2662685" cy="192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Argo (the model already used them)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3558797" y="8325564"/>
            <a:ext cx="1600057" cy="192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Glider (independent)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502920" y="8383257"/>
            <a:ext cx="164592" cy="100584"/>
            <a:chOff x="0" y="0"/>
            <a:chExt cx="219456" cy="13411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19456" cy="134112"/>
            </a:xfrm>
            <a:custGeom>
              <a:avLst/>
              <a:gdLst/>
              <a:ahLst/>
              <a:cxnLst/>
              <a:rect r="r" b="b" t="t" l="l"/>
              <a:pathLst>
                <a:path h="134112" w="219456">
                  <a:moveTo>
                    <a:pt x="0" y="0"/>
                  </a:moveTo>
                  <a:lnTo>
                    <a:pt x="219456" y="0"/>
                  </a:lnTo>
                  <a:lnTo>
                    <a:pt x="219456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9B2BE"/>
            </a:solidFill>
          </p:spPr>
          <p:txBody>
            <a:bodyPr/>
            <a:p/>
          </p:txBody>
        </p:sp>
      </p:grpSp>
      <p:grpSp>
        <p:nvGrpSpPr>
          <p:cNvPr name="Group 64" id="64"/>
          <p:cNvGrpSpPr/>
          <p:nvPr/>
        </p:nvGrpSpPr>
        <p:grpSpPr>
          <a:xfrm rot="0">
            <a:off x="3311909" y="8383257"/>
            <a:ext cx="164592" cy="100584"/>
            <a:chOff x="0" y="0"/>
            <a:chExt cx="219456" cy="13411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19456" cy="134112"/>
            </a:xfrm>
            <a:custGeom>
              <a:avLst/>
              <a:gdLst/>
              <a:ahLst/>
              <a:cxnLst/>
              <a:rect r="r" b="b" t="t" l="l"/>
              <a:pathLst>
                <a:path h="134112" w="219456">
                  <a:moveTo>
                    <a:pt x="0" y="0"/>
                  </a:moveTo>
                  <a:lnTo>
                    <a:pt x="219456" y="0"/>
                  </a:lnTo>
                  <a:lnTo>
                    <a:pt x="219456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p/>
          </p:txBody>
        </p:sp>
      </p:grpSp>
      <p:sp>
        <p:nvSpPr>
          <p:cNvPr name="TextBox 66" id="66"/>
          <p:cNvSpPr txBox="true"/>
          <p:nvPr/>
        </p:nvSpPr>
        <p:spPr>
          <a:xfrm rot="0">
            <a:off x="502920" y="8557412"/>
            <a:ext cx="8947404" cy="50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7"/>
              </a:lnSpc>
            </a:pP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Below 300 m the INCOIS model and the instruments agree. In the top 300 m, the warm layer a cyclone feeds on, the independent glider finds an error of </a:t>
            </a:r>
            <a:r>
              <a:rPr lang="en-US" sz="1350" b="true">
                <a:solidFill>
                  <a:srgbClr val="C0392B"/>
                </a:solidFill>
                <a:latin typeface="Arial Bold"/>
                <a:ea typeface="Arial Bold"/>
                <a:cs typeface="Arial Bold"/>
                <a:sym typeface="Arial Bold"/>
              </a:rPr>
              <a:t>2.89 °C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. A single pooled number hides it; the 3D view shows it.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646920" y="3317100"/>
            <a:ext cx="8382305" cy="315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5"/>
              </a:lnSpc>
            </a:pPr>
            <a:r>
              <a:rPr lang="en-US" sz="1575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CHALLENGES AND RISKS, AND OUR STRATEGIES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9646920" y="3951275"/>
            <a:ext cx="3638740" cy="13716"/>
            <a:chOff x="0" y="0"/>
            <a:chExt cx="4851654" cy="1828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851654" cy="18288"/>
            </a:xfrm>
            <a:custGeom>
              <a:avLst/>
              <a:gdLst/>
              <a:ahLst/>
              <a:cxnLst/>
              <a:rect r="r" b="b" t="t" l="l"/>
              <a:pathLst>
                <a:path h="18288" w="4851654">
                  <a:moveTo>
                    <a:pt x="0" y="0"/>
                  </a:moveTo>
                  <a:lnTo>
                    <a:pt x="4851654" y="0"/>
                  </a:lnTo>
                  <a:lnTo>
                    <a:pt x="4851654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p/>
          </p:txBody>
        </p:sp>
      </p:grpSp>
      <p:sp>
        <p:nvSpPr>
          <p:cNvPr name="TextBox 70" id="70"/>
          <p:cNvSpPr txBox="true"/>
          <p:nvPr/>
        </p:nvSpPr>
        <p:spPr>
          <a:xfrm rot="0">
            <a:off x="9646920" y="3650532"/>
            <a:ext cx="3672554" cy="258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8"/>
              </a:lnSpc>
            </a:pPr>
            <a:r>
              <a:rPr lang="en-US" sz="1275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CHALLENGE OR RISK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13285660" y="3951275"/>
            <a:ext cx="4499420" cy="13716"/>
            <a:chOff x="0" y="0"/>
            <a:chExt cx="5999226" cy="1828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999226" cy="18288"/>
            </a:xfrm>
            <a:custGeom>
              <a:avLst/>
              <a:gdLst/>
              <a:ahLst/>
              <a:cxnLst/>
              <a:rect r="r" b="b" t="t" l="l"/>
              <a:pathLst>
                <a:path h="18288" w="5999226">
                  <a:moveTo>
                    <a:pt x="0" y="0"/>
                  </a:moveTo>
                  <a:lnTo>
                    <a:pt x="5999226" y="0"/>
                  </a:lnTo>
                  <a:lnTo>
                    <a:pt x="5999226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p/>
          </p:txBody>
        </p:sp>
      </p:grpSp>
      <p:sp>
        <p:nvSpPr>
          <p:cNvPr name="TextBox 73" id="73"/>
          <p:cNvSpPr txBox="true"/>
          <p:nvPr/>
        </p:nvSpPr>
        <p:spPr>
          <a:xfrm rot="0">
            <a:off x="13285660" y="3650532"/>
            <a:ext cx="4559056" cy="258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8"/>
              </a:lnSpc>
            </a:pPr>
            <a:r>
              <a:rPr lang="en-US" sz="1275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STRATEGY, ALREADY IN THE BUILD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9646920" y="4577067"/>
            <a:ext cx="3638740" cy="9144"/>
            <a:chOff x="0" y="0"/>
            <a:chExt cx="4851654" cy="1219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851654" cy="12192"/>
            </a:xfrm>
            <a:custGeom>
              <a:avLst/>
              <a:gdLst/>
              <a:ahLst/>
              <a:cxnLst/>
              <a:rect r="r" b="b" t="t" l="l"/>
              <a:pathLst>
                <a:path h="12192" w="4851654">
                  <a:moveTo>
                    <a:pt x="0" y="0"/>
                  </a:moveTo>
                  <a:lnTo>
                    <a:pt x="4851654" y="0"/>
                  </a:lnTo>
                  <a:lnTo>
                    <a:pt x="4851654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p/>
          </p:txBody>
        </p:sp>
      </p:grpSp>
      <p:sp>
        <p:nvSpPr>
          <p:cNvPr name="TextBox 76" id="76"/>
          <p:cNvSpPr txBox="true"/>
          <p:nvPr/>
        </p:nvSpPr>
        <p:spPr>
          <a:xfrm rot="0">
            <a:off x="9646920" y="4023055"/>
            <a:ext cx="3459480" cy="452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0"/>
              </a:lnSpc>
            </a:pPr>
            <a:r>
              <a:rPr lang="en-US" sz="1350" b="true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The problem statement's data links are dead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3285660" y="4577067"/>
            <a:ext cx="4499420" cy="9144"/>
            <a:chOff x="0" y="0"/>
            <a:chExt cx="5999226" cy="1219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999226" cy="12192"/>
            </a:xfrm>
            <a:custGeom>
              <a:avLst/>
              <a:gdLst/>
              <a:ahLst/>
              <a:cxnLst/>
              <a:rect r="r" b="b" t="t" l="l"/>
              <a:pathLst>
                <a:path h="12192" w="5999226">
                  <a:moveTo>
                    <a:pt x="0" y="0"/>
                  </a:moveTo>
                  <a:lnTo>
                    <a:pt x="5999226" y="0"/>
                  </a:lnTo>
                  <a:lnTo>
                    <a:pt x="5999226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p/>
          </p:txBody>
        </p:sp>
      </p:grpSp>
      <p:sp>
        <p:nvSpPr>
          <p:cNvPr name="TextBox 79" id="79"/>
          <p:cNvSpPr txBox="true"/>
          <p:nvPr/>
        </p:nvSpPr>
        <p:spPr>
          <a:xfrm rot="0">
            <a:off x="13285660" y="4023055"/>
            <a:ext cx="4559056" cy="473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0"/>
              </a:lnSpc>
            </a:pP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Both are </a:t>
            </a:r>
            <a:r>
              <a:rPr lang="en-US" sz="135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ftp://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 and blocked; replaced with tested HTTPS sources.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9646920" y="5190573"/>
            <a:ext cx="3638740" cy="9144"/>
            <a:chOff x="0" y="0"/>
            <a:chExt cx="4851654" cy="1219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851654" cy="12192"/>
            </a:xfrm>
            <a:custGeom>
              <a:avLst/>
              <a:gdLst/>
              <a:ahLst/>
              <a:cxnLst/>
              <a:rect r="r" b="b" t="t" l="l"/>
              <a:pathLst>
                <a:path h="12192" w="4851654">
                  <a:moveTo>
                    <a:pt x="0" y="0"/>
                  </a:moveTo>
                  <a:lnTo>
                    <a:pt x="4851654" y="0"/>
                  </a:lnTo>
                  <a:lnTo>
                    <a:pt x="4851654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p/>
          </p:txBody>
        </p:sp>
      </p:grpSp>
      <p:sp>
        <p:nvSpPr>
          <p:cNvPr name="TextBox 82" id="82"/>
          <p:cNvSpPr txBox="true"/>
          <p:nvPr/>
        </p:nvSpPr>
        <p:spPr>
          <a:xfrm rot="0">
            <a:off x="9646920" y="4641990"/>
            <a:ext cx="3672554" cy="24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0"/>
              </a:lnSpc>
            </a:pPr>
            <a:r>
              <a:rPr lang="en-US" sz="1350" b="true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The model fails QC too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13285660" y="5190573"/>
            <a:ext cx="4499420" cy="9144"/>
            <a:chOff x="0" y="0"/>
            <a:chExt cx="5999226" cy="1219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999226" cy="12192"/>
            </a:xfrm>
            <a:custGeom>
              <a:avLst/>
              <a:gdLst/>
              <a:ahLst/>
              <a:cxnLst/>
              <a:rect r="r" b="b" t="t" l="l"/>
              <a:pathLst>
                <a:path h="12192" w="5999226">
                  <a:moveTo>
                    <a:pt x="0" y="0"/>
                  </a:moveTo>
                  <a:lnTo>
                    <a:pt x="5999226" y="0"/>
                  </a:lnTo>
                  <a:lnTo>
                    <a:pt x="5999226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p/>
          </p:txBody>
        </p:sp>
      </p:grpSp>
      <p:sp>
        <p:nvSpPr>
          <p:cNvPr name="TextBox 85" id="85"/>
          <p:cNvSpPr txBox="true"/>
          <p:nvPr/>
        </p:nvSpPr>
        <p:spPr>
          <a:xfrm rot="0">
            <a:off x="13285660" y="4641990"/>
            <a:ext cx="4559056" cy="468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0"/>
              </a:lnSpc>
            </a:pP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6 INCOIS cells read above 40 °C at depth; masked, counted in the provenance panel.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9646920" y="5804078"/>
            <a:ext cx="3638740" cy="9144"/>
            <a:chOff x="0" y="0"/>
            <a:chExt cx="4851654" cy="1219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851654" cy="12192"/>
            </a:xfrm>
            <a:custGeom>
              <a:avLst/>
              <a:gdLst/>
              <a:ahLst/>
              <a:cxnLst/>
              <a:rect r="r" b="b" t="t" l="l"/>
              <a:pathLst>
                <a:path h="12192" w="4851654">
                  <a:moveTo>
                    <a:pt x="0" y="0"/>
                  </a:moveTo>
                  <a:lnTo>
                    <a:pt x="4851654" y="0"/>
                  </a:lnTo>
                  <a:lnTo>
                    <a:pt x="4851654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p/>
          </p:txBody>
        </p:sp>
      </p:grpSp>
      <p:sp>
        <p:nvSpPr>
          <p:cNvPr name="TextBox 88" id="88"/>
          <p:cNvSpPr txBox="true"/>
          <p:nvPr/>
        </p:nvSpPr>
        <p:spPr>
          <a:xfrm rot="0">
            <a:off x="9646920" y="5255495"/>
            <a:ext cx="3672554" cy="24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0"/>
              </a:lnSpc>
            </a:pPr>
            <a:r>
              <a:rPr lang="en-US" sz="1350" b="true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Bad float readings</a:t>
            </a:r>
          </a:p>
        </p:txBody>
      </p:sp>
      <p:grpSp>
        <p:nvGrpSpPr>
          <p:cNvPr name="Group 89" id="89"/>
          <p:cNvGrpSpPr/>
          <p:nvPr/>
        </p:nvGrpSpPr>
        <p:grpSpPr>
          <a:xfrm rot="0">
            <a:off x="13285660" y="5804078"/>
            <a:ext cx="4499420" cy="9144"/>
            <a:chOff x="0" y="0"/>
            <a:chExt cx="5999226" cy="1219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999226" cy="12192"/>
            </a:xfrm>
            <a:custGeom>
              <a:avLst/>
              <a:gdLst/>
              <a:ahLst/>
              <a:cxnLst/>
              <a:rect r="r" b="b" t="t" l="l"/>
              <a:pathLst>
                <a:path h="12192" w="5999226">
                  <a:moveTo>
                    <a:pt x="0" y="0"/>
                  </a:moveTo>
                  <a:lnTo>
                    <a:pt x="5999226" y="0"/>
                  </a:lnTo>
                  <a:lnTo>
                    <a:pt x="5999226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p/>
          </p:txBody>
        </p:sp>
      </p:grpSp>
      <p:sp>
        <p:nvSpPr>
          <p:cNvPr name="TextBox 91" id="91"/>
          <p:cNvSpPr txBox="true"/>
          <p:nvPr/>
        </p:nvSpPr>
        <p:spPr>
          <a:xfrm rot="0">
            <a:off x="13285660" y="5255495"/>
            <a:ext cx="4559056" cy="468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0"/>
              </a:lnSpc>
            </a:pP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510 of 11,525 levels fail QC in the Bay; drawn red, never dropped.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9646920" y="6417583"/>
            <a:ext cx="3638740" cy="9144"/>
            <a:chOff x="0" y="0"/>
            <a:chExt cx="4851654" cy="1219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851654" cy="12192"/>
            </a:xfrm>
            <a:custGeom>
              <a:avLst/>
              <a:gdLst/>
              <a:ahLst/>
              <a:cxnLst/>
              <a:rect r="r" b="b" t="t" l="l"/>
              <a:pathLst>
                <a:path h="12192" w="4851654">
                  <a:moveTo>
                    <a:pt x="0" y="0"/>
                  </a:moveTo>
                  <a:lnTo>
                    <a:pt x="4851654" y="0"/>
                  </a:lnTo>
                  <a:lnTo>
                    <a:pt x="4851654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p/>
          </p:txBody>
        </p:sp>
      </p:grpSp>
      <p:sp>
        <p:nvSpPr>
          <p:cNvPr name="TextBox 94" id="94"/>
          <p:cNvSpPr txBox="true"/>
          <p:nvPr/>
        </p:nvSpPr>
        <p:spPr>
          <a:xfrm rot="0">
            <a:off x="9646920" y="5869000"/>
            <a:ext cx="3672554" cy="24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0"/>
              </a:lnSpc>
            </a:pPr>
            <a:r>
              <a:rPr lang="en-US" sz="1350" b="true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An assistant could invent numbers</a:t>
            </a:r>
          </a:p>
        </p:txBody>
      </p:sp>
      <p:grpSp>
        <p:nvGrpSpPr>
          <p:cNvPr name="Group 95" id="95"/>
          <p:cNvGrpSpPr/>
          <p:nvPr/>
        </p:nvGrpSpPr>
        <p:grpSpPr>
          <a:xfrm rot="0">
            <a:off x="13285660" y="6417583"/>
            <a:ext cx="4499420" cy="9144"/>
            <a:chOff x="0" y="0"/>
            <a:chExt cx="5999226" cy="1219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999226" cy="12192"/>
            </a:xfrm>
            <a:custGeom>
              <a:avLst/>
              <a:gdLst/>
              <a:ahLst/>
              <a:cxnLst/>
              <a:rect r="r" b="b" t="t" l="l"/>
              <a:pathLst>
                <a:path h="12192" w="5999226">
                  <a:moveTo>
                    <a:pt x="0" y="0"/>
                  </a:moveTo>
                  <a:lnTo>
                    <a:pt x="5999226" y="0"/>
                  </a:lnTo>
                  <a:lnTo>
                    <a:pt x="5999226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p/>
          </p:txBody>
        </p:sp>
      </p:grpSp>
      <p:sp>
        <p:nvSpPr>
          <p:cNvPr name="TextBox 97" id="97"/>
          <p:cNvSpPr txBox="true"/>
          <p:nvPr/>
        </p:nvSpPr>
        <p:spPr>
          <a:xfrm rot="0">
            <a:off x="13285660" y="5869000"/>
            <a:ext cx="4559056" cy="468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0"/>
              </a:lnSpc>
            </a:pP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It reaches data only through our API; an untraceable number is flagged on screen.</a:t>
            </a:r>
          </a:p>
        </p:txBody>
      </p:sp>
      <p:grpSp>
        <p:nvGrpSpPr>
          <p:cNvPr name="Group 98" id="98"/>
          <p:cNvGrpSpPr/>
          <p:nvPr/>
        </p:nvGrpSpPr>
        <p:grpSpPr>
          <a:xfrm rot="0">
            <a:off x="9646920" y="7031088"/>
            <a:ext cx="3638740" cy="9144"/>
            <a:chOff x="0" y="0"/>
            <a:chExt cx="4851654" cy="1219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851654" cy="12192"/>
            </a:xfrm>
            <a:custGeom>
              <a:avLst/>
              <a:gdLst/>
              <a:ahLst/>
              <a:cxnLst/>
              <a:rect r="r" b="b" t="t" l="l"/>
              <a:pathLst>
                <a:path h="12192" w="4851654">
                  <a:moveTo>
                    <a:pt x="0" y="0"/>
                  </a:moveTo>
                  <a:lnTo>
                    <a:pt x="4851654" y="0"/>
                  </a:lnTo>
                  <a:lnTo>
                    <a:pt x="4851654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p/>
          </p:txBody>
        </p:sp>
      </p:grpSp>
      <p:sp>
        <p:nvSpPr>
          <p:cNvPr name="TextBox 100" id="100"/>
          <p:cNvSpPr txBox="true"/>
          <p:nvPr/>
        </p:nvSpPr>
        <p:spPr>
          <a:xfrm rot="0">
            <a:off x="9646920" y="6482505"/>
            <a:ext cx="3672554" cy="24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0"/>
              </a:lnSpc>
            </a:pPr>
            <a:r>
              <a:rPr lang="en-US" sz="1350" b="true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A small host ran out of memory</a:t>
            </a:r>
          </a:p>
        </p:txBody>
      </p:sp>
      <p:grpSp>
        <p:nvGrpSpPr>
          <p:cNvPr name="Group 101" id="101"/>
          <p:cNvGrpSpPr/>
          <p:nvPr/>
        </p:nvGrpSpPr>
        <p:grpSpPr>
          <a:xfrm rot="0">
            <a:off x="13285660" y="7031088"/>
            <a:ext cx="4499420" cy="9144"/>
            <a:chOff x="0" y="0"/>
            <a:chExt cx="5999226" cy="1219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5999226" cy="12192"/>
            </a:xfrm>
            <a:custGeom>
              <a:avLst/>
              <a:gdLst/>
              <a:ahLst/>
              <a:cxnLst/>
              <a:rect r="r" b="b" t="t" l="l"/>
              <a:pathLst>
                <a:path h="12192" w="5999226">
                  <a:moveTo>
                    <a:pt x="0" y="0"/>
                  </a:moveTo>
                  <a:lnTo>
                    <a:pt x="5999226" y="0"/>
                  </a:lnTo>
                  <a:lnTo>
                    <a:pt x="5999226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/>
            <a:p/>
          </p:txBody>
        </p:sp>
      </p:grpSp>
      <p:sp>
        <p:nvSpPr>
          <p:cNvPr name="TextBox 103" id="103"/>
          <p:cNvSpPr txBox="true"/>
          <p:nvPr/>
        </p:nvSpPr>
        <p:spPr>
          <a:xfrm rot="0">
            <a:off x="13285660" y="6482505"/>
            <a:ext cx="4559056" cy="468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0"/>
              </a:lnSpc>
            </a:pP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Shared S3 client and capped caches; we ask for 1 GB, measured 639 MB peak.</a:t>
            </a:r>
          </a:p>
        </p:txBody>
      </p:sp>
      <p:grpSp>
        <p:nvGrpSpPr>
          <p:cNvPr name="Group 104" id="104"/>
          <p:cNvGrpSpPr/>
          <p:nvPr/>
        </p:nvGrpSpPr>
        <p:grpSpPr>
          <a:xfrm rot="0">
            <a:off x="9646920" y="7099668"/>
            <a:ext cx="8156448" cy="9144"/>
            <a:chOff x="0" y="0"/>
            <a:chExt cx="10875264" cy="1219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0875264" cy="12192"/>
            </a:xfrm>
            <a:custGeom>
              <a:avLst/>
              <a:gdLst/>
              <a:ahLst/>
              <a:cxnLst/>
              <a:rect r="r" b="b" t="t" l="l"/>
              <a:pathLst>
                <a:path h="12192" w="10875264">
                  <a:moveTo>
                    <a:pt x="0" y="0"/>
                  </a:moveTo>
                  <a:lnTo>
                    <a:pt x="10875264" y="0"/>
                  </a:lnTo>
                  <a:lnTo>
                    <a:pt x="10875264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p/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7794224" y="7099668"/>
            <a:ext cx="9144" cy="1892808"/>
            <a:chOff x="0" y="0"/>
            <a:chExt cx="12192" cy="252374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2192" cy="2523744"/>
            </a:xfrm>
            <a:custGeom>
              <a:avLst/>
              <a:gdLst/>
              <a:ahLst/>
              <a:cxnLst/>
              <a:rect r="r" b="b" t="t" l="l"/>
              <a:pathLst>
                <a:path h="2523744" w="12192">
                  <a:moveTo>
                    <a:pt x="0" y="0"/>
                  </a:moveTo>
                  <a:lnTo>
                    <a:pt x="12192" y="0"/>
                  </a:lnTo>
                  <a:lnTo>
                    <a:pt x="12192" y="2523744"/>
                  </a:lnTo>
                  <a:lnTo>
                    <a:pt x="0" y="252374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p/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9646920" y="8983332"/>
            <a:ext cx="8156448" cy="9144"/>
            <a:chOff x="0" y="0"/>
            <a:chExt cx="10875264" cy="12192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0875264" cy="12192"/>
            </a:xfrm>
            <a:custGeom>
              <a:avLst/>
              <a:gdLst/>
              <a:ahLst/>
              <a:cxnLst/>
              <a:rect r="r" b="b" t="t" l="l"/>
              <a:pathLst>
                <a:path h="12192" w="10875264">
                  <a:moveTo>
                    <a:pt x="0" y="0"/>
                  </a:moveTo>
                  <a:lnTo>
                    <a:pt x="10875264" y="0"/>
                  </a:lnTo>
                  <a:lnTo>
                    <a:pt x="10875264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p/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9646920" y="7099668"/>
            <a:ext cx="9144" cy="1892808"/>
            <a:chOff x="0" y="0"/>
            <a:chExt cx="12192" cy="2523744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2192" cy="2523744"/>
            </a:xfrm>
            <a:custGeom>
              <a:avLst/>
              <a:gdLst/>
              <a:ahLst/>
              <a:cxnLst/>
              <a:rect r="r" b="b" t="t" l="l"/>
              <a:pathLst>
                <a:path h="2523744" w="12192">
                  <a:moveTo>
                    <a:pt x="0" y="0"/>
                  </a:moveTo>
                  <a:lnTo>
                    <a:pt x="12192" y="0"/>
                  </a:lnTo>
                  <a:lnTo>
                    <a:pt x="12192" y="2523744"/>
                  </a:lnTo>
                  <a:lnTo>
                    <a:pt x="0" y="252374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p/>
          </p:txBody>
        </p:sp>
      </p:grpSp>
      <p:sp>
        <p:nvSpPr>
          <p:cNvPr name="TextBox 112" id="112"/>
          <p:cNvSpPr txBox="true"/>
          <p:nvPr/>
        </p:nvSpPr>
        <p:spPr>
          <a:xfrm rot="0">
            <a:off x="9713214" y="7044239"/>
            <a:ext cx="3178723" cy="1839325"/>
          </a:xfrm>
          <a:prstGeom prst="rect">
            <a:avLst/>
          </a:prstGeom>
        </p:spPr>
        <p:txBody>
          <a:bodyPr anchor="t" rtlCol="false" tIns="60000" lIns="0" bIns="0" rIns="0"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F4E79"/>
                </a:solidFill>
                <a:latin typeface="Arial Bold"/>
              </a:rPr>
              <a:t>SUSTAINABILITY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4F5B69"/>
                </a:solidFill>
                <a:latin typeface="Arial"/>
              </a:rPr>
              <a:t>0 Rs running cost; free public data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4F5B69"/>
                </a:solidFill>
                <a:latin typeface="Arial"/>
              </a:rPr>
              <a:t>Changed source = one fetch function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4F5B69"/>
                </a:solidFill>
                <a:latin typeface="Arial"/>
              </a:rPr>
              <a:t>Test harness re-reads every source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4F5B69"/>
                </a:solidFill>
                <a:latin typeface="Arial"/>
              </a:rPr>
              <a:t>Open source; issues and PRs open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2891937" y="7044239"/>
            <a:ext cx="4768084" cy="330000"/>
          </a:xfrm>
          <a:prstGeom prst="rect">
            <a:avLst/>
          </a:prstGeom>
          <a:noFill/>
        </p:spPr>
        <p:txBody>
          <a:bodyPr wrap="square" tIns="600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F4E79"/>
                </a:solidFill>
                <a:latin typeface="Arial Bold"/>
              </a:rPr>
              <a:t>ROADMAP</a:t>
            </a:r>
          </a:p>
        </p:txBody>
      </p:sp>
      <p:sp>
        <p:nvSpPr>
          <p:cNvPr id="114" name="Pentagon 113"/>
          <p:cNvSpPr/>
          <p:nvPr/>
        </p:nvSpPr>
        <p:spPr>
          <a:xfrm>
            <a:off x="12891937" y="7464239"/>
            <a:ext cx="1172021" cy="1359325"/>
          </a:xfrm>
          <a:prstGeom prst="homePlat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1700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 Bold"/>
              </a:rPr>
              <a:t>NOW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built, live</a:t>
            </a:r>
          </a:p>
        </p:txBody>
      </p:sp>
      <p:sp>
        <p:nvSpPr>
          <p:cNvPr id="115" name="Pentagon 114"/>
          <p:cNvSpPr/>
          <p:nvPr/>
        </p:nvSpPr>
        <p:spPr>
          <a:xfrm>
            <a:off x="14083958" y="7464239"/>
            <a:ext cx="1172021" cy="1359325"/>
          </a:xfrm>
          <a:prstGeom prst="homePlate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1700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 Bold"/>
              </a:rPr>
              <a:t>3 MO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INCOIS, school pilot</a:t>
            </a:r>
          </a:p>
        </p:txBody>
      </p:sp>
      <p:sp>
        <p:nvSpPr>
          <p:cNvPr id="116" name="Pentagon 115"/>
          <p:cNvSpPr/>
          <p:nvPr/>
        </p:nvSpPr>
        <p:spPr>
          <a:xfrm>
            <a:off x="15275979" y="7464239"/>
            <a:ext cx="1172021" cy="1359325"/>
          </a:xfrm>
          <a:prstGeom prst="homePlate">
            <a:avLst/>
          </a:prstGeom>
          <a:solidFill>
            <a:srgbClr val="3C8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1700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 Bold"/>
              </a:rPr>
              <a:t>6 MO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INCOIS servers, SSO</a:t>
            </a:r>
          </a:p>
        </p:txBody>
      </p:sp>
      <p:sp>
        <p:nvSpPr>
          <p:cNvPr id="117" name="Pentagon 116"/>
          <p:cNvSpPr/>
          <p:nvPr/>
        </p:nvSpPr>
        <p:spPr>
          <a:xfrm>
            <a:off x="16468000" y="7464239"/>
            <a:ext cx="1172021" cy="1359325"/>
          </a:xfrm>
          <a:prstGeom prst="homePlate">
            <a:avLst/>
          </a:prstGeom>
          <a:solidFill>
            <a:srgbClr val="5A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1700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 Bold"/>
              </a:rPr>
              <a:t>12 MO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more basins, ML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000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Team Null · K26125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  <p:txBody>
            <a:bodyPr/>
            <a:p/>
          </p:txBody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8046" y="378371"/>
            <a:ext cx="1210999" cy="1210999"/>
            <a:chOff x="0" y="0"/>
            <a:chExt cx="1614665" cy="1614665"/>
          </a:xfrm>
        </p:grpSpPr>
        <p:sp>
          <p:nvSpPr>
            <p:cNvPr name="Freeform 13" id="13" descr="logo.png"/>
            <p:cNvSpPr/>
            <p:nvPr/>
          </p:nvSpPr>
          <p:spPr>
            <a:xfrm flipH="false" flipV="false" rot="0">
              <a:off x="0" y="0"/>
              <a:ext cx="1614678" cy="1614678"/>
            </a:xfrm>
            <a:custGeom>
              <a:avLst/>
              <a:gdLst/>
              <a:ahLst/>
              <a:cxnLst/>
              <a:rect r="r" b="b" t="t" l="l"/>
              <a:pathLst>
                <a:path h="1614678" w="1614678">
                  <a:moveTo>
                    <a:pt x="0" y="0"/>
                  </a:moveTo>
                  <a:lnTo>
                    <a:pt x="1614678" y="0"/>
                  </a:lnTo>
                  <a:lnTo>
                    <a:pt x="1614678" y="1614678"/>
                  </a:lnTo>
                  <a:lnTo>
                    <a:pt x="0" y="1614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14" id="14"/>
          <p:cNvSpPr txBox="true"/>
          <p:nvPr/>
        </p:nvSpPr>
        <p:spPr>
          <a:xfrm rot="0">
            <a:off x="502920" y="1818389"/>
            <a:ext cx="17800625" cy="310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3"/>
              </a:lnSpc>
            </a:pPr>
            <a:r>
              <a:rPr lang="en-US" sz="1774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EACH TYPE OF</a:t>
            </a:r>
            <a:r>
              <a:rPr lang="en-US" sz="1774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 USER AND THE IMPACT ON THEM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02920" y="2234346"/>
            <a:ext cx="4986118" cy="293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4"/>
              </a:lnSpc>
            </a:pPr>
            <a:r>
              <a:rPr lang="en-US" sz="1624" b="true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INCOIS forecasters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02920" y="2610183"/>
            <a:ext cx="2406729" cy="3310128"/>
            <a:chOff x="0" y="0"/>
            <a:chExt cx="3208972" cy="4413504"/>
          </a:xfrm>
        </p:grpSpPr>
        <p:sp>
          <p:nvSpPr>
            <p:cNvPr name="Freeform 17" id="17" descr="crop-before.jpg"/>
            <p:cNvSpPr/>
            <p:nvPr/>
          </p:nvSpPr>
          <p:spPr>
            <a:xfrm flipH="false" flipV="false" rot="0">
              <a:off x="0" y="0"/>
              <a:ext cx="3208909" cy="4413504"/>
            </a:xfrm>
            <a:custGeom>
              <a:avLst/>
              <a:gdLst/>
              <a:ahLst/>
              <a:cxnLst/>
              <a:rect r="r" b="b" t="t" l="l"/>
              <a:pathLst>
                <a:path h="4413504" w="3208909">
                  <a:moveTo>
                    <a:pt x="0" y="0"/>
                  </a:moveTo>
                  <a:lnTo>
                    <a:pt x="3208909" y="0"/>
                  </a:lnTo>
                  <a:lnTo>
                    <a:pt x="3208909" y="4413504"/>
                  </a:lnTo>
                  <a:lnTo>
                    <a:pt x="0" y="4413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0192" t="0" r="-60197" b="0"/>
              </a:stretch>
            </a:blip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502920" y="2610183"/>
            <a:ext cx="2406729" cy="9144"/>
            <a:chOff x="0" y="0"/>
            <a:chExt cx="3208972" cy="121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208909" cy="12192"/>
            </a:xfrm>
            <a:custGeom>
              <a:avLst/>
              <a:gdLst/>
              <a:ahLst/>
              <a:cxnLst/>
              <a:rect r="r" b="b" t="t" l="l"/>
              <a:pathLst>
                <a:path h="12192" w="3208909">
                  <a:moveTo>
                    <a:pt x="0" y="0"/>
                  </a:moveTo>
                  <a:lnTo>
                    <a:pt x="3208909" y="0"/>
                  </a:lnTo>
                  <a:lnTo>
                    <a:pt x="3208909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p/>
          </p:txBody>
        </p:sp>
      </p:grpSp>
      <p:grpSp>
        <p:nvGrpSpPr>
          <p:cNvPr name="Group 20" id="20"/>
          <p:cNvGrpSpPr/>
          <p:nvPr/>
        </p:nvGrpSpPr>
        <p:grpSpPr>
          <a:xfrm rot="0">
            <a:off x="2900505" y="2610183"/>
            <a:ext cx="9144" cy="3310128"/>
            <a:chOff x="0" y="0"/>
            <a:chExt cx="12192" cy="441350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192" cy="4413504"/>
            </a:xfrm>
            <a:custGeom>
              <a:avLst/>
              <a:gdLst/>
              <a:ahLst/>
              <a:cxnLst/>
              <a:rect r="r" b="b" t="t" l="l"/>
              <a:pathLst>
                <a:path h="4413504" w="12192">
                  <a:moveTo>
                    <a:pt x="0" y="0"/>
                  </a:moveTo>
                  <a:lnTo>
                    <a:pt x="12192" y="0"/>
                  </a:lnTo>
                  <a:lnTo>
                    <a:pt x="12192" y="4413504"/>
                  </a:lnTo>
                  <a:lnTo>
                    <a:pt x="0" y="44135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p/>
          </p:txBody>
        </p:sp>
      </p:grpSp>
      <p:grpSp>
        <p:nvGrpSpPr>
          <p:cNvPr name="Group 22" id="22"/>
          <p:cNvGrpSpPr/>
          <p:nvPr/>
        </p:nvGrpSpPr>
        <p:grpSpPr>
          <a:xfrm rot="0">
            <a:off x="502920" y="5911167"/>
            <a:ext cx="2406729" cy="9144"/>
            <a:chOff x="0" y="0"/>
            <a:chExt cx="3208972" cy="121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208909" cy="12192"/>
            </a:xfrm>
            <a:custGeom>
              <a:avLst/>
              <a:gdLst/>
              <a:ahLst/>
              <a:cxnLst/>
              <a:rect r="r" b="b" t="t" l="l"/>
              <a:pathLst>
                <a:path h="12192" w="3208909">
                  <a:moveTo>
                    <a:pt x="0" y="0"/>
                  </a:moveTo>
                  <a:lnTo>
                    <a:pt x="3208909" y="0"/>
                  </a:lnTo>
                  <a:lnTo>
                    <a:pt x="3208909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502920" y="2610183"/>
            <a:ext cx="9144" cy="3310128"/>
            <a:chOff x="0" y="0"/>
            <a:chExt cx="12192" cy="441350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192" cy="4413504"/>
            </a:xfrm>
            <a:custGeom>
              <a:avLst/>
              <a:gdLst/>
              <a:ahLst/>
              <a:cxnLst/>
              <a:rect r="r" b="b" t="t" l="l"/>
              <a:pathLst>
                <a:path h="4413504" w="12192">
                  <a:moveTo>
                    <a:pt x="0" y="0"/>
                  </a:moveTo>
                  <a:lnTo>
                    <a:pt x="12192" y="0"/>
                  </a:lnTo>
                  <a:lnTo>
                    <a:pt x="12192" y="4413504"/>
                  </a:lnTo>
                  <a:lnTo>
                    <a:pt x="0" y="44135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p/>
          </p:txBody>
        </p:sp>
      </p:grpSp>
      <p:sp>
        <p:nvSpPr>
          <p:cNvPr name="TextBox 26" id="26"/>
          <p:cNvSpPr txBox="true"/>
          <p:nvPr/>
        </p:nvSpPr>
        <p:spPr>
          <a:xfrm rot="0">
            <a:off x="502920" y="5907538"/>
            <a:ext cx="2460098" cy="252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9"/>
              </a:lnSpc>
            </a:pPr>
            <a:r>
              <a:rPr lang="en-US" sz="120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2020-05-14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2955369" y="2610183"/>
            <a:ext cx="2406729" cy="3310128"/>
            <a:chOff x="0" y="0"/>
            <a:chExt cx="3208972" cy="4413504"/>
          </a:xfrm>
        </p:grpSpPr>
        <p:sp>
          <p:nvSpPr>
            <p:cNvPr name="Freeform 28" id="28" descr="crop-after.jpg"/>
            <p:cNvSpPr/>
            <p:nvPr/>
          </p:nvSpPr>
          <p:spPr>
            <a:xfrm flipH="false" flipV="false" rot="0">
              <a:off x="0" y="0"/>
              <a:ext cx="3208909" cy="4413504"/>
            </a:xfrm>
            <a:custGeom>
              <a:avLst/>
              <a:gdLst/>
              <a:ahLst/>
              <a:cxnLst/>
              <a:rect r="r" b="b" t="t" l="l"/>
              <a:pathLst>
                <a:path h="4413504" w="3208909">
                  <a:moveTo>
                    <a:pt x="0" y="0"/>
                  </a:moveTo>
                  <a:lnTo>
                    <a:pt x="3208909" y="0"/>
                  </a:lnTo>
                  <a:lnTo>
                    <a:pt x="3208909" y="4413504"/>
                  </a:lnTo>
                  <a:lnTo>
                    <a:pt x="0" y="4413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60192" t="0" r="-60197" b="0"/>
              </a:stretch>
            </a:blip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2955369" y="2610183"/>
            <a:ext cx="2406729" cy="9144"/>
            <a:chOff x="0" y="0"/>
            <a:chExt cx="3208972" cy="121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208909" cy="12192"/>
            </a:xfrm>
            <a:custGeom>
              <a:avLst/>
              <a:gdLst/>
              <a:ahLst/>
              <a:cxnLst/>
              <a:rect r="r" b="b" t="t" l="l"/>
              <a:pathLst>
                <a:path h="12192" w="3208909">
                  <a:moveTo>
                    <a:pt x="0" y="0"/>
                  </a:moveTo>
                  <a:lnTo>
                    <a:pt x="3208909" y="0"/>
                  </a:lnTo>
                  <a:lnTo>
                    <a:pt x="3208909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5352955" y="2610183"/>
            <a:ext cx="9144" cy="3310128"/>
            <a:chOff x="0" y="0"/>
            <a:chExt cx="12192" cy="441350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192" cy="4413504"/>
            </a:xfrm>
            <a:custGeom>
              <a:avLst/>
              <a:gdLst/>
              <a:ahLst/>
              <a:cxnLst/>
              <a:rect r="r" b="b" t="t" l="l"/>
              <a:pathLst>
                <a:path h="4413504" w="12192">
                  <a:moveTo>
                    <a:pt x="0" y="0"/>
                  </a:moveTo>
                  <a:lnTo>
                    <a:pt x="12192" y="0"/>
                  </a:lnTo>
                  <a:lnTo>
                    <a:pt x="12192" y="4413504"/>
                  </a:lnTo>
                  <a:lnTo>
                    <a:pt x="0" y="44135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p/>
          </p:txBody>
        </p:sp>
      </p:grpSp>
      <p:grpSp>
        <p:nvGrpSpPr>
          <p:cNvPr name="Group 33" id="33"/>
          <p:cNvGrpSpPr/>
          <p:nvPr/>
        </p:nvGrpSpPr>
        <p:grpSpPr>
          <a:xfrm rot="0">
            <a:off x="2955369" y="5911167"/>
            <a:ext cx="2406729" cy="9144"/>
            <a:chOff x="0" y="0"/>
            <a:chExt cx="3208972" cy="1219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208909" cy="12192"/>
            </a:xfrm>
            <a:custGeom>
              <a:avLst/>
              <a:gdLst/>
              <a:ahLst/>
              <a:cxnLst/>
              <a:rect r="r" b="b" t="t" l="l"/>
              <a:pathLst>
                <a:path h="12192" w="3208909">
                  <a:moveTo>
                    <a:pt x="0" y="0"/>
                  </a:moveTo>
                  <a:lnTo>
                    <a:pt x="3208909" y="0"/>
                  </a:lnTo>
                  <a:lnTo>
                    <a:pt x="3208909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p/>
          </p:txBody>
        </p:sp>
      </p:grpSp>
      <p:grpSp>
        <p:nvGrpSpPr>
          <p:cNvPr name="Group 35" id="35"/>
          <p:cNvGrpSpPr/>
          <p:nvPr/>
        </p:nvGrpSpPr>
        <p:grpSpPr>
          <a:xfrm rot="0">
            <a:off x="2955369" y="2610183"/>
            <a:ext cx="9144" cy="3310128"/>
            <a:chOff x="0" y="0"/>
            <a:chExt cx="12192" cy="441350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192" cy="4413504"/>
            </a:xfrm>
            <a:custGeom>
              <a:avLst/>
              <a:gdLst/>
              <a:ahLst/>
              <a:cxnLst/>
              <a:rect r="r" b="b" t="t" l="l"/>
              <a:pathLst>
                <a:path h="4413504" w="12192">
                  <a:moveTo>
                    <a:pt x="0" y="0"/>
                  </a:moveTo>
                  <a:lnTo>
                    <a:pt x="12192" y="0"/>
                  </a:lnTo>
                  <a:lnTo>
                    <a:pt x="12192" y="4413504"/>
                  </a:lnTo>
                  <a:lnTo>
                    <a:pt x="0" y="44135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p/>
          </p:txBody>
        </p:sp>
      </p:grpSp>
      <p:sp>
        <p:nvSpPr>
          <p:cNvPr name="TextBox 37" id="37"/>
          <p:cNvSpPr txBox="true"/>
          <p:nvPr/>
        </p:nvSpPr>
        <p:spPr>
          <a:xfrm rot="0">
            <a:off x="2955369" y="5907538"/>
            <a:ext cx="2460098" cy="252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9"/>
              </a:lnSpc>
            </a:pPr>
            <a:r>
              <a:rPr lang="en-US" sz="120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2020-05-22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02920" y="6131585"/>
            <a:ext cx="4986118" cy="662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2"/>
              </a:lnSpc>
            </a:pPr>
            <a:r>
              <a:rPr lang="en-US" sz="1275" b="true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Before and after Cyclone Amphan</a:t>
            </a: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, one 28–31.5 °C bar: the cold wake shows; the box's mean surface temperature is 0.77 °C lower after.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618131" y="2234346"/>
            <a:ext cx="3988956" cy="293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4"/>
              </a:lnSpc>
            </a:pPr>
            <a:r>
              <a:rPr lang="en-US" sz="1624" b="true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Fishermen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5618131" y="2610183"/>
            <a:ext cx="3891058" cy="3310128"/>
            <a:chOff x="0" y="0"/>
            <a:chExt cx="5188077" cy="4413504"/>
          </a:xfrm>
        </p:grpSpPr>
        <p:sp>
          <p:nvSpPr>
            <p:cNvPr name="Freeform 41" id="41" descr="crop-fishing.jpg"/>
            <p:cNvSpPr/>
            <p:nvPr/>
          </p:nvSpPr>
          <p:spPr>
            <a:xfrm flipH="false" flipV="false" rot="0">
              <a:off x="0" y="0"/>
              <a:ext cx="5188077" cy="4413504"/>
            </a:xfrm>
            <a:custGeom>
              <a:avLst/>
              <a:gdLst/>
              <a:ahLst/>
              <a:cxnLst/>
              <a:rect r="r" b="b" t="t" l="l"/>
              <a:pathLst>
                <a:path h="4413504" w="5188077">
                  <a:moveTo>
                    <a:pt x="0" y="0"/>
                  </a:moveTo>
                  <a:lnTo>
                    <a:pt x="5188077" y="0"/>
                  </a:lnTo>
                  <a:lnTo>
                    <a:pt x="5188077" y="4413504"/>
                  </a:lnTo>
                  <a:lnTo>
                    <a:pt x="0" y="4413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61079" b="0"/>
              </a:stretch>
            </a:blipFill>
          </p:spPr>
          <p:txBody>
            <a:bodyPr/>
            <a:p/>
          </p:txBody>
        </p:sp>
      </p:grpSp>
      <p:grpSp>
        <p:nvGrpSpPr>
          <p:cNvPr name="Group 42" id="42"/>
          <p:cNvGrpSpPr/>
          <p:nvPr/>
        </p:nvGrpSpPr>
        <p:grpSpPr>
          <a:xfrm rot="0">
            <a:off x="5618131" y="2610183"/>
            <a:ext cx="3891058" cy="9144"/>
            <a:chOff x="0" y="0"/>
            <a:chExt cx="5188077" cy="121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88077" cy="12192"/>
            </a:xfrm>
            <a:custGeom>
              <a:avLst/>
              <a:gdLst/>
              <a:ahLst/>
              <a:cxnLst/>
              <a:rect r="r" b="b" t="t" l="l"/>
              <a:pathLst>
                <a:path h="12192" w="5188077">
                  <a:moveTo>
                    <a:pt x="0" y="0"/>
                  </a:moveTo>
                  <a:lnTo>
                    <a:pt x="5188077" y="0"/>
                  </a:lnTo>
                  <a:lnTo>
                    <a:pt x="5188077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9500044" y="2610183"/>
            <a:ext cx="9144" cy="3310128"/>
            <a:chOff x="0" y="0"/>
            <a:chExt cx="12192" cy="441350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192" cy="4413504"/>
            </a:xfrm>
            <a:custGeom>
              <a:avLst/>
              <a:gdLst/>
              <a:ahLst/>
              <a:cxnLst/>
              <a:rect r="r" b="b" t="t" l="l"/>
              <a:pathLst>
                <a:path h="4413504" w="12192">
                  <a:moveTo>
                    <a:pt x="0" y="0"/>
                  </a:moveTo>
                  <a:lnTo>
                    <a:pt x="12192" y="0"/>
                  </a:lnTo>
                  <a:lnTo>
                    <a:pt x="12192" y="4413504"/>
                  </a:lnTo>
                  <a:lnTo>
                    <a:pt x="0" y="44135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p/>
          </p:txBody>
        </p:sp>
      </p:grpSp>
      <p:grpSp>
        <p:nvGrpSpPr>
          <p:cNvPr name="Group 46" id="46"/>
          <p:cNvGrpSpPr/>
          <p:nvPr/>
        </p:nvGrpSpPr>
        <p:grpSpPr>
          <a:xfrm rot="0">
            <a:off x="5618131" y="5911167"/>
            <a:ext cx="3891058" cy="9144"/>
            <a:chOff x="0" y="0"/>
            <a:chExt cx="5188077" cy="1219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188077" cy="12192"/>
            </a:xfrm>
            <a:custGeom>
              <a:avLst/>
              <a:gdLst/>
              <a:ahLst/>
              <a:cxnLst/>
              <a:rect r="r" b="b" t="t" l="l"/>
              <a:pathLst>
                <a:path h="12192" w="5188077">
                  <a:moveTo>
                    <a:pt x="0" y="0"/>
                  </a:moveTo>
                  <a:lnTo>
                    <a:pt x="5188077" y="0"/>
                  </a:lnTo>
                  <a:lnTo>
                    <a:pt x="5188077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p/>
          </p:txBody>
        </p:sp>
      </p:grpSp>
      <p:grpSp>
        <p:nvGrpSpPr>
          <p:cNvPr name="Group 48" id="48"/>
          <p:cNvGrpSpPr/>
          <p:nvPr/>
        </p:nvGrpSpPr>
        <p:grpSpPr>
          <a:xfrm rot="0">
            <a:off x="5618131" y="2610183"/>
            <a:ext cx="9144" cy="3310128"/>
            <a:chOff x="0" y="0"/>
            <a:chExt cx="12192" cy="441350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192" cy="4413504"/>
            </a:xfrm>
            <a:custGeom>
              <a:avLst/>
              <a:gdLst/>
              <a:ahLst/>
              <a:cxnLst/>
              <a:rect r="r" b="b" t="t" l="l"/>
              <a:pathLst>
                <a:path h="4413504" w="12192">
                  <a:moveTo>
                    <a:pt x="0" y="0"/>
                  </a:moveTo>
                  <a:lnTo>
                    <a:pt x="12192" y="0"/>
                  </a:lnTo>
                  <a:lnTo>
                    <a:pt x="12192" y="4413504"/>
                  </a:lnTo>
                  <a:lnTo>
                    <a:pt x="0" y="44135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p/>
          </p:txBody>
        </p:sp>
      </p:grpSp>
      <p:sp>
        <p:nvSpPr>
          <p:cNvPr name="TextBox 50" id="50"/>
          <p:cNvSpPr txBox="true"/>
          <p:nvPr/>
        </p:nvSpPr>
        <p:spPr>
          <a:xfrm rot="0">
            <a:off x="5618131" y="5962145"/>
            <a:ext cx="3988956" cy="662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2"/>
              </a:lnSpc>
            </a:pPr>
            <a:r>
              <a:rPr lang="en-US" sz="1275" b="true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INCOIS's own fishing-zone advisories</a:t>
            </a: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, all fourteen sectors as published, beside today's waves and wind. Our indicator says "not an advisory".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765220" y="2234346"/>
            <a:ext cx="3988956" cy="293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4"/>
              </a:lnSpc>
            </a:pPr>
            <a:r>
              <a:rPr lang="en-US" sz="1624" b="true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Students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9765220" y="2610183"/>
            <a:ext cx="3891058" cy="3310128"/>
            <a:chOff x="0" y="0"/>
            <a:chExt cx="5188077" cy="4413504"/>
          </a:xfrm>
        </p:grpSpPr>
        <p:sp>
          <p:nvSpPr>
            <p:cNvPr name="Freeform 53" id="53" descr="crop-learn.jpg"/>
            <p:cNvSpPr/>
            <p:nvPr/>
          </p:nvSpPr>
          <p:spPr>
            <a:xfrm flipH="false" flipV="false" rot="0">
              <a:off x="0" y="0"/>
              <a:ext cx="5188077" cy="4413504"/>
            </a:xfrm>
            <a:custGeom>
              <a:avLst/>
              <a:gdLst/>
              <a:ahLst/>
              <a:cxnLst/>
              <a:rect r="r" b="b" t="t" l="l"/>
              <a:pathLst>
                <a:path h="4413504" w="5188077">
                  <a:moveTo>
                    <a:pt x="0" y="0"/>
                  </a:moveTo>
                  <a:lnTo>
                    <a:pt x="5188077" y="0"/>
                  </a:lnTo>
                  <a:lnTo>
                    <a:pt x="5188077" y="4413504"/>
                  </a:lnTo>
                  <a:lnTo>
                    <a:pt x="0" y="4413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61079" b="0"/>
              </a:stretch>
            </a:blipFill>
          </p:spPr>
          <p:txBody>
            <a:bodyPr/>
            <a:p/>
          </p:txBody>
        </p:sp>
      </p:grpSp>
      <p:grpSp>
        <p:nvGrpSpPr>
          <p:cNvPr name="Group 54" id="54"/>
          <p:cNvGrpSpPr/>
          <p:nvPr/>
        </p:nvGrpSpPr>
        <p:grpSpPr>
          <a:xfrm rot="0">
            <a:off x="9765220" y="2610183"/>
            <a:ext cx="3891058" cy="9144"/>
            <a:chOff x="0" y="0"/>
            <a:chExt cx="5188077" cy="1219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188077" cy="12192"/>
            </a:xfrm>
            <a:custGeom>
              <a:avLst/>
              <a:gdLst/>
              <a:ahLst/>
              <a:cxnLst/>
              <a:rect r="r" b="b" t="t" l="l"/>
              <a:pathLst>
                <a:path h="12192" w="5188077">
                  <a:moveTo>
                    <a:pt x="0" y="0"/>
                  </a:moveTo>
                  <a:lnTo>
                    <a:pt x="5188077" y="0"/>
                  </a:lnTo>
                  <a:lnTo>
                    <a:pt x="5188077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p/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647134" y="2610183"/>
            <a:ext cx="9144" cy="3310128"/>
            <a:chOff x="0" y="0"/>
            <a:chExt cx="12192" cy="441350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2192" cy="4413504"/>
            </a:xfrm>
            <a:custGeom>
              <a:avLst/>
              <a:gdLst/>
              <a:ahLst/>
              <a:cxnLst/>
              <a:rect r="r" b="b" t="t" l="l"/>
              <a:pathLst>
                <a:path h="4413504" w="12192">
                  <a:moveTo>
                    <a:pt x="0" y="0"/>
                  </a:moveTo>
                  <a:lnTo>
                    <a:pt x="12192" y="0"/>
                  </a:lnTo>
                  <a:lnTo>
                    <a:pt x="12192" y="4413504"/>
                  </a:lnTo>
                  <a:lnTo>
                    <a:pt x="0" y="44135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p/>
          </p:txBody>
        </p:sp>
      </p:grpSp>
      <p:grpSp>
        <p:nvGrpSpPr>
          <p:cNvPr name="Group 58" id="58"/>
          <p:cNvGrpSpPr/>
          <p:nvPr/>
        </p:nvGrpSpPr>
        <p:grpSpPr>
          <a:xfrm rot="0">
            <a:off x="9765220" y="5911167"/>
            <a:ext cx="3891058" cy="9144"/>
            <a:chOff x="0" y="0"/>
            <a:chExt cx="5188077" cy="1219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188077" cy="12192"/>
            </a:xfrm>
            <a:custGeom>
              <a:avLst/>
              <a:gdLst/>
              <a:ahLst/>
              <a:cxnLst/>
              <a:rect r="r" b="b" t="t" l="l"/>
              <a:pathLst>
                <a:path h="12192" w="5188077">
                  <a:moveTo>
                    <a:pt x="0" y="0"/>
                  </a:moveTo>
                  <a:lnTo>
                    <a:pt x="5188077" y="0"/>
                  </a:lnTo>
                  <a:lnTo>
                    <a:pt x="5188077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p/>
          </p:txBody>
        </p:sp>
      </p:grpSp>
      <p:grpSp>
        <p:nvGrpSpPr>
          <p:cNvPr name="Group 60" id="60"/>
          <p:cNvGrpSpPr/>
          <p:nvPr/>
        </p:nvGrpSpPr>
        <p:grpSpPr>
          <a:xfrm rot="0">
            <a:off x="9765220" y="2610183"/>
            <a:ext cx="9144" cy="3310128"/>
            <a:chOff x="0" y="0"/>
            <a:chExt cx="12192" cy="441350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2192" cy="4413504"/>
            </a:xfrm>
            <a:custGeom>
              <a:avLst/>
              <a:gdLst/>
              <a:ahLst/>
              <a:cxnLst/>
              <a:rect r="r" b="b" t="t" l="l"/>
              <a:pathLst>
                <a:path h="4413504" w="12192">
                  <a:moveTo>
                    <a:pt x="0" y="0"/>
                  </a:moveTo>
                  <a:lnTo>
                    <a:pt x="12192" y="0"/>
                  </a:lnTo>
                  <a:lnTo>
                    <a:pt x="12192" y="4413504"/>
                  </a:lnTo>
                  <a:lnTo>
                    <a:pt x="0" y="44135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p/>
          </p:txBody>
        </p:sp>
      </p:grpSp>
      <p:sp>
        <p:nvSpPr>
          <p:cNvPr name="TextBox 62" id="62"/>
          <p:cNvSpPr txBox="true"/>
          <p:nvPr/>
        </p:nvSpPr>
        <p:spPr>
          <a:xfrm rot="0">
            <a:off x="9765220" y="5962145"/>
            <a:ext cx="3988956" cy="662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2"/>
              </a:lnSpc>
            </a:pPr>
            <a:r>
              <a:rPr lang="en-US" sz="1275" b="true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Six lessons for class 8–12</a:t>
            </a: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 on real data; quiz answers are read from the cube on screen, never from the language model.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3912310" y="2234346"/>
            <a:ext cx="3988956" cy="293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4"/>
              </a:lnSpc>
            </a:pPr>
            <a:r>
              <a:rPr lang="en-US" sz="1624" b="true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Public and policymakers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3912310" y="2610183"/>
            <a:ext cx="3891058" cy="3310128"/>
            <a:chOff x="0" y="0"/>
            <a:chExt cx="5188077" cy="4413504"/>
          </a:xfrm>
        </p:grpSpPr>
        <p:sp>
          <p:nvSpPr>
            <p:cNvPr name="Freeform 65" id="65" descr="crop-immersive.jpg"/>
            <p:cNvSpPr/>
            <p:nvPr/>
          </p:nvSpPr>
          <p:spPr>
            <a:xfrm flipH="false" flipV="false" rot="0">
              <a:off x="0" y="0"/>
              <a:ext cx="5188077" cy="4413504"/>
            </a:xfrm>
            <a:custGeom>
              <a:avLst/>
              <a:gdLst/>
              <a:ahLst/>
              <a:cxnLst/>
              <a:rect r="r" b="b" t="t" l="l"/>
              <a:pathLst>
                <a:path h="4413504" w="5188077">
                  <a:moveTo>
                    <a:pt x="0" y="0"/>
                  </a:moveTo>
                  <a:lnTo>
                    <a:pt x="5188077" y="0"/>
                  </a:lnTo>
                  <a:lnTo>
                    <a:pt x="5188077" y="4413504"/>
                  </a:lnTo>
                  <a:lnTo>
                    <a:pt x="0" y="4413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31667" t="0" r="-31667" b="0"/>
              </a:stretch>
            </a:blipFill>
          </p:spPr>
          <p:txBody>
            <a:bodyPr/>
            <a:p/>
          </p:txBody>
        </p:sp>
      </p:grpSp>
      <p:grpSp>
        <p:nvGrpSpPr>
          <p:cNvPr name="Group 66" id="66"/>
          <p:cNvGrpSpPr/>
          <p:nvPr/>
        </p:nvGrpSpPr>
        <p:grpSpPr>
          <a:xfrm rot="0">
            <a:off x="13912310" y="2610183"/>
            <a:ext cx="3891058" cy="9144"/>
            <a:chOff x="0" y="0"/>
            <a:chExt cx="5188077" cy="1219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188077" cy="12192"/>
            </a:xfrm>
            <a:custGeom>
              <a:avLst/>
              <a:gdLst/>
              <a:ahLst/>
              <a:cxnLst/>
              <a:rect r="r" b="b" t="t" l="l"/>
              <a:pathLst>
                <a:path h="12192" w="5188077">
                  <a:moveTo>
                    <a:pt x="0" y="0"/>
                  </a:moveTo>
                  <a:lnTo>
                    <a:pt x="5188077" y="0"/>
                  </a:lnTo>
                  <a:lnTo>
                    <a:pt x="5188077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p/>
          </p:txBody>
        </p:sp>
      </p:grpSp>
      <p:grpSp>
        <p:nvGrpSpPr>
          <p:cNvPr name="Group 68" id="68"/>
          <p:cNvGrpSpPr/>
          <p:nvPr/>
        </p:nvGrpSpPr>
        <p:grpSpPr>
          <a:xfrm rot="0">
            <a:off x="17794224" y="2610183"/>
            <a:ext cx="9144" cy="3310128"/>
            <a:chOff x="0" y="0"/>
            <a:chExt cx="12192" cy="441350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2192" cy="4413504"/>
            </a:xfrm>
            <a:custGeom>
              <a:avLst/>
              <a:gdLst/>
              <a:ahLst/>
              <a:cxnLst/>
              <a:rect r="r" b="b" t="t" l="l"/>
              <a:pathLst>
                <a:path h="4413504" w="12192">
                  <a:moveTo>
                    <a:pt x="0" y="0"/>
                  </a:moveTo>
                  <a:lnTo>
                    <a:pt x="12192" y="0"/>
                  </a:lnTo>
                  <a:lnTo>
                    <a:pt x="12192" y="4413504"/>
                  </a:lnTo>
                  <a:lnTo>
                    <a:pt x="0" y="44135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p/>
          </p:txBody>
        </p:sp>
      </p:grpSp>
      <p:grpSp>
        <p:nvGrpSpPr>
          <p:cNvPr name="Group 70" id="70"/>
          <p:cNvGrpSpPr/>
          <p:nvPr/>
        </p:nvGrpSpPr>
        <p:grpSpPr>
          <a:xfrm rot="0">
            <a:off x="13912310" y="5911167"/>
            <a:ext cx="3891058" cy="9144"/>
            <a:chOff x="0" y="0"/>
            <a:chExt cx="5188077" cy="1219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188077" cy="12192"/>
            </a:xfrm>
            <a:custGeom>
              <a:avLst/>
              <a:gdLst/>
              <a:ahLst/>
              <a:cxnLst/>
              <a:rect r="r" b="b" t="t" l="l"/>
              <a:pathLst>
                <a:path h="12192" w="5188077">
                  <a:moveTo>
                    <a:pt x="0" y="0"/>
                  </a:moveTo>
                  <a:lnTo>
                    <a:pt x="5188077" y="0"/>
                  </a:lnTo>
                  <a:lnTo>
                    <a:pt x="5188077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p/>
          </p:txBody>
        </p:sp>
      </p:grpSp>
      <p:grpSp>
        <p:nvGrpSpPr>
          <p:cNvPr name="Group 72" id="72"/>
          <p:cNvGrpSpPr/>
          <p:nvPr/>
        </p:nvGrpSpPr>
        <p:grpSpPr>
          <a:xfrm rot="0">
            <a:off x="13912310" y="2610183"/>
            <a:ext cx="9144" cy="3310128"/>
            <a:chOff x="0" y="0"/>
            <a:chExt cx="12192" cy="441350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2192" cy="4413504"/>
            </a:xfrm>
            <a:custGeom>
              <a:avLst/>
              <a:gdLst/>
              <a:ahLst/>
              <a:cxnLst/>
              <a:rect r="r" b="b" t="t" l="l"/>
              <a:pathLst>
                <a:path h="4413504" w="12192">
                  <a:moveTo>
                    <a:pt x="0" y="0"/>
                  </a:moveTo>
                  <a:lnTo>
                    <a:pt x="12192" y="0"/>
                  </a:lnTo>
                  <a:lnTo>
                    <a:pt x="12192" y="4413504"/>
                  </a:lnTo>
                  <a:lnTo>
                    <a:pt x="0" y="4413504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p/>
          </p:txBody>
        </p:sp>
      </p:grpSp>
      <p:sp>
        <p:nvSpPr>
          <p:cNvPr name="TextBox 74" id="74"/>
          <p:cNvSpPr txBox="true"/>
          <p:nvPr/>
        </p:nvSpPr>
        <p:spPr>
          <a:xfrm rot="0">
            <a:off x="13912310" y="5962145"/>
            <a:ext cx="3988956" cy="662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2"/>
              </a:lnSpc>
            </a:pPr>
            <a:r>
              <a:rPr lang="en-US" sz="1275" b="true">
                <a:solidFill>
                  <a:srgbClr val="16202B"/>
                </a:solidFill>
                <a:latin typeface="Arial Bold"/>
                <a:ea typeface="Arial Bold"/>
                <a:cs typeface="Arial Bold"/>
                <a:sym typeface="Arial Bold"/>
              </a:rPr>
              <a:t>Immersive view and cinematic tour</a:t>
            </a:r>
            <a:r>
              <a:rPr lang="en-US" sz="1275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: one day of the planet's currents and winds, for exhibitions and awareness campaigns.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512064" y="6885222"/>
            <a:ext cx="17800625" cy="293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4"/>
              </a:lnSpc>
            </a:pPr>
            <a:r>
              <a:rPr lang="en-US" sz="1674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BENEFITS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365760" y="7218645"/>
            <a:ext cx="5608272" cy="1961026"/>
            <a:chOff x="0" y="0"/>
            <a:chExt cx="7477696" cy="261470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477633" cy="2614676"/>
            </a:xfrm>
            <a:custGeom>
              <a:avLst/>
              <a:gdLst/>
              <a:ahLst/>
              <a:cxnLst/>
              <a:rect r="r" b="b" t="t" l="l"/>
              <a:pathLst>
                <a:path h="2614676" w="7477633">
                  <a:moveTo>
                    <a:pt x="0" y="0"/>
                  </a:moveTo>
                  <a:lnTo>
                    <a:pt x="7477633" y="0"/>
                  </a:lnTo>
                  <a:lnTo>
                    <a:pt x="7477633" y="2614676"/>
                  </a:lnTo>
                  <a:lnTo>
                    <a:pt x="0" y="26146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grpSp>
        <p:nvGrpSpPr>
          <p:cNvPr name="Group 78" id="78"/>
          <p:cNvGrpSpPr/>
          <p:nvPr/>
        </p:nvGrpSpPr>
        <p:grpSpPr>
          <a:xfrm rot="0">
            <a:off x="365760" y="7218645"/>
            <a:ext cx="5608272" cy="36576"/>
            <a:chOff x="0" y="0"/>
            <a:chExt cx="7477696" cy="4876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7477633" cy="48768"/>
            </a:xfrm>
            <a:custGeom>
              <a:avLst/>
              <a:gdLst/>
              <a:ahLst/>
              <a:cxnLst/>
              <a:rect r="r" b="b" t="t" l="l"/>
              <a:pathLst>
                <a:path h="48768" w="7477633">
                  <a:moveTo>
                    <a:pt x="0" y="0"/>
                  </a:moveTo>
                  <a:lnTo>
                    <a:pt x="7477633" y="0"/>
                  </a:lnTo>
                  <a:lnTo>
                    <a:pt x="7477633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p/>
          </p:txBody>
        </p:sp>
      </p:grpSp>
      <p:sp>
        <p:nvSpPr>
          <p:cNvPr name="TextBox 80" id="80"/>
          <p:cNvSpPr txBox="true"/>
          <p:nvPr/>
        </p:nvSpPr>
        <p:spPr>
          <a:xfrm rot="0">
            <a:off x="502920" y="7305989"/>
            <a:ext cx="5493972" cy="30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699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Social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667512" y="7615418"/>
            <a:ext cx="5324437" cy="503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15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Disaster preparedness: the warm layer a cyclone feeds on, seen in 3D, with cyclone heat potential per float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667512" y="8089335"/>
            <a:ext cx="5324437" cy="503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15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Safety at sea: the official advisory first, with the sea state beside it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667512" y="8564513"/>
            <a:ext cx="5020770" cy="503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15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Ocean literacy: a course in any school browser, on the same data forecasters use</a:t>
            </a:r>
          </a:p>
        </p:txBody>
      </p:sp>
      <p:grpSp>
        <p:nvGrpSpPr>
          <p:cNvPr name="Group 84" id="84"/>
          <p:cNvGrpSpPr/>
          <p:nvPr/>
        </p:nvGrpSpPr>
        <p:grpSpPr>
          <a:xfrm rot="0">
            <a:off x="6202632" y="7218645"/>
            <a:ext cx="5608339" cy="1961026"/>
            <a:chOff x="0" y="0"/>
            <a:chExt cx="7477785" cy="261470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477760" cy="2614676"/>
            </a:xfrm>
            <a:custGeom>
              <a:avLst/>
              <a:gdLst/>
              <a:ahLst/>
              <a:cxnLst/>
              <a:rect r="r" b="b" t="t" l="l"/>
              <a:pathLst>
                <a:path h="2614676" w="7477760">
                  <a:moveTo>
                    <a:pt x="0" y="0"/>
                  </a:moveTo>
                  <a:lnTo>
                    <a:pt x="7477760" y="0"/>
                  </a:lnTo>
                  <a:lnTo>
                    <a:pt x="7477760" y="2614676"/>
                  </a:lnTo>
                  <a:lnTo>
                    <a:pt x="0" y="2614676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/>
            <a:p/>
          </p:txBody>
        </p:sp>
      </p:grpSp>
      <p:grpSp>
        <p:nvGrpSpPr>
          <p:cNvPr name="Group 86" id="86"/>
          <p:cNvGrpSpPr/>
          <p:nvPr/>
        </p:nvGrpSpPr>
        <p:grpSpPr>
          <a:xfrm rot="0">
            <a:off x="6202632" y="7218645"/>
            <a:ext cx="5608339" cy="36576"/>
            <a:chOff x="0" y="0"/>
            <a:chExt cx="7477785" cy="4876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477760" cy="48768"/>
            </a:xfrm>
            <a:custGeom>
              <a:avLst/>
              <a:gdLst/>
              <a:ahLst/>
              <a:cxnLst/>
              <a:rect r="r" b="b" t="t" l="l"/>
              <a:pathLst>
                <a:path h="48768" w="7477760">
                  <a:moveTo>
                    <a:pt x="0" y="0"/>
                  </a:moveTo>
                  <a:lnTo>
                    <a:pt x="7477760" y="0"/>
                  </a:lnTo>
                  <a:lnTo>
                    <a:pt x="7477760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p/>
          </p:txBody>
        </p:sp>
      </p:grpSp>
      <p:sp>
        <p:nvSpPr>
          <p:cNvPr name="TextBox 88" id="88"/>
          <p:cNvSpPr txBox="true"/>
          <p:nvPr/>
        </p:nvSpPr>
        <p:spPr>
          <a:xfrm rot="0">
            <a:off x="6339792" y="7305989"/>
            <a:ext cx="5494049" cy="30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699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Economic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6504384" y="7615418"/>
            <a:ext cx="5324513" cy="503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15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Open source, no licences; a static site and one server (1 GB of memory measured enough)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6504384" y="8089335"/>
            <a:ext cx="5324513" cy="503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15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No archive to buy or store: public data is read where it lives, a day at a time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6504384" y="8563251"/>
            <a:ext cx="5324513" cy="503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15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Fishing advisories exist to cut search time at sea; here they sit where boats plan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12039571" y="7218645"/>
            <a:ext cx="5608272" cy="1961026"/>
            <a:chOff x="0" y="0"/>
            <a:chExt cx="7477696" cy="261470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7477633" cy="2614676"/>
            </a:xfrm>
            <a:custGeom>
              <a:avLst/>
              <a:gdLst/>
              <a:ahLst/>
              <a:cxnLst/>
              <a:rect r="r" b="b" t="t" l="l"/>
              <a:pathLst>
                <a:path h="2614676" w="7477633">
                  <a:moveTo>
                    <a:pt x="0" y="0"/>
                  </a:moveTo>
                  <a:lnTo>
                    <a:pt x="7477633" y="0"/>
                  </a:lnTo>
                  <a:lnTo>
                    <a:pt x="7477633" y="2614676"/>
                  </a:lnTo>
                  <a:lnTo>
                    <a:pt x="0" y="2614676"/>
                  </a:lnTo>
                  <a:close/>
                </a:path>
              </a:pathLst>
            </a:custGeom>
            <a:solidFill>
              <a:srgbClr val="DFE7F1"/>
            </a:solidFill>
          </p:spPr>
          <p:txBody>
            <a:bodyPr/>
            <a:p/>
          </p:txBody>
        </p:sp>
      </p:grpSp>
      <p:grpSp>
        <p:nvGrpSpPr>
          <p:cNvPr name="Group 94" id="94"/>
          <p:cNvGrpSpPr/>
          <p:nvPr/>
        </p:nvGrpSpPr>
        <p:grpSpPr>
          <a:xfrm rot="0">
            <a:off x="12039571" y="7218645"/>
            <a:ext cx="5608272" cy="36576"/>
            <a:chOff x="0" y="0"/>
            <a:chExt cx="7477696" cy="48768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7477633" cy="48768"/>
            </a:xfrm>
            <a:custGeom>
              <a:avLst/>
              <a:gdLst/>
              <a:ahLst/>
              <a:cxnLst/>
              <a:rect r="r" b="b" t="t" l="l"/>
              <a:pathLst>
                <a:path h="48768" w="7477633">
                  <a:moveTo>
                    <a:pt x="0" y="0"/>
                  </a:moveTo>
                  <a:lnTo>
                    <a:pt x="7477633" y="0"/>
                  </a:lnTo>
                  <a:lnTo>
                    <a:pt x="7477633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/>
            <a:p/>
          </p:txBody>
        </p:sp>
      </p:grpSp>
      <p:sp>
        <p:nvSpPr>
          <p:cNvPr name="TextBox 96" id="96"/>
          <p:cNvSpPr txBox="true"/>
          <p:nvPr/>
        </p:nvSpPr>
        <p:spPr>
          <a:xfrm rot="0">
            <a:off x="12176731" y="7305989"/>
            <a:ext cx="5493972" cy="30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699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Environmental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2341323" y="7615418"/>
            <a:ext cx="5324437" cy="503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15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Climate monitoring: every day since 1993 for 17 variables, in one view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2341323" y="8089335"/>
            <a:ext cx="5324437" cy="503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15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Oxygen-poor layers, chlorophyll and nutrients as 3D blocks, not flat maps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2341323" y="8563251"/>
            <a:ext cx="5324437" cy="503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1549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Where the model is uncertain or unmeasured is shown, so decisions know the limits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400000" y="6900000"/>
            <a:ext cx="15400000" cy="260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4F5B69"/>
                </a:solidFill>
                <a:latin typeface="Arial"/>
              </a:rPr>
              <a:t>Scale: any box on Earth, not only the Bay; 6 other regions measured, under 0.4 s cached. Next: marine heatwaves, oil-spill drift.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000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Team Null · K26125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  <p:txBody>
            <a:bodyPr/>
            <a:p/>
          </p:txBody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28046" y="378371"/>
            <a:ext cx="1210999" cy="1210999"/>
            <a:chOff x="0" y="0"/>
            <a:chExt cx="1614665" cy="1614665"/>
          </a:xfrm>
        </p:grpSpPr>
        <p:sp>
          <p:nvSpPr>
            <p:cNvPr name="Freeform 16" id="16" descr="logo.png"/>
            <p:cNvSpPr/>
            <p:nvPr/>
          </p:nvSpPr>
          <p:spPr>
            <a:xfrm flipH="false" flipV="false" rot="0">
              <a:off x="0" y="0"/>
              <a:ext cx="1614678" cy="1614678"/>
            </a:xfrm>
            <a:custGeom>
              <a:avLst/>
              <a:gdLst/>
              <a:ahLst/>
              <a:cxnLst/>
              <a:rect r="r" b="b" t="t" l="l"/>
              <a:pathLst>
                <a:path h="1614678" w="1614678">
                  <a:moveTo>
                    <a:pt x="0" y="0"/>
                  </a:moveTo>
                  <a:lnTo>
                    <a:pt x="1614678" y="0"/>
                  </a:lnTo>
                  <a:lnTo>
                    <a:pt x="1614678" y="1614678"/>
                  </a:lnTo>
                  <a:lnTo>
                    <a:pt x="0" y="1614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02920" y="1869948"/>
            <a:ext cx="17282160" cy="503987"/>
            <a:chOff x="0" y="0"/>
            <a:chExt cx="23042880" cy="67198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042880" cy="671957"/>
            </a:xfrm>
            <a:custGeom>
              <a:avLst/>
              <a:gdLst/>
              <a:ahLst/>
              <a:cxnLst/>
              <a:rect r="r" b="b" t="t" l="l"/>
              <a:pathLst>
                <a:path h="671957" w="23042880">
                  <a:moveTo>
                    <a:pt x="0" y="0"/>
                  </a:moveTo>
                  <a:lnTo>
                    <a:pt x="23042880" y="0"/>
                  </a:lnTo>
                  <a:lnTo>
                    <a:pt x="23042880" y="671957"/>
                  </a:lnTo>
                  <a:lnTo>
                    <a:pt x="0" y="671957"/>
                  </a:lnTo>
                  <a:close/>
                </a:path>
              </a:pathLst>
            </a:custGeom>
            <a:solidFill>
              <a:srgbClr val="1F4E79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58368" y="1949167"/>
            <a:ext cx="4276725" cy="303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Source code, docs and every measured number: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993405" y="1941405"/>
            <a:ext cx="4340666" cy="284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725" u="sng">
                <a:solidFill>
                  <a:srgbClr val="9ED8FF"/>
                </a:solidFill>
                <a:latin typeface="Courier New"/>
                <a:ea typeface="Courier New"/>
                <a:cs typeface="Courier New"/>
                <a:sym typeface="Courier New"/>
                <a:hlinkClick r:id="rId6" tooltip="https://github.com/Kukyos/VVater"/>
              </a:rPr>
              <a:t>https://github.com/Kukyos/VVater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02920" y="2469071"/>
            <a:ext cx="5908081" cy="315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5"/>
              </a:lnSpc>
            </a:pPr>
            <a:r>
              <a:rPr lang="en-US" sz="1575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DATA, EACH SOURCE PROBED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02920" y="2825277"/>
            <a:ext cx="5736003" cy="9144"/>
            <a:chOff x="0" y="0"/>
            <a:chExt cx="7648004" cy="121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647940" cy="12192"/>
            </a:xfrm>
            <a:custGeom>
              <a:avLst/>
              <a:gdLst/>
              <a:ahLst/>
              <a:cxnLst/>
              <a:rect r="r" b="b" t="t" l="l"/>
              <a:pathLst>
                <a:path h="12192" w="7647940">
                  <a:moveTo>
                    <a:pt x="0" y="0"/>
                  </a:moveTo>
                  <a:lnTo>
                    <a:pt x="7647940" y="0"/>
                  </a:lnTo>
                  <a:lnTo>
                    <a:pt x="764794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502920" y="2906811"/>
            <a:ext cx="457200" cy="238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95528" y="2902229"/>
            <a:ext cx="5606691" cy="449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Copernicus Marine GLORYS12 and global analysis &amp; forecast, physics and biogeochemistry, as ARCO stores.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The cube.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95528" y="3350085"/>
            <a:ext cx="5606691" cy="197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7" tooltip="https://data.marine.copernicus.eu/product/GLOBAL_MULTIYEAR_PHY_001_030"/>
              </a:rPr>
              <a:t>data.marine.copernicus.eu/product/GLOBAL_MULTIYEAR_PHY_001_030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502920" y="3675174"/>
            <a:ext cx="5736003" cy="9144"/>
            <a:chOff x="0" y="0"/>
            <a:chExt cx="7648004" cy="121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647940" cy="12192"/>
            </a:xfrm>
            <a:custGeom>
              <a:avLst/>
              <a:gdLst/>
              <a:ahLst/>
              <a:cxnLst/>
              <a:rect r="r" b="b" t="t" l="l"/>
              <a:pathLst>
                <a:path h="12192" w="7647940">
                  <a:moveTo>
                    <a:pt x="0" y="0"/>
                  </a:moveTo>
                  <a:lnTo>
                    <a:pt x="7647940" y="0"/>
                  </a:lnTo>
                  <a:lnTo>
                    <a:pt x="764794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502920" y="3756708"/>
            <a:ext cx="457200" cy="238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95528" y="3752117"/>
            <a:ext cx="5606691" cy="475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INCOIS ERDDAP, Argo 10-day variational analysis with per-cell error.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The Bay volume.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95528" y="4199973"/>
            <a:ext cx="5606691" cy="197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8" tooltip="https://erddap.incois.gov.in/erddap"/>
              </a:rPr>
              <a:t>erddap.incois.gov.in/erddap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502920" y="4525061"/>
            <a:ext cx="5736003" cy="9144"/>
            <a:chOff x="0" y="0"/>
            <a:chExt cx="7648004" cy="121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647940" cy="12192"/>
            </a:xfrm>
            <a:custGeom>
              <a:avLst/>
              <a:gdLst/>
              <a:ahLst/>
              <a:cxnLst/>
              <a:rect r="r" b="b" t="t" l="l"/>
              <a:pathLst>
                <a:path h="12192" w="7647940">
                  <a:moveTo>
                    <a:pt x="0" y="0"/>
                  </a:moveTo>
                  <a:lnTo>
                    <a:pt x="7647940" y="0"/>
                  </a:lnTo>
                  <a:lnTo>
                    <a:pt x="764794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502920" y="4606595"/>
            <a:ext cx="457200" cy="238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95528" y="4602013"/>
            <a:ext cx="5606691" cy="251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Ifremer Argo ERDDAP, core and synthetic BGC floats.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Floats anywhere.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95528" y="4826622"/>
            <a:ext cx="5606691" cy="197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9" tooltip="https://erddap.ifremer.fr/erddap"/>
              </a:rPr>
              <a:t>erddap.ifremer.fr/erddap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502920" y="5151711"/>
            <a:ext cx="5736003" cy="9144"/>
            <a:chOff x="0" y="0"/>
            <a:chExt cx="7648004" cy="121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647940" cy="12192"/>
            </a:xfrm>
            <a:custGeom>
              <a:avLst/>
              <a:gdLst/>
              <a:ahLst/>
              <a:cxnLst/>
              <a:rect r="r" b="b" t="t" l="l"/>
              <a:pathLst>
                <a:path h="12192" w="7647940">
                  <a:moveTo>
                    <a:pt x="0" y="0"/>
                  </a:moveTo>
                  <a:lnTo>
                    <a:pt x="7647940" y="0"/>
                  </a:lnTo>
                  <a:lnTo>
                    <a:pt x="764794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502920" y="5233245"/>
            <a:ext cx="457200" cy="238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4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95528" y="5228663"/>
            <a:ext cx="5606691" cy="251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Argo GDAC, HTTPS mirror.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Float files, QC flags, data mode.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95528" y="5453272"/>
            <a:ext cx="5606691" cy="197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10" tooltip="https://data-argo.ifremer.fr"/>
              </a:rPr>
              <a:t>data-argo.ifremer.fr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502920" y="5778360"/>
            <a:ext cx="5736003" cy="9144"/>
            <a:chOff x="0" y="0"/>
            <a:chExt cx="7648004" cy="121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647940" cy="12192"/>
            </a:xfrm>
            <a:custGeom>
              <a:avLst/>
              <a:gdLst/>
              <a:ahLst/>
              <a:cxnLst/>
              <a:rect r="r" b="b" t="t" l="l"/>
              <a:pathLst>
                <a:path h="12192" w="7647940">
                  <a:moveTo>
                    <a:pt x="0" y="0"/>
                  </a:moveTo>
                  <a:lnTo>
                    <a:pt x="7647940" y="0"/>
                  </a:lnTo>
                  <a:lnTo>
                    <a:pt x="764794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502920" y="5859894"/>
            <a:ext cx="457200" cy="238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5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95528" y="5855313"/>
            <a:ext cx="5606691" cy="251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U.S. IOOS Glider DAC, Rutgers </a:t>
            </a:r>
            <a:r>
              <a:rPr lang="en-US" sz="1350" i="true">
                <a:solidFill>
                  <a:srgbClr val="16202B"/>
                </a:solidFill>
                <a:latin typeface="Arial Italics"/>
                <a:ea typeface="Arial Italics"/>
                <a:cs typeface="Arial Italics"/>
                <a:sym typeface="Arial Italics"/>
              </a:rPr>
              <a:t>ru29</a:t>
            </a: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The independent check.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95528" y="6079922"/>
            <a:ext cx="5606691" cy="197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11" tooltip="https://gliders.ioos.us/erddap"/>
              </a:rPr>
              <a:t>gliders.ioos.us/erddap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502920" y="6405010"/>
            <a:ext cx="5736003" cy="9144"/>
            <a:chOff x="0" y="0"/>
            <a:chExt cx="7648004" cy="121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647940" cy="12192"/>
            </a:xfrm>
            <a:custGeom>
              <a:avLst/>
              <a:gdLst/>
              <a:ahLst/>
              <a:cxnLst/>
              <a:rect r="r" b="b" t="t" l="l"/>
              <a:pathLst>
                <a:path h="12192" w="7647940">
                  <a:moveTo>
                    <a:pt x="0" y="0"/>
                  </a:moveTo>
                  <a:lnTo>
                    <a:pt x="7647940" y="0"/>
                  </a:lnTo>
                  <a:lnTo>
                    <a:pt x="764794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502920" y="6486544"/>
            <a:ext cx="457200" cy="238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6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95528" y="6481963"/>
            <a:ext cx="5606691" cy="251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INCOIS Potential Fishing Zone advisories.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Read as published.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95528" y="6706572"/>
            <a:ext cx="5606691" cy="197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12" tooltip="https://incois.gov.in/MarineFisheries/TextDataHome?mfid=1"/>
              </a:rPr>
              <a:t>incois.gov.in/MarineFisheries/TextDataHome?mfid=1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502920" y="7031660"/>
            <a:ext cx="5736003" cy="9144"/>
            <a:chOff x="0" y="0"/>
            <a:chExt cx="7648004" cy="1219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647940" cy="12192"/>
            </a:xfrm>
            <a:custGeom>
              <a:avLst/>
              <a:gdLst/>
              <a:ahLst/>
              <a:cxnLst/>
              <a:rect r="r" b="b" t="t" l="l"/>
              <a:pathLst>
                <a:path h="12192" w="7647940">
                  <a:moveTo>
                    <a:pt x="0" y="0"/>
                  </a:moveTo>
                  <a:lnTo>
                    <a:pt x="7647940" y="0"/>
                  </a:lnTo>
                  <a:lnTo>
                    <a:pt x="764794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502920" y="7113194"/>
            <a:ext cx="457200" cy="238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7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95528" y="7108612"/>
            <a:ext cx="5606691" cy="251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NCEP GFS 10 m wind via UCAR THREDDS.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Wind forecast.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795528" y="7333221"/>
            <a:ext cx="5606691" cy="197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13" tooltip="https://thredds.ucar.edu"/>
              </a:rPr>
              <a:t>thredds.ucar.edu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502920" y="7658310"/>
            <a:ext cx="5736003" cy="9144"/>
            <a:chOff x="0" y="0"/>
            <a:chExt cx="7648004" cy="1219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647940" cy="12192"/>
            </a:xfrm>
            <a:custGeom>
              <a:avLst/>
              <a:gdLst/>
              <a:ahLst/>
              <a:cxnLst/>
              <a:rect r="r" b="b" t="t" l="l"/>
              <a:pathLst>
                <a:path h="12192" w="7647940">
                  <a:moveTo>
                    <a:pt x="0" y="0"/>
                  </a:moveTo>
                  <a:lnTo>
                    <a:pt x="7647940" y="0"/>
                  </a:lnTo>
                  <a:lnTo>
                    <a:pt x="764794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502920" y="7739844"/>
            <a:ext cx="457200" cy="238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8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95528" y="7735262"/>
            <a:ext cx="5606691" cy="251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NASA GIBS Blue Marble relief.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Land.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795528" y="7959871"/>
            <a:ext cx="5606691" cy="197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14" tooltip="https://gibs.earthdata.nasa.gov"/>
              </a:rPr>
              <a:t>gibs.earthdata.nasa.gov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502920" y="8284959"/>
            <a:ext cx="5736003" cy="9144"/>
            <a:chOff x="0" y="0"/>
            <a:chExt cx="7648004" cy="121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647940" cy="12192"/>
            </a:xfrm>
            <a:custGeom>
              <a:avLst/>
              <a:gdLst/>
              <a:ahLst/>
              <a:cxnLst/>
              <a:rect r="r" b="b" t="t" l="l"/>
              <a:pathLst>
                <a:path h="12192" w="7647940">
                  <a:moveTo>
                    <a:pt x="0" y="0"/>
                  </a:moveTo>
                  <a:lnTo>
                    <a:pt x="7647940" y="0"/>
                  </a:lnTo>
                  <a:lnTo>
                    <a:pt x="764794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</p:sp>
      </p:grpSp>
      <p:sp>
        <p:nvSpPr>
          <p:cNvPr name="TextBox 64" id="64"/>
          <p:cNvSpPr txBox="true"/>
          <p:nvPr/>
        </p:nvSpPr>
        <p:spPr>
          <a:xfrm rot="0">
            <a:off x="6558963" y="2469071"/>
            <a:ext cx="5616626" cy="315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5"/>
              </a:lnSpc>
            </a:pPr>
            <a:r>
              <a:rPr lang="en-US" sz="1575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STANDARDS AND METHODS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6558963" y="2825277"/>
            <a:ext cx="5453034" cy="9144"/>
            <a:chOff x="0" y="0"/>
            <a:chExt cx="7270712" cy="1219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270750" cy="12192"/>
            </a:xfrm>
            <a:custGeom>
              <a:avLst/>
              <a:gdLst/>
              <a:ahLst/>
              <a:cxnLst/>
              <a:rect r="r" b="b" t="t" l="l"/>
              <a:pathLst>
                <a:path h="12192" w="7270750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</p:sp>
      </p:grpSp>
      <p:sp>
        <p:nvSpPr>
          <p:cNvPr name="TextBox 67" id="67"/>
          <p:cNvSpPr txBox="true"/>
          <p:nvPr/>
        </p:nvSpPr>
        <p:spPr>
          <a:xfrm rot="0">
            <a:off x="6558963" y="2906811"/>
            <a:ext cx="95399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9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6851571" y="2902229"/>
            <a:ext cx="5315245" cy="251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Wong et al., Argo Quality Control Manual.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QC flags, range test.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6851571" y="3126838"/>
            <a:ext cx="5315245" cy="197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15" tooltip="https://doi.org/10.13155/33951"/>
              </a:rPr>
              <a:t>doi.org/10.13155/33951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6558963" y="3451927"/>
            <a:ext cx="5453034" cy="9144"/>
            <a:chOff x="0" y="0"/>
            <a:chExt cx="7270712" cy="1219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270750" cy="12192"/>
            </a:xfrm>
            <a:custGeom>
              <a:avLst/>
              <a:gdLst/>
              <a:ahLst/>
              <a:cxnLst/>
              <a:rect r="r" b="b" t="t" l="l"/>
              <a:pathLst>
                <a:path h="12192" w="7270750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</p:sp>
      </p:grpSp>
      <p:sp>
        <p:nvSpPr>
          <p:cNvPr name="TextBox 72" id="72"/>
          <p:cNvSpPr txBox="true"/>
          <p:nvPr/>
        </p:nvSpPr>
        <p:spPr>
          <a:xfrm rot="0">
            <a:off x="6558963" y="3533461"/>
            <a:ext cx="190723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10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6851571" y="3528879"/>
            <a:ext cx="5315245" cy="251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U.S. IOOS QARTOD manuals.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Glider QC.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6851571" y="3753488"/>
            <a:ext cx="5315245" cy="197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16" tooltip="https://ioos.noaa.gov/project/qartod"/>
              </a:rPr>
              <a:t>ioos.noaa.gov/project/qartod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6558963" y="4078576"/>
            <a:ext cx="5453034" cy="9144"/>
            <a:chOff x="0" y="0"/>
            <a:chExt cx="7270712" cy="1219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270750" cy="12192"/>
            </a:xfrm>
            <a:custGeom>
              <a:avLst/>
              <a:gdLst/>
              <a:ahLst/>
              <a:cxnLst/>
              <a:rect r="r" b="b" t="t" l="l"/>
              <a:pathLst>
                <a:path h="12192" w="7270750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</p:sp>
      </p:grpSp>
      <p:sp>
        <p:nvSpPr>
          <p:cNvPr name="TextBox 77" id="77"/>
          <p:cNvSpPr txBox="true"/>
          <p:nvPr/>
        </p:nvSpPr>
        <p:spPr>
          <a:xfrm rot="0">
            <a:off x="6558963" y="4160110"/>
            <a:ext cx="190723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11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6851571" y="4155529"/>
            <a:ext cx="5315245" cy="251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CF Conventions for NetCDF.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Read defensively.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6851571" y="4380138"/>
            <a:ext cx="5315245" cy="197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17" tooltip="https://cfconventions.org"/>
              </a:rPr>
              <a:t>cfconventions.org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6558963" y="4705226"/>
            <a:ext cx="5453034" cy="9144"/>
            <a:chOff x="0" y="0"/>
            <a:chExt cx="7270712" cy="1219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270750" cy="12192"/>
            </a:xfrm>
            <a:custGeom>
              <a:avLst/>
              <a:gdLst/>
              <a:ahLst/>
              <a:cxnLst/>
              <a:rect r="r" b="b" t="t" l="l"/>
              <a:pathLst>
                <a:path h="12192" w="7270750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</p:sp>
      </p:grpSp>
      <p:sp>
        <p:nvSpPr>
          <p:cNvPr name="TextBox 82" id="82"/>
          <p:cNvSpPr txBox="true"/>
          <p:nvPr/>
        </p:nvSpPr>
        <p:spPr>
          <a:xfrm rot="0">
            <a:off x="6558963" y="4786760"/>
            <a:ext cx="190723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12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6851571" y="4782179"/>
            <a:ext cx="5315245" cy="251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OGC Web Map Service 1.3.0.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The WMS endpoint.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6851571" y="5006788"/>
            <a:ext cx="5315245" cy="197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18" tooltip="https://ogc.org/standards/wms"/>
              </a:rPr>
              <a:t>ogc.org/standards/wms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6558963" y="5331876"/>
            <a:ext cx="5453034" cy="9144"/>
            <a:chOff x="0" y="0"/>
            <a:chExt cx="7270712" cy="1219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270750" cy="12192"/>
            </a:xfrm>
            <a:custGeom>
              <a:avLst/>
              <a:gdLst/>
              <a:ahLst/>
              <a:cxnLst/>
              <a:rect r="r" b="b" t="t" l="l"/>
              <a:pathLst>
                <a:path h="12192" w="7270750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</p:sp>
      </p:grpSp>
      <p:sp>
        <p:nvSpPr>
          <p:cNvPr name="TextBox 87" id="87"/>
          <p:cNvSpPr txBox="true"/>
          <p:nvPr/>
        </p:nvSpPr>
        <p:spPr>
          <a:xfrm rot="0">
            <a:off x="6558963" y="5413410"/>
            <a:ext cx="190723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13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6851571" y="5408828"/>
            <a:ext cx="5315245" cy="251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IOC, SCOR, IAPSO (2010), TEOS-10.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Density, sound speed.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6851571" y="5633437"/>
            <a:ext cx="5315245" cy="197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19" tooltip="https://teos-10.org"/>
              </a:rPr>
              <a:t>teos-10.org</a:t>
            </a:r>
          </a:p>
        </p:txBody>
      </p:sp>
      <p:grpSp>
        <p:nvGrpSpPr>
          <p:cNvPr name="Group 90" id="90"/>
          <p:cNvGrpSpPr/>
          <p:nvPr/>
        </p:nvGrpSpPr>
        <p:grpSpPr>
          <a:xfrm rot="0">
            <a:off x="6558963" y="5958526"/>
            <a:ext cx="5453034" cy="9144"/>
            <a:chOff x="0" y="0"/>
            <a:chExt cx="7270712" cy="1219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270750" cy="12192"/>
            </a:xfrm>
            <a:custGeom>
              <a:avLst/>
              <a:gdLst/>
              <a:ahLst/>
              <a:cxnLst/>
              <a:rect r="r" b="b" t="t" l="l"/>
              <a:pathLst>
                <a:path h="12192" w="7270750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</p:sp>
      </p:grpSp>
      <p:sp>
        <p:nvSpPr>
          <p:cNvPr name="TextBox 92" id="92"/>
          <p:cNvSpPr txBox="true"/>
          <p:nvPr/>
        </p:nvSpPr>
        <p:spPr>
          <a:xfrm rot="0">
            <a:off x="6558963" y="6040060"/>
            <a:ext cx="190723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14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6851571" y="6035478"/>
            <a:ext cx="5315245" cy="251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Leipper &amp; Volgenau (1972), J. Phys. Oceanogr. 2.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Heat above 26 °C.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6851571" y="6260087"/>
            <a:ext cx="5315245" cy="197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20" tooltip="https://doi.org/10.1175/1520-0485(1972)002%3C0218:HHPOTG%3E2.0.CO;2"/>
              </a:rPr>
              <a:t>doi.org/10.1175/1520-0485(1972)002&lt;0218:HHPOTG&gt;2.0.CO;2</a:t>
            </a:r>
          </a:p>
        </p:txBody>
      </p:sp>
      <p:grpSp>
        <p:nvGrpSpPr>
          <p:cNvPr name="Group 95" id="95"/>
          <p:cNvGrpSpPr/>
          <p:nvPr/>
        </p:nvGrpSpPr>
        <p:grpSpPr>
          <a:xfrm rot="0">
            <a:off x="6558963" y="6585175"/>
            <a:ext cx="5453034" cy="9144"/>
            <a:chOff x="0" y="0"/>
            <a:chExt cx="7270712" cy="1219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7270750" cy="12192"/>
            </a:xfrm>
            <a:custGeom>
              <a:avLst/>
              <a:gdLst/>
              <a:ahLst/>
              <a:cxnLst/>
              <a:rect r="r" b="b" t="t" l="l"/>
              <a:pathLst>
                <a:path h="12192" w="7270750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</p:sp>
      </p:grpSp>
      <p:sp>
        <p:nvSpPr>
          <p:cNvPr name="TextBox 97" id="97"/>
          <p:cNvSpPr txBox="true"/>
          <p:nvPr/>
        </p:nvSpPr>
        <p:spPr>
          <a:xfrm rot="0">
            <a:off x="6558963" y="6666709"/>
            <a:ext cx="190723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15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6851571" y="6662128"/>
            <a:ext cx="5315245" cy="251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Thyng et al. (2016), Oceanography 29(3).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cmocean palettes.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6851571" y="6886737"/>
            <a:ext cx="5315245" cy="197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21" tooltip="https://doi.org/10.5670/oceanog.2016.66"/>
              </a:rPr>
              <a:t>doi.org/10.5670/oceanog.2016.66</a:t>
            </a:r>
          </a:p>
        </p:txBody>
      </p:sp>
      <p:grpSp>
        <p:nvGrpSpPr>
          <p:cNvPr name="Group 100" id="100"/>
          <p:cNvGrpSpPr/>
          <p:nvPr/>
        </p:nvGrpSpPr>
        <p:grpSpPr>
          <a:xfrm rot="0">
            <a:off x="6558963" y="7211825"/>
            <a:ext cx="5453034" cy="9144"/>
            <a:chOff x="0" y="0"/>
            <a:chExt cx="7270712" cy="1219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7270750" cy="12192"/>
            </a:xfrm>
            <a:custGeom>
              <a:avLst/>
              <a:gdLst/>
              <a:ahLst/>
              <a:cxnLst/>
              <a:rect r="r" b="b" t="t" l="l"/>
              <a:pathLst>
                <a:path h="12192" w="7270750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</p:sp>
      </p:grpSp>
      <p:sp>
        <p:nvSpPr>
          <p:cNvPr name="TextBox 102" id="102"/>
          <p:cNvSpPr txBox="true"/>
          <p:nvPr/>
        </p:nvSpPr>
        <p:spPr>
          <a:xfrm rot="0">
            <a:off x="6558963" y="7293359"/>
            <a:ext cx="190723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16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6851571" y="7288778"/>
            <a:ext cx="5315245" cy="251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CesiumJS.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The globe and renderer.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6851571" y="7513387"/>
            <a:ext cx="5315245" cy="197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22" tooltip="https://cesium.com/platform/cesiumjs"/>
              </a:rPr>
              <a:t>cesium.com/platform/cesiumjs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2332037" y="2469071"/>
            <a:ext cx="5616626" cy="315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5"/>
              </a:lnSpc>
            </a:pPr>
            <a:r>
              <a:rPr lang="en-US" sz="1575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WHAT THE COURSE CITES</a:t>
            </a:r>
          </a:p>
        </p:txBody>
      </p:sp>
      <p:grpSp>
        <p:nvGrpSpPr>
          <p:cNvPr name="Group 106" id="106"/>
          <p:cNvGrpSpPr/>
          <p:nvPr/>
        </p:nvGrpSpPr>
        <p:grpSpPr>
          <a:xfrm rot="0">
            <a:off x="12332037" y="2825277"/>
            <a:ext cx="5453034" cy="9144"/>
            <a:chOff x="0" y="0"/>
            <a:chExt cx="7270712" cy="12192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7270750" cy="12192"/>
            </a:xfrm>
            <a:custGeom>
              <a:avLst/>
              <a:gdLst/>
              <a:ahLst/>
              <a:cxnLst/>
              <a:rect r="r" b="b" t="t" l="l"/>
              <a:pathLst>
                <a:path h="12192" w="7270750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</p:sp>
      </p:grpSp>
      <p:sp>
        <p:nvSpPr>
          <p:cNvPr name="TextBox 108" id="108"/>
          <p:cNvSpPr txBox="true"/>
          <p:nvPr/>
        </p:nvSpPr>
        <p:spPr>
          <a:xfrm rot="0">
            <a:off x="12332037" y="2906811"/>
            <a:ext cx="190723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17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2624645" y="2902229"/>
            <a:ext cx="5315245" cy="475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Gray (1968), Mon. Weather Rev. 96, 669–700.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Cyclones need water above ~26 °C.</a:t>
            </a:r>
          </a:p>
        </p:txBody>
      </p:sp>
      <p:grpSp>
        <p:nvGrpSpPr>
          <p:cNvPr name="Group 110" id="110"/>
          <p:cNvGrpSpPr/>
          <p:nvPr/>
        </p:nvGrpSpPr>
        <p:grpSpPr>
          <a:xfrm rot="0">
            <a:off x="12332037" y="3482073"/>
            <a:ext cx="5453034" cy="9144"/>
            <a:chOff x="0" y="0"/>
            <a:chExt cx="7270712" cy="1219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7270750" cy="12192"/>
            </a:xfrm>
            <a:custGeom>
              <a:avLst/>
              <a:gdLst/>
              <a:ahLst/>
              <a:cxnLst/>
              <a:rect r="r" b="b" t="t" l="l"/>
              <a:pathLst>
                <a:path h="12192" w="7270750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</p:sp>
      </p:grpSp>
      <p:sp>
        <p:nvSpPr>
          <p:cNvPr name="TextBox 112" id="112"/>
          <p:cNvSpPr txBox="true"/>
          <p:nvPr/>
        </p:nvSpPr>
        <p:spPr>
          <a:xfrm rot="0">
            <a:off x="12332037" y="3563607"/>
            <a:ext cx="190723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18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12624645" y="3559026"/>
            <a:ext cx="5315245" cy="475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Price (1981), J. Phys. Oceanogr. 11, 153–175.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A cyclone cools the sea.</a:t>
            </a:r>
          </a:p>
        </p:txBody>
      </p:sp>
      <p:grpSp>
        <p:nvGrpSpPr>
          <p:cNvPr name="Group 114" id="114"/>
          <p:cNvGrpSpPr/>
          <p:nvPr/>
        </p:nvGrpSpPr>
        <p:grpSpPr>
          <a:xfrm rot="0">
            <a:off x="12332037" y="4138870"/>
            <a:ext cx="5453034" cy="9144"/>
            <a:chOff x="0" y="0"/>
            <a:chExt cx="7270712" cy="12192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7270750" cy="12192"/>
            </a:xfrm>
            <a:custGeom>
              <a:avLst/>
              <a:gdLst/>
              <a:ahLst/>
              <a:cxnLst/>
              <a:rect r="r" b="b" t="t" l="l"/>
              <a:pathLst>
                <a:path h="12192" w="7270750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</p:sp>
      </p:grpSp>
      <p:sp>
        <p:nvSpPr>
          <p:cNvPr name="TextBox 116" id="116"/>
          <p:cNvSpPr txBox="true"/>
          <p:nvPr/>
        </p:nvSpPr>
        <p:spPr>
          <a:xfrm rot="0">
            <a:off x="12332037" y="4220404"/>
            <a:ext cx="190723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19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12624645" y="4215822"/>
            <a:ext cx="5315245" cy="475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Schott &amp; McCreary (2001), Prog. Oceanogr. 51, 1–123.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The monsoon current reverses.</a:t>
            </a:r>
          </a:p>
        </p:txBody>
      </p:sp>
      <p:grpSp>
        <p:nvGrpSpPr>
          <p:cNvPr name="Group 118" id="118"/>
          <p:cNvGrpSpPr/>
          <p:nvPr/>
        </p:nvGrpSpPr>
        <p:grpSpPr>
          <a:xfrm rot="0">
            <a:off x="12332037" y="4795666"/>
            <a:ext cx="5453034" cy="9144"/>
            <a:chOff x="0" y="0"/>
            <a:chExt cx="7270712" cy="12192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7270750" cy="12192"/>
            </a:xfrm>
            <a:custGeom>
              <a:avLst/>
              <a:gdLst/>
              <a:ahLst/>
              <a:cxnLst/>
              <a:rect r="r" b="b" t="t" l="l"/>
              <a:pathLst>
                <a:path h="12192" w="7270750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</p:sp>
      </p:grpSp>
      <p:sp>
        <p:nvSpPr>
          <p:cNvPr name="TextBox 120" id="120"/>
          <p:cNvSpPr txBox="true"/>
          <p:nvPr/>
        </p:nvSpPr>
        <p:spPr>
          <a:xfrm rot="0">
            <a:off x="12332037" y="4877200"/>
            <a:ext cx="190723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20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12624645" y="4872619"/>
            <a:ext cx="5315245" cy="475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India Meteorological Department, report on Super Cyclonic Storm Amphan (2020).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Landfall, 20 May.</a:t>
            </a:r>
          </a:p>
        </p:txBody>
      </p:sp>
      <p:grpSp>
        <p:nvGrpSpPr>
          <p:cNvPr name="Group 122" id="122"/>
          <p:cNvGrpSpPr/>
          <p:nvPr/>
        </p:nvGrpSpPr>
        <p:grpSpPr>
          <a:xfrm rot="0">
            <a:off x="12332037" y="5452462"/>
            <a:ext cx="5453034" cy="9144"/>
            <a:chOff x="0" y="0"/>
            <a:chExt cx="7270712" cy="12192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7270750" cy="12192"/>
            </a:xfrm>
            <a:custGeom>
              <a:avLst/>
              <a:gdLst/>
              <a:ahLst/>
              <a:cxnLst/>
              <a:rect r="r" b="b" t="t" l="l"/>
              <a:pathLst>
                <a:path h="12192" w="7270750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</p:sp>
      </p:grpSp>
      <p:sp>
        <p:nvSpPr>
          <p:cNvPr name="TextBox 124" id="124"/>
          <p:cNvSpPr txBox="true"/>
          <p:nvPr/>
        </p:nvSpPr>
        <p:spPr>
          <a:xfrm rot="0">
            <a:off x="12332037" y="5533996"/>
            <a:ext cx="190723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21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12624645" y="5529415"/>
            <a:ext cx="5315245" cy="475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WMO Guide to Wave Analysis and Forecasting (WMO-No. 702).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Wind makes waves.</a:t>
            </a:r>
          </a:p>
        </p:txBody>
      </p:sp>
      <p:grpSp>
        <p:nvGrpSpPr>
          <p:cNvPr name="Group 126" id="126"/>
          <p:cNvGrpSpPr/>
          <p:nvPr/>
        </p:nvGrpSpPr>
        <p:grpSpPr>
          <a:xfrm rot="0">
            <a:off x="12332037" y="6109259"/>
            <a:ext cx="5453034" cy="9144"/>
            <a:chOff x="0" y="0"/>
            <a:chExt cx="7270712" cy="12192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7270750" cy="12192"/>
            </a:xfrm>
            <a:custGeom>
              <a:avLst/>
              <a:gdLst/>
              <a:ahLst/>
              <a:cxnLst/>
              <a:rect r="r" b="b" t="t" l="l"/>
              <a:pathLst>
                <a:path h="12192" w="7270750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</p:sp>
      </p:grpSp>
      <p:sp>
        <p:nvSpPr>
          <p:cNvPr name="TextBox 128" id="128"/>
          <p:cNvSpPr txBox="true"/>
          <p:nvPr/>
        </p:nvSpPr>
        <p:spPr>
          <a:xfrm rot="0">
            <a:off x="12332037" y="6190793"/>
            <a:ext cx="190723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22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12624645" y="6186211"/>
            <a:ext cx="5315245" cy="251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Argo Program, "How Argo floats work". </a:t>
            </a:r>
            <a:r>
              <a:rPr lang="en-US" sz="1350">
                <a:solidFill>
                  <a:srgbClr val="4F5B69"/>
                </a:solidFill>
                <a:latin typeface="Arial"/>
                <a:ea typeface="Arial"/>
                <a:cs typeface="Arial"/>
                <a:sym typeface="Arial"/>
              </a:rPr>
              <a:t>Floats.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12624645" y="6410820"/>
            <a:ext cx="5315245" cy="197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23" tooltip="https://argo.ucsd.edu"/>
              </a:rPr>
              <a:t>argo.ucsd.edu</a:t>
            </a:r>
          </a:p>
        </p:txBody>
      </p:sp>
      <p:grpSp>
        <p:nvGrpSpPr>
          <p:cNvPr name="Group 131" id="131"/>
          <p:cNvGrpSpPr/>
          <p:nvPr/>
        </p:nvGrpSpPr>
        <p:grpSpPr>
          <a:xfrm rot="0">
            <a:off x="12332037" y="6735909"/>
            <a:ext cx="5453034" cy="9144"/>
            <a:chOff x="0" y="0"/>
            <a:chExt cx="7270712" cy="12192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7270750" cy="12192"/>
            </a:xfrm>
            <a:custGeom>
              <a:avLst/>
              <a:gdLst/>
              <a:ahLst/>
              <a:cxnLst/>
              <a:rect r="r" b="b" t="t" l="l"/>
              <a:pathLst>
                <a:path h="12192" w="7270750">
                  <a:moveTo>
                    <a:pt x="0" y="0"/>
                  </a:moveTo>
                  <a:lnTo>
                    <a:pt x="7270750" y="0"/>
                  </a:lnTo>
                  <a:lnTo>
                    <a:pt x="727075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D5DCE4"/>
            </a:solidFill>
          </p:spPr>
        </p:sp>
      </p:grpSp>
      <p:sp>
        <p:nvSpPr>
          <p:cNvPr name="TextBox 133" id="133"/>
          <p:cNvSpPr txBox="true"/>
          <p:nvPr/>
        </p:nvSpPr>
        <p:spPr>
          <a:xfrm rot="0">
            <a:off x="12332037" y="6817443"/>
            <a:ext cx="190723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23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12624645" y="6812861"/>
            <a:ext cx="5315245" cy="251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350">
                <a:solidFill>
                  <a:srgbClr val="16202B"/>
                </a:solidFill>
                <a:latin typeface="Arial"/>
                <a:ea typeface="Arial"/>
                <a:cs typeface="Arial"/>
                <a:sym typeface="Arial"/>
              </a:rPr>
              <a:t>SIH 2026 problem statement 26067, quoted verbatim.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12624645" y="7037470"/>
            <a:ext cx="5315245" cy="388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125" u="sng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  <a:hlinkClick r:id="rId24" tooltip="https://github.com/Kukyos/VVater/blob/main/docs/01-problem-statement.md"/>
              </a:rPr>
              <a:t>github.com/Kukyos/VVater/blob/main/docs/01-problem-statement.md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3000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Team Null · K26125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DAHWRt4zvS8</dc:identifier>
  <dcterms:modified xsi:type="dcterms:W3CDTF">2011-08-01T06:04:30Z</dcterms:modified>
  <cp:revision>1</cp:revision>
  <dc:title>VVater-SIH2026-canva.pptx</dc:title>
</cp:coreProperties>
</file>